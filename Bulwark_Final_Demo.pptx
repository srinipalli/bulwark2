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d085588-f93b-5230-72a0-2b18709f17e8}">
          <p14:sldIdLst>
            <p14:sldId id="256"/>
          </p14:sldIdLst>
        </p14:section>
        <p14:section name="Introduction" id="{e393fd91-797e-fc6f-237b-39b53059ddbd}">
          <p14:sldIdLst>
            <p14:sldId id="257"/>
            <p14:sldId id="258"/>
            <p14:sldId id="259"/>
          </p14:sldIdLst>
        </p14:section>
        <p14:section name="Architecture" id="{531f8982-6635-0a87-56ac-8d52fc2db94e}">
          <p14:sldIdLst>
            <p14:sldId id="260"/>
            <p14:sldId id="261"/>
            <p14:sldId id="262"/>
          </p14:sldIdLst>
        </p14:section>
        <p14:section name="Incident creation" id="{3c27ded2-0f1b-fe4e-7c27-11d0370d8c01}">
          <p14:sldIdLst>
            <p14:sldId id="263"/>
            <p14:sldId id="264"/>
          </p14:sldIdLst>
        </p14:section>
        <p14:section name="AI recommendations" id="{2b1cdcce-b2bc-2e54-c47c-8536fda28d46}">
          <p14:sldIdLst>
            <p14:sldId id="265"/>
            <p14:sldId id="266"/>
          </p14:sldIdLst>
        </p14:section>
        <p14:section name="Workflow" id="{1b261a14-f139-7ccd-ae41-252450cc0a9f}">
          <p14:sldIdLst>
            <p14:sldId id="267"/>
            <p14:sldId id="268"/>
            <p14:sldId id="269"/>
            <p14:sldId id="270"/>
          </p14:sldIdLst>
        </p14:section>
        <p14:section name="Governance" id="{a8bccf76-bf13-fb6c-2b5d-91555d05c19d}">
          <p14:sldIdLst>
            <p14:sldId id="271"/>
          </p14:sldIdLst>
        </p14:section>
        <p14:section name="Demo" id="{8f2d12f5-8b33-b388-33d9-24eedc240a8a}">
          <p14:sldIdLst>
            <p14:sldId id="272"/>
          </p14:sldIdLst>
        </p14:section>
        <p14:section name="Close" id="{6412b43e-22e6-a1aa-4541-31dcb531dc3e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Bulwark takes a vulnerability scan and carries every finding through incident, plan, approval and controlled execution, with AI help in choosing the fix. About 30 minutes including a live walkthrough.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first. Patch work often lives in spreadsheets and tickets, and each plan is rebuilt from scratch. Bulwark makes it one governed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sidebar of the UI. Each card is a page in the React app backed by its own API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the workflow is real and tested end to end. Execution runs through a simulator until Ansible or AWS SSM executors are plugged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deployable parts plus shared Postgres and Kafka. All Python services require 3.11 or newer.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row is the intake and intelligence path; bottom row is the user and execution path. PostgreSQL in the middle is the single source of truth, and Kafka carries incident events to the recommender.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Roles come from the JWT. The UI only enables or disables buttons; the API and database enforce the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uploaded workbook is processed once, identified by SHA-256. Database changes commit in one transaction together with a marker, which is what makes the Kafka re-send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ingestor publishes incidents only; vulnerabilities never go to Kafka. Key = incident id keeps one incident's events in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incidents that already have an approved plan can be matched, so a brand-new database returns NO_MATCH. That is normal. The plan is referenced, not copied.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can only choose from the approved catalog, and job specs are never sent to it. If nothing fits, it drafts a solution for a developer to build, and that draft goes through normal solution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Excluded assets are not counted when deciding that the incident is resolved. A rejected incident returns to editing and keeps a snapshot of what was approved.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story to tell during the demo. Every arrow is a controlled hand-off with a named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Solutions are the building blocks of every plan. Versioning means a plan keeps running the exact version that was approved, even after the solution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grid is illustrative. Re-clicking run never duplicates a job, and a SUCCEEDED step is never run again on the same asset.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of these are enforced twice: in application code and as database constraints, so a bug in one layer cannot break the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about 10 minutes. Have a token ready for an Analyst, an Approver and an Operator, or one with all three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Bulwark  |  Innova Solutions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031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innov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30352"/>
            <a:ext cx="1828800" cy="7498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Bulwark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7889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vulnerability scan to verified patch: governed, AI-assisted and fully audited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demo  |  Innova Solutions  | 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Bulwark?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709160" y="109728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0072CE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5D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64592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results arrive as spreadsheets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plan is rebuilt by hand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and execution live in different tools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prove who approved or ran what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89204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Bulwark's answer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164592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incident per vulnerability, created automatically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past fixes and AI propose the plan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approval before anything runs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execution with a full audit trail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36118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94360" y="36576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72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36576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working together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560320" y="36118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2697480" y="36576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72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3291840" y="36576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with separation of duty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63440" y="36118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800600" y="36576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72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5394960" y="36576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states, start to finish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766560" y="36118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6903720" y="36576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72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21" name="Text 18"/>
          <p:cNvSpPr txBox="1"/>
          <p:nvPr/>
        </p:nvSpPr>
        <p:spPr>
          <a:xfrm>
            <a:off x="7498080" y="36576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 engines: vector and LLM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94360" y="128016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389888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" y="1828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summary and items needing attention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2560320" y="114300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697480" y="128016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208" y="13898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697480" y="1828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269748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register: severity, CVSS, exploited in wild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663440" y="114300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800600" y="128016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138988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800600" y="1828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480060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with owner, environment, OS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766560" y="114300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903720" y="128016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1389888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03720" y="1828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690372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vulnerability, with assets and plan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457200" y="28803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594360" y="301752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3127248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94360" y="3566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594360" y="3840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Versioned, reviewed fix catalog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2560320" y="28803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2697480" y="301752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7208" y="3127248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2697480" y="3566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2697480" y="3840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and solution review queues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4663440" y="28803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4800600" y="301752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3127248"/>
            <a:ext cx="237744" cy="237744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4800600" y="3566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500" dirty="0"/>
          </a:p>
        </p:txBody>
      </p:sp>
      <p:sp>
        <p:nvSpPr>
          <p:cNvPr id="38" name="Text 28"/>
          <p:cNvSpPr txBox="1"/>
          <p:nvPr/>
        </p:nvSpPr>
        <p:spPr>
          <a:xfrm>
            <a:off x="4800600" y="3840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plan steps per asset, live logs</a:t>
            </a:r>
            <a:endParaRPr lang="en-US" sz="1200" dirty="0"/>
          </a:p>
        </p:txBody>
      </p:sp>
      <p:sp>
        <p:nvSpPr>
          <p:cNvPr id="39" name="Shape 29"/>
          <p:cNvSpPr/>
          <p:nvPr/>
        </p:nvSpPr>
        <p:spPr>
          <a:xfrm>
            <a:off x="6766560" y="28803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Shape 30"/>
          <p:cNvSpPr/>
          <p:nvPr/>
        </p:nvSpPr>
        <p:spPr>
          <a:xfrm>
            <a:off x="6903720" y="301752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3448" y="3127248"/>
            <a:ext cx="237744" cy="237744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6903720" y="3566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suggestions</a:t>
            </a:r>
            <a:endParaRPr lang="en-US" sz="1500" dirty="0"/>
          </a:p>
        </p:txBody>
      </p:sp>
      <p:sp>
        <p:nvSpPr>
          <p:cNvPr id="43" name="Text 32"/>
          <p:cNvSpPr txBox="1"/>
          <p:nvPr/>
        </p:nvSpPr>
        <p:spPr>
          <a:xfrm>
            <a:off x="6903720" y="3840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incidents and AI-built plans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functions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39776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709160" y="1097280"/>
            <a:ext cx="39776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234440"/>
            <a:ext cx="411480" cy="411480"/>
          </a:xfrm>
          <a:prstGeom prst="ellipse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1333195"/>
            <a:ext cx="213970" cy="21397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1261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 and working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1828800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ingestion from Excel workbooks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creation and Kafka events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Similar-incident search and AI planner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approval and execution workflow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with JWT validation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worker: retries, stop rules, recovery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UI, 7 pages; PostgreSQL 16 tested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892040" y="1234440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795" y="1333195"/>
            <a:ext cx="213970" cy="21397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40680" y="1261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Next, outside this demo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4892040" y="1828800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executors: Ansible and AWS SSM (jobs are simulated today)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 through the identity provider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similarity threshold on live history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AI engines through the same plug-in interface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1920240" cy="30175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344168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" y="1828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24028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6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tests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2560320" y="1097280"/>
            <a:ext cx="1920240" cy="30175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697480" y="123444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208" y="134416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697480" y="1828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2697480" y="224028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3.11+, FastAPI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SQLAlchemy 2, Alembic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(python-jose), Uvicorn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663440" y="1097280"/>
            <a:ext cx="1920240" cy="30175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800600" y="123444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134416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800600" y="1828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messaging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800600" y="224028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with HNSW index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(Aiven, SASL/SSL)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confluent-kafka client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766560" y="1097280"/>
            <a:ext cx="1920240" cy="30175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903720" y="123444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1344168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03720" y="1828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pipeline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903720" y="224028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ingestor: openpyxl, psycopg 3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embedding-001 (768-d)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planner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google-genai SDK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57200" y="425196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E6F2FC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18"/>
          <p:cNvSpPr txBox="1"/>
          <p:nvPr/>
        </p:nvSpPr>
        <p:spPr>
          <a:xfrm>
            <a:off x="594360" y="42519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5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Packaging: Docker and Docker Compose   |   Testing: pytest against real PostgreSQL, Vitest, end-to-end smoke script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5B6B7C"/>
          </a:solidFill>
          <a:ln w="12700">
            <a:solidFill>
              <a:srgbClr val="5B6B7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457200" y="1097280"/>
            <a:ext cx="17373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scanner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651760" y="109728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2651760" y="1097280"/>
            <a:ext cx="17373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Ingestor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and load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754880" y="1097280"/>
            <a:ext cx="15544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bulwark.incidents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766560" y="109728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766560" y="1097280"/>
            <a:ext cx="1920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Recommender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+ Gemini AI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194560" y="1531620"/>
            <a:ext cx="457200" cy="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389120" y="1531620"/>
            <a:ext cx="365760" cy="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309360" y="1531620"/>
            <a:ext cx="457200" cy="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57200" y="24688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6F2FC"/>
          </a:solidFill>
          <a:ln w="15875">
            <a:solidFill>
              <a:srgbClr val="0072C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pgvector   |   vulnerabilities, incidents, plans, solutions, approvals, runs, audit log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520440" y="1965960"/>
            <a:ext cx="0" cy="50292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726680" y="1965960"/>
            <a:ext cx="0" cy="50292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57200" y="342900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457200" y="3429000"/>
            <a:ext cx="17373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Bulwark UI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651760" y="342900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2651760" y="3429000"/>
            <a:ext cx="17373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Bulwark API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JWT roles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754880" y="342900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4754880" y="3429000"/>
            <a:ext cx="17373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Worker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queue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766560" y="342900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5B6B7C"/>
          </a:solidFill>
          <a:ln w="12700">
            <a:solidFill>
              <a:srgbClr val="5B6B7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766560" y="3429000"/>
            <a:ext cx="1920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Ansible, AWS SSM, Shell, HTTP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2194560" y="3863340"/>
            <a:ext cx="457200" cy="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6492240" y="3863340"/>
            <a:ext cx="274320" cy="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3520440" y="3017520"/>
            <a:ext cx="0" cy="41148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 flipV="1">
            <a:off x="5623560" y="3017520"/>
            <a:ext cx="0" cy="41148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31" name="Text 28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 are simulated by default; real Ansible / AWS SSM plug in without changing the workflow.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and access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53949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66928" y="1225296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0072C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2252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109728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edit vulnerabilities, incidents and solutions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792224"/>
            <a:ext cx="53949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6928" y="19202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19202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920240" y="1792224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execution jobs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487168"/>
            <a:ext cx="53949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" y="2615184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6928" y="261518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920240" y="248716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incident and solution approvals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3182112"/>
            <a:ext cx="53949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66928" y="3310128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66928" y="33101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920240" y="318211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57200" y="3877056"/>
            <a:ext cx="53949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66928" y="4005072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5B6B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6928" y="40050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920240" y="3877056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126480" y="109728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0072CE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309360" y="1280160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0061" y="1400861"/>
            <a:ext cx="261518" cy="261518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6309360" y="1920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Separation of duty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6309360" y="260604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decide their own submission. The API checks it and a database constraint enforces it (reviewer is not the requester).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scan to incident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1536192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85216" y="1207008"/>
            <a:ext cx="402336" cy="402336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777" y="1303569"/>
            <a:ext cx="209215" cy="20921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85216" y="168249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workbook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85216" y="196596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Sheets: Scan, Vulnerabilities, Assets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1993392" y="1892808"/>
            <a:ext cx="128016" cy="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2121408" y="1097280"/>
            <a:ext cx="1536192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249424" y="1207008"/>
            <a:ext cx="402336" cy="402336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985" y="1303569"/>
            <a:ext cx="209215" cy="20921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249424" y="168249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49424" y="196596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rejected if over 20% of rows are invalid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657600" y="1892808"/>
            <a:ext cx="128016" cy="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3785616" y="1097280"/>
            <a:ext cx="1536192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913632" y="1207008"/>
            <a:ext cx="402336" cy="402336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193" y="1303569"/>
            <a:ext cx="209215" cy="20921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913632" y="168249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3913632" y="196596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vulnerabilities, assets and links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321808" y="1892808"/>
            <a:ext cx="128016" cy="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5449824" y="1097280"/>
            <a:ext cx="1536192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577840" y="1207008"/>
            <a:ext cx="402336" cy="402336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401" y="1303569"/>
            <a:ext cx="209215" cy="20921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77840" y="168249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incidents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5577840" y="196596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vulnerability, status OPEN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6986016" y="1892808"/>
            <a:ext cx="128016" cy="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7114032" y="1097280"/>
            <a:ext cx="1536192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242048" y="1207008"/>
            <a:ext cx="402336" cy="402336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609" y="1303569"/>
            <a:ext cx="209215" cy="20921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242048" y="168249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7242048" y="196596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to Kafka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82296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92608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event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2C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open incident for the vulnerability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incident, 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5D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incident.created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Earlier incident RESOLVED or CLOSED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incident, marked reopened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5D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incident.created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incident still OPEN or REJECTED, new assets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Assets added, severity updated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5D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incident.updated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already in approval or later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changed, warning reported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5D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 25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run: SCAN-20261025-001 gave 100 rows, 100 valid, 0 rejected.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 event flow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2560320" cy="34747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200400" y="1097280"/>
            <a:ext cx="2560320" cy="34747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0" y="1097280"/>
            <a:ext cx="2743200" cy="34747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34416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182880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5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bulwark.incidents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and updated events, key = incident id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5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bulwark.scans.completed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summary per scan, sent only after every incident event is acknowledged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383280" y="123444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134416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97764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types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3383280" y="1828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incident.created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incident.updated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incident.unchanged (optional)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scan.completed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3383280" y="31089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Headers: event_type, schema_version, scan_id, cve_id. Payload blocks: incident, vulnerability, detection, impacted assets, change.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26480" y="123444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34416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720840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guarantees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6126480" y="182880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producer, acks=all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down: file stays, next run re-sends with the same event_id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At-least-once; consumers de-duplicate on event_id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ingestor at a time (advisory lock)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similar incidents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1536192" cy="20116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85216" y="1207008"/>
            <a:ext cx="420624" cy="420624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166" y="1307958"/>
            <a:ext cx="218724" cy="21872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85216" y="1737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Consume event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85216" y="205740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incident.created or updated from Kafka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1993392" y="2103120"/>
            <a:ext cx="128016" cy="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2121408" y="1097280"/>
            <a:ext cx="1536192" cy="20116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249424" y="1207008"/>
            <a:ext cx="420624" cy="420624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374" y="1307958"/>
            <a:ext cx="218724" cy="2187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249424" y="1737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Embed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49424" y="205740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embedding-001, 768 dimensions, stored in pgvector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3657600" y="2103120"/>
            <a:ext cx="128016" cy="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3785616" y="1097280"/>
            <a:ext cx="1536192" cy="20116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913632" y="1207008"/>
            <a:ext cx="420624" cy="420624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582" y="1307958"/>
            <a:ext cx="218724" cy="21872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913632" y="1737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Search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3913632" y="205740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nearest neighbours, HNSW index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321808" y="2103120"/>
            <a:ext cx="128016" cy="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5449824" y="1097280"/>
            <a:ext cx="1536192" cy="20116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577840" y="1207008"/>
            <a:ext cx="420624" cy="420624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8790" y="1307958"/>
            <a:ext cx="218724" cy="21872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77840" y="1737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Filter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5577840" y="205740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plan, status APPROVED to CLOSED, score above floor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6986016" y="2103120"/>
            <a:ext cx="128016" cy="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7114032" y="1097280"/>
            <a:ext cx="1536192" cy="20116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242048" y="1207008"/>
            <a:ext cx="420624" cy="420624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998" y="1307958"/>
            <a:ext cx="218724" cy="21872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242048" y="1737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Store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7242048" y="205740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Match, score and rank saved per incident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457200" y="329184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E6F2FC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4709160" y="329184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E6F2FC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Text 27"/>
          <p:cNvSpPr txBox="1"/>
          <p:nvPr/>
        </p:nvSpPr>
        <p:spPr>
          <a:xfrm>
            <a:off x="64008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5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640080" y="37033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fixes from past incidents become the starting point for the new one.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489204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5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by design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4892040" y="37033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Offsets commit after storage; bad messages go to dead letters; duplicates are skipped.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AI-built solution plan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2377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383280" y="1097280"/>
            <a:ext cx="2377440" cy="2331720"/>
          </a:xfrm>
          <a:prstGeom prst="roundRect">
            <a:avLst>
              <a:gd name="adj" fmla="val 3137"/>
            </a:avLst>
          </a:prstGeom>
          <a:solidFill>
            <a:srgbClr val="F5A623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309360" y="1097280"/>
            <a:ext cx="2377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4008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55448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incident: CVE, description, assets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of APPROVED solutions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of the best similar incidents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566160" y="1188720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5888" y="129844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60520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178308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in structured JSON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or duplicate references are rejected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retry, then the run is FAILED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input: earlier answer reused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155448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plan of approved solutions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for missing solutions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FULL_PLAN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2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PARTIAL_PLAN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NO_MATCH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834640" y="2240280"/>
            <a:ext cx="548640" cy="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760720" y="2240280"/>
            <a:ext cx="548640" cy="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0080" y="3767328"/>
            <a:ext cx="640080" cy="64008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" y="3920947"/>
            <a:ext cx="332842" cy="33284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463040" y="365760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stays in control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written to the incident plan automatically. The planner reviews the AI Suggested tab, applies or dismisses it, and the plan still needs approval.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workflow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457200" y="1188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9202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874520" y="1508760"/>
            <a:ext cx="274320" cy="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148840" y="118872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148840" y="1188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APPROVAL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148840" y="19202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locked, awaiting approver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66160" y="1508760"/>
            <a:ext cx="274320" cy="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840480" y="118872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840480" y="1188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840480" y="19202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execute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257800" y="1508760"/>
            <a:ext cx="274320" cy="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532120" y="118872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005DAA"/>
          </a:solidFill>
          <a:ln w="12700">
            <a:solidFill>
              <a:srgbClr val="005DA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532120" y="1188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532120" y="19202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running per asset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949440" y="1508760"/>
            <a:ext cx="274320" cy="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223760" y="118872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223760" y="1188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223760" y="19202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assets patched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148840" y="274320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148840" y="27432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85800" y="3017520"/>
            <a:ext cx="1463040" cy="0"/>
          </a:xfrm>
          <a:prstGeom prst="line">
            <a:avLst/>
          </a:prstGeom>
          <a:noFill/>
          <a:ln w="22225">
            <a:solidFill>
              <a:srgbClr val="C0392B"/>
            </a:solidFill>
            <a:prstDash val="solid"/>
            <a:headEnd type="none"/>
          </a:ln>
        </p:spPr>
      </p:sp>
      <p:sp>
        <p:nvSpPr>
          <p:cNvPr id="26" name="Shape 23"/>
          <p:cNvSpPr/>
          <p:nvPr/>
        </p:nvSpPr>
        <p:spPr>
          <a:xfrm flipV="1">
            <a:off x="685800" y="1828800"/>
            <a:ext cx="0" cy="1188720"/>
          </a:xfrm>
          <a:prstGeom prst="line">
            <a:avLst/>
          </a:prstGeom>
          <a:noFill/>
          <a:ln w="22225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27" name="Text 24"/>
          <p:cNvSpPr txBox="1"/>
          <p:nvPr/>
        </p:nvSpPr>
        <p:spPr>
          <a:xfrm>
            <a:off x="457200" y="3383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 OPEN for editing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931920" y="2788920"/>
            <a:ext cx="1508760" cy="178308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4041648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5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4041648" y="3200400"/>
            <a:ext cx="12984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incident, picks assets, builds plan from suggestions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532120" y="2788920"/>
            <a:ext cx="1508760" cy="178308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5641848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5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641848" y="3200400"/>
            <a:ext cx="12984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or rejects the submitted plan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7132320" y="2788920"/>
            <a:ext cx="1508760" cy="178308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7242048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5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7242048" y="3200400"/>
            <a:ext cx="12984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steps once approved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4160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one open incident per vulnerability.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solution workflow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1280160" cy="2468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41248" y="1325880"/>
            <a:ext cx="512064" cy="512064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143" y="1448775"/>
            <a:ext cx="266273" cy="26627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2860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ingested, vulnerability recorded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66928" y="3246120"/>
            <a:ext cx="1060704" cy="274320"/>
          </a:xfrm>
          <a:prstGeom prst="roundRect">
            <a:avLst>
              <a:gd name="adj" fmla="val 50000"/>
            </a:avLst>
          </a:prstGeom>
          <a:solidFill>
            <a:srgbClr val="E6F2FC"/>
          </a:solidFill>
          <a:ln w="12700">
            <a:solidFill>
              <a:srgbClr val="E6F2F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66928" y="3246120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1737360" y="2423160"/>
            <a:ext cx="109728" cy="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1847088" y="1188720"/>
            <a:ext cx="1280160" cy="2468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231136" y="1325880"/>
            <a:ext cx="512064" cy="512064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031" y="1448775"/>
            <a:ext cx="266273" cy="26627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938528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938528" y="22860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incident, assets attached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1956816" y="3246120"/>
            <a:ext cx="1060704" cy="274320"/>
          </a:xfrm>
          <a:prstGeom prst="roundRect">
            <a:avLst>
              <a:gd name="adj" fmla="val 50000"/>
            </a:avLst>
          </a:prstGeom>
          <a:solidFill>
            <a:srgbClr val="E6F2FC"/>
          </a:solidFill>
          <a:ln w="12700">
            <a:solidFill>
              <a:srgbClr val="E6F2FC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1956816" y="3246120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127248" y="2423160"/>
            <a:ext cx="109728" cy="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3236976" y="1188720"/>
            <a:ext cx="1280160" cy="2468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621024" y="1325880"/>
            <a:ext cx="512064" cy="51206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919" y="1448775"/>
            <a:ext cx="266273" cy="26627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3328416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3328416" y="22860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incidents and AI plan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346704" y="3246120"/>
            <a:ext cx="1060704" cy="274320"/>
          </a:xfrm>
          <a:prstGeom prst="roundRect">
            <a:avLst>
              <a:gd name="adj" fmla="val 50000"/>
            </a:avLst>
          </a:prstGeom>
          <a:solidFill>
            <a:srgbClr val="E6F2FC"/>
          </a:solidFill>
          <a:ln w="12700">
            <a:solidFill>
              <a:srgbClr val="E6F2FC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3346704" y="3246120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517136" y="2423160"/>
            <a:ext cx="109728" cy="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4626864" y="1188720"/>
            <a:ext cx="1280160" cy="2468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010912" y="1325880"/>
            <a:ext cx="512064" cy="512064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3807" y="1448775"/>
            <a:ext cx="266273" cy="266273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718304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4718304" y="22860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steps pinned to approved solutions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4736592" y="3246120"/>
            <a:ext cx="1060704" cy="274320"/>
          </a:xfrm>
          <a:prstGeom prst="roundRect">
            <a:avLst>
              <a:gd name="adj" fmla="val 50000"/>
            </a:avLst>
          </a:prstGeom>
          <a:solidFill>
            <a:srgbClr val="E6F2FC"/>
          </a:solidFill>
          <a:ln w="12700">
            <a:solidFill>
              <a:srgbClr val="E6F2FC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736592" y="3246120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5907024" y="2423160"/>
            <a:ext cx="109728" cy="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36" name="Shape 29"/>
          <p:cNvSpPr/>
          <p:nvPr/>
        </p:nvSpPr>
        <p:spPr>
          <a:xfrm>
            <a:off x="6016752" y="1188720"/>
            <a:ext cx="1280160" cy="2468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400800" y="1325880"/>
            <a:ext cx="512064" cy="512064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695" y="1448775"/>
            <a:ext cx="266273" cy="266273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6108192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400" dirty="0"/>
          </a:p>
        </p:txBody>
      </p:sp>
      <p:sp>
        <p:nvSpPr>
          <p:cNvPr id="40" name="Text 32"/>
          <p:cNvSpPr txBox="1"/>
          <p:nvPr/>
        </p:nvSpPr>
        <p:spPr>
          <a:xfrm>
            <a:off x="6108192" y="22860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reviewed and decided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6126480" y="3246120"/>
            <a:ext cx="1060704" cy="274320"/>
          </a:xfrm>
          <a:prstGeom prst="roundRect">
            <a:avLst>
              <a:gd name="adj" fmla="val 50000"/>
            </a:avLst>
          </a:prstGeom>
          <a:solidFill>
            <a:srgbClr val="E6F2FC"/>
          </a:solidFill>
          <a:ln w="12700">
            <a:solidFill>
              <a:srgbClr val="E6F2FC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6126480" y="3246120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7296912" y="2423160"/>
            <a:ext cx="109728" cy="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44" name="Shape 36"/>
          <p:cNvSpPr/>
          <p:nvPr/>
        </p:nvSpPr>
        <p:spPr>
          <a:xfrm>
            <a:off x="7406640" y="1188720"/>
            <a:ext cx="1280160" cy="2468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5" name="Shape 37"/>
          <p:cNvSpPr/>
          <p:nvPr/>
        </p:nvSpPr>
        <p:spPr>
          <a:xfrm>
            <a:off x="7790688" y="1325880"/>
            <a:ext cx="512064" cy="512064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3583" y="1448775"/>
            <a:ext cx="266273" cy="266273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7498080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400" dirty="0"/>
          </a:p>
        </p:txBody>
      </p:sp>
      <p:sp>
        <p:nvSpPr>
          <p:cNvPr id="48" name="Text 39"/>
          <p:cNvSpPr txBox="1"/>
          <p:nvPr/>
        </p:nvSpPr>
        <p:spPr>
          <a:xfrm>
            <a:off x="7498080" y="22860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run per asset, then resolved</a:t>
            </a:r>
            <a:endParaRPr lang="en-US" sz="1100" dirty="0"/>
          </a:p>
        </p:txBody>
      </p:sp>
      <p:sp>
        <p:nvSpPr>
          <p:cNvPr id="49" name="Shape 40"/>
          <p:cNvSpPr/>
          <p:nvPr/>
        </p:nvSpPr>
        <p:spPr>
          <a:xfrm>
            <a:off x="7516368" y="3246120"/>
            <a:ext cx="1060704" cy="274320"/>
          </a:xfrm>
          <a:prstGeom prst="roundRect">
            <a:avLst>
              <a:gd name="adj" fmla="val 50000"/>
            </a:avLst>
          </a:prstGeom>
          <a:solidFill>
            <a:srgbClr val="E6F2FC"/>
          </a:solidFill>
          <a:ln w="12700">
            <a:solidFill>
              <a:srgbClr val="E6F2FC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7516368" y="3246120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100" dirty="0"/>
          </a:p>
        </p:txBody>
      </p:sp>
      <p:sp>
        <p:nvSpPr>
          <p:cNvPr id="51" name="Shape 42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6F2FC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2" name="Text 43"/>
          <p:cNvSpPr txBox="1"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transition is written to an append-only audit log, so the question 'who approved and who ran this?' always has an answer.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catalog lifecycle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457200" y="1188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edit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writes the solution and its job spec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834640" y="1527048"/>
            <a:ext cx="548640" cy="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383280" y="118872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383280" y="1188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REVIEW_PENDING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solution or version starts here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760720" y="1527048"/>
            <a:ext cx="548640" cy="0"/>
          </a:xfrm>
          <a:prstGeom prst="line">
            <a:avLst/>
          </a:prstGeom>
          <a:noFill/>
          <a:ln w="2222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309360" y="118872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309360" y="1188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now be planned and suggested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7432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594360" y="2816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3154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declines it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246120" y="27432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3383280" y="2816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2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CHANGES_REQUESTED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383280" y="3154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the author for a new version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035040" y="27432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6172200" y="2816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172200" y="3154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longer offered to planners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6F2FC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40080" y="37947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plan step is pinned to a specific approved solution version, with an on-failure choice: stop this asset, continue, or stop all.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execution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572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1600200" y="11887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Backup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2697480" y="11887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Patch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3794760" y="11887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Verify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600200" y="169164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600200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97480" y="169164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97480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794760" y="169164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794760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2331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B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600200" y="233172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600200" y="23317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697480" y="233172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697480" y="23317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794760" y="233172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5B6B7C"/>
          </a:solidFill>
          <a:ln w="12700">
            <a:solidFill>
              <a:srgbClr val="5B6B7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794760" y="23317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94360" y="2971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600200" y="297180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600200" y="2971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697480" y="297180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C27A00"/>
          </a:solidFill>
          <a:ln w="12700">
            <a:solidFill>
              <a:srgbClr val="C27A0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697480" y="2971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794760" y="297180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C27A00"/>
          </a:solidFill>
          <a:ln w="12700">
            <a:solidFill>
              <a:srgbClr val="C27A0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794760" y="2971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94360" y="3520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B failed at Patch, so Verify is held on B while A and C carry on.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212080" y="1097280"/>
            <a:ext cx="34747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5394960" y="1188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worker behaves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5394960" y="160020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N runs only after step N-1 succeeded on that asset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is the queue; many workers can run side by side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retry up to the solution's limit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 and stale-run recovery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logs in the UI; incident auto-resolves when all assets are patched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457200" y="397764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E6F2FC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640080" y="39776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Executors: Ansible, AWS SSM, Shell, HTTP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safeguards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344168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88720" y="1234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Four-eyes approval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828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must differ from requester, enforced in the database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246120" y="109728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383280" y="123444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134416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77640" y="1234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solutions only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3383280" y="1828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APPROVED versions can be planned or suggested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035040" y="109728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172200" y="123444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34416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66560" y="1234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locked on submit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6172200" y="1828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assets cannot change while under review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57200" y="28803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94360" y="301752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3127248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8872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runs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594360" y="3611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run per step and asset; success is never re-run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3246120" y="28803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3383280" y="301752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3127248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97764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3383280" y="3611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recorded with who and when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6035040" y="28803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6172200" y="301752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127248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76656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never auto-applies</a:t>
            </a:r>
            <a:endParaRPr lang="en-US" sz="1400" dirty="0"/>
          </a:p>
        </p:txBody>
      </p:sp>
      <p:sp>
        <p:nvSpPr>
          <p:cNvPr id="33" name="Text 24"/>
          <p:cNvSpPr txBox="1"/>
          <p:nvPr/>
        </p:nvSpPr>
        <p:spPr>
          <a:xfrm>
            <a:off x="6172200" y="3611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need human apply, then approval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walkthrough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234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828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open incidents and items needing attention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46120" y="109728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83280" y="123444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832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977640" y="1234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scan ingestor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1828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findings become 100 incidents; events reach Kafka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035040" y="109728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72200" y="123444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72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766560" y="1234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 incident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1828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similar incidents and the AI Suggested tab, apply the plan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28803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4360" y="301752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43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18872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 approval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" y="3611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Approver and approve it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3246120" y="28803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383280" y="301752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3832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397764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383280" y="3611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steps from the Execution grid, watch live logs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035040" y="28803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BE0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172200" y="301752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1722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676656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and audit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172200" y="3611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auto-resolves; show the audit trail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13335F"/>
          </a:solidFill>
          <a:ln w="9525">
            <a:solidFill>
              <a:srgbClr val="1F4A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70992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194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executors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5603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and AWS SSM in place of the simulator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651760" y="146304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13335F"/>
          </a:solidFill>
          <a:ln w="9525">
            <a:solidFill>
              <a:srgbClr val="1F4A8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88920" y="160020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648" y="170992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88920" y="2194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788920" y="25603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issued by the identity provider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54880" y="146304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13335F"/>
          </a:solidFill>
          <a:ln w="9525">
            <a:solidFill>
              <a:srgbClr val="1F4A8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92040" y="160020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170992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92040" y="2194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matching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892040" y="25603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the similarity threshold on live history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858000" y="146304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13335F"/>
          </a:solidFill>
          <a:ln w="9525">
            <a:solidFill>
              <a:srgbClr val="1F4A8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995160" y="1600200"/>
            <a:ext cx="457200" cy="457200"/>
          </a:xfrm>
          <a:prstGeom prst="ellipse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170992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95160" y="2194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engines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995160" y="25603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AI engines through the same plug-in interface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Questions?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lwark">
  <a:themeElements>
    <a:clrScheme name="Bulwark">
      <a:dk1>
        <a:srgbClr val="1B2A3A"/>
      </a:dk1>
      <a:lt1>
        <a:srgbClr val="FFFFFF"/>
      </a:lt1>
      <a:dk2>
        <a:srgbClr val="0B2545"/>
      </a:dk2>
      <a:lt2>
        <a:srgbClr val="F4F9FE"/>
      </a:lt2>
      <a:accent1>
        <a:srgbClr val="0072CE"/>
      </a:accent1>
      <a:accent2>
        <a:srgbClr val="005DAA"/>
      </a:accent2>
      <a:accent3>
        <a:srgbClr val="F5A623"/>
      </a:accent3>
      <a:accent4>
        <a:srgbClr val="1E8E5A"/>
      </a:accent4>
      <a:accent5>
        <a:srgbClr val="C0392B"/>
      </a:accent5>
      <a:accent6>
        <a:srgbClr val="4DA3E8"/>
      </a:accent6>
      <a:hlink>
        <a:srgbClr val="0072CE"/>
      </a:hlink>
      <a:folHlink>
        <a:srgbClr val="005DAA"/>
      </a:folHlink>
    </a:clrScheme>
    <a:fontScheme name="Bulwar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Innova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Bulwark - Final Demo</dc:title>
  <dc:subject>PptxGenJS Presentation</dc:subject>
  <dc:creator>Innova Solutions</dc:creator>
  <cp:lastModifiedBy>Innova Solutions</cp:lastModifiedBy>
  <cp:revision>1</cp:revision>
  <dcterms:created xsi:type="dcterms:W3CDTF">2026-10-25T17:12:42Z</dcterms:created>
  <dcterms:modified xsi:type="dcterms:W3CDTF">2026-10-25T17:12:42Z</dcterms:modified>
</cp:coreProperties>
</file>