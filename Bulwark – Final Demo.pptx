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embeddedFontLst>
    <p:embeddedFont>
      <p:font typeface="Public Sans" pitchFamily="34" charset="0"/>
      <p:regular r:id="rId34"/>
      <p:bold r:id="rId35"/>
      <p:italic r:id="rId36"/>
      <p:boldItalic r:id="rId37"/>
    </p:embeddedFont>
    <p:embeddedFont>
      <p:font typeface="JetBrains Mono" panose="02000009000000000000" pitchFamily="49" charset="0"/>
      <p:regular r:id="rId38"/>
      <p:bold r:id="rId3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4" Type="http://schemas.openxmlformats.org/officeDocument/2006/relationships/font" Target="fonts/font1.fntdata"/><Relationship Id="rId35" Type="http://schemas.openxmlformats.org/officeDocument/2006/relationships/font" Target="fonts/font2.fntdata"/><Relationship Id="rId36" Type="http://schemas.openxmlformats.org/officeDocument/2006/relationships/font" Target="fonts/font3.fntdata"/><Relationship Id="rId37" Type="http://schemas.openxmlformats.org/officeDocument/2006/relationships/font" Target="fonts/font4.fntdata"/><Relationship Id="rId38" Type="http://schemas.openxmlformats.org/officeDocument/2006/relationships/font" Target="fonts/font5.fntdata"/><Relationship Id="rId39"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Bulwark takes a vulnerability scan and carries every finding through incident, plan, approval and controlled execution. AI agents suggest the fix, and a chat assistant lets anyone ask questions in plain words. About 30 minutes including a live walkthrough.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in everyday language. Think of a team fixing security holes with spreadsheets, email and memory. It works until it doesn’t, and it is hard to prove afterwards what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projects: API, web console, scan ingestor, solution recommender, the AI services (MCP server and chat agent) and the standalone agent app. Three agents: the similar-fix finder and the plan builder inside the recommender, and the chat assistant.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sidebar of the web console. The amber cards are the AI side: the agents that suggest fixes, the floating chat assistant, and the standalone agent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 1 and 2 live in the solution recommender and are triggered by incident events. Agent 3 is the chat assistant, reachable from the floating chat icon in the console and from the standalone agent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is the intake and intelligence path: scans become incidents, Kafka carries the events, and the recommender agents suggest fixes. The bottom rows are the people path: the console and the agent app talk to the API, directly or through the chat agent and the MCP server. The MCP server forwards the signed-in user’s own token, so the chat assistant never has more rights than the person using it. PostgreSQL in the middle is the single source of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 choice is done by embedding the question and matching it to tool descriptions, which keeps the model focused. History and checkpoints live in a separate schema, bulwark_chat.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deployable parts plus shared Postgres and Kafka. Postgres is the system of record, the job queue and the vector store. All Python services need 3.11 or newer.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Roles come from the sign-in token. The screens only enable or disable buttons; the API enforces the rules. The approver role passes every check, like admin.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uploaded workbook is processed once, identified by its SHA-256. Database changes commit in one transaction together with a marker, which is what makes a Kafka re-send safe. The new incident event is what wakes the AI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ingestor publishes incidents only; vulnerabilities never go to Kafka. Keying by incident id keeps one incident’s events in order. Failed messages end up in a dead-letter table for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incidents that already have an approved plan can be matched, so a brand-new database returns NO_MATCH. That is normal. The plan is referenced, not copied.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can only choose from the approved catalog, and job specs are never sent to it. If nothing fits, it drafts a solution for a developer to build, and that draft goes through normal solution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conversation shown is an illustration of the experience, not a recording. In the live demo, ask a real question and then trigger a change so the confirmation step is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Excluded assets are not counted when deciding that an incident is resolved. The assistant never moves an incident by itself: it prepares the action and the signed-in person confirms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story to tell during the demo. Every arrow is a controlled hand-off with a named role. The agents and the chat assistant help, but only people approve and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Solutions are the building blocks of every plan. Versioning means a plan keeps running the exact version that was approved, even after the solution changes. Retired is a flag on the solution rather than a version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grid is illustrative. Re-clicking run never duplicates a job, and a succeeded step is never run again on the same asset. Real Ansible and AWS SSM executors are the next build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five apply to all work. The amber cards are the extra guardrails around the agents and the chat assistant.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Schema is managed with five Alembic migrations. Incidents carry a 768-dimension embedding column for similarity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12 minutes. Have sign-ins ready for an Analyst, an Approver and an Operator, or one with all three roles; the approver must differ from the person who submitted. Sample users share a default password and must change it on first sign-in.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the workflow runs end to end on the demo setup, with execution going through a simulator. The live Gemini, Kafka and Docker paths still need a proof run, and the credentials found in the sample env files must be rotated.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for a pilot: one real scan, real approvers, and one real executor.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projects, delivered as six folders. In the project names: bulwark-api, bulwark-ui, bulwark-scan-ingestor, bulwark-inc-planner-solution-recommender, bulwark-ai (MCP server plus chat agent) and bulwark-agent-ui. Counting the job worker as its own process, plus the database and Kafka, there are more running pieces than six.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tools are a thin layer over the Bulwark API: each one calls an API route with the signed-in user’s token. The next two slides list every tool by name. The four irreversible ones are cancel_run, clear_incident_plan, close_incident and retire_solution.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Approve and reject tools need the approver role, and run tools need the operator role. The assistant uses the signed-in person’s roles, so a tool can be listed but still refused.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Together with the previous slide this is all 60: 16 + 8 + 8 + 6 + 6 + 5 + 5 + 3 + 3. The Insights tools do the meaning-based search and the management risk report; they are all read-only.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9FD"/>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60960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0B2545"/>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361414"/>
            <a:ext cx="10566400" cy="4683786"/>
          </a:xfrm>
          <a:prstGeom prst="rect">
            <a:avLst/>
          </a:prstGeom>
          <a:noFill/>
          <a:ln/>
        </p:spPr>
        <p:txBody>
          <a:bodyPr wrap="square" lIns="0" tIns="0" rIns="0" bIns="0" rtlCol="0" anchor="t"/>
          <a:lstStyle>
            <a:lvl1pPr algn="l" indent="0" marL="0">
              <a:lnSpc>
                <a:spcPct val="140000"/>
              </a:lnSpc>
              <a:buNone/>
              <a:defRPr lang="en-US" sz="1600" dirty="0">
                <a:solidFill>
                  <a:srgbClr val="0B2545"/>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9FD"/>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60960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0B2545"/>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361414"/>
            <a:ext cx="10566400" cy="4683786"/>
          </a:xfrm>
          <a:prstGeom prst="rect">
            <a:avLst/>
          </a:prstGeom>
          <a:noFill/>
          <a:ln/>
        </p:spPr>
        <p:txBody>
          <a:bodyPr wrap="square" lIns="0" tIns="0" rIns="0" bIns="0" rtlCol="0" anchor="t"/>
          <a:lstStyle>
            <a:lvl1pPr algn="l" indent="0" marL="0">
              <a:lnSpc>
                <a:spcPct val="140000"/>
              </a:lnSpc>
              <a:buNone/>
              <a:defRPr lang="en-US" sz="1600" dirty="0">
                <a:solidFill>
                  <a:srgbClr val="0B2545"/>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slideLayout" Target="../slideLayouts/slideLayout2.xml"/><Relationship Id="rId1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2.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812800" y="609600"/>
            <a:ext cx="2286000" cy="939800"/>
          </a:xfrm>
          <a:prstGeom prst="roundRect">
            <a:avLst>
              <a:gd name="adj" fmla="val 10811"/>
            </a:avLst>
          </a:prstGeom>
          <a:solidFill>
            <a:srgbClr val="FFFFFF"/>
          </a:solidFill>
          <a:ln/>
        </p:spPr>
      </p:sp>
      <p:pic>
        <p:nvPicPr>
          <p:cNvPr id="3" name="Image 0" descr="Innova Solutions logo">    </p:cNvPr>
          <p:cNvPicPr>
            <a:picLocks noChangeAspect="1"/>
          </p:cNvPicPr>
          <p:nvPr/>
        </p:nvPicPr>
        <p:blipFill>
          <a:blip r:embed="rId1"/>
          <a:srcRect l="-79" r="-79" t="0" b="0"/>
          <a:stretch/>
        </p:blipFill>
        <p:spPr>
          <a:xfrm>
            <a:off x="812800" y="609600"/>
            <a:ext cx="2286000" cy="939800"/>
          </a:xfrm>
          <a:prstGeom prst="roundRect">
            <a:avLst>
              <a:gd name="adj" fmla="val 10811"/>
            </a:avLst>
          </a:prstGeom>
        </p:spPr>
      </p:pic>
      <p:sp>
        <p:nvSpPr>
          <p:cNvPr id="4" name="Text 1"/>
          <p:cNvSpPr/>
          <p:nvPr>
            <p:ph type="title"/>
          </p:nvPr>
        </p:nvSpPr>
        <p:spPr>
          <a:xfrm>
            <a:off x="812800" y="2489200"/>
            <a:ext cx="10883392" cy="1143000"/>
          </a:xfrm>
          <a:prstGeom prst="rect">
            <a:avLst/>
          </a:prstGeom>
          <a:noFill/>
          <a:ln/>
        </p:spPr>
        <p:txBody>
          <a:bodyPr wrap="square" lIns="0" tIns="0" rIns="0" bIns="0" rtlCol="0" anchor="t">
            <a:normAutofit/>
          </a:bodyPr>
          <a:lstStyle/>
          <a:p>
            <a:pPr algn="l" indent="0" marL="0">
              <a:lnSpc>
                <a:spcPts val="8800"/>
              </a:lnSpc>
              <a:buNone/>
            </a:pPr>
            <a:r>
              <a:rPr lang="en-US" sz="8800" b="1" i="0" dirty="0">
                <a:solidFill>
                  <a:srgbClr val="F5F9FD"/>
                </a:solidFill>
                <a:latin typeface="Source Serif 4" pitchFamily="18" charset="0"/>
                <a:ea typeface="Source Serif 4" pitchFamily="18" charset="-122"/>
                <a:cs typeface="Source Serif 4" pitchFamily="18" charset="-120"/>
              </a:rPr>
              <a:t>Bulwark</a:t>
            </a:r>
            <a:endParaRPr lang="en-US" sz="8800" dirty="0"/>
          </a:p>
        </p:txBody>
      </p:sp>
      <p:sp>
        <p:nvSpPr>
          <p:cNvPr id="5" name="Text 2"/>
          <p:cNvSpPr/>
          <p:nvPr/>
        </p:nvSpPr>
        <p:spPr>
          <a:xfrm>
            <a:off x="812800" y="3810000"/>
            <a:ext cx="9156700" cy="850900"/>
          </a:xfrm>
          <a:prstGeom prst="rect">
            <a:avLst/>
          </a:prstGeom>
          <a:noFill/>
          <a:ln/>
        </p:spPr>
        <p:txBody>
          <a:bodyPr wrap="square" lIns="0" tIns="0" rIns="0" bIns="0" rtlCol="0" anchor="t">
            <a:normAutofit/>
          </a:bodyPr>
          <a:lstStyle/>
          <a:p>
            <a:pPr algn="l" indent="0" marL="0">
              <a:lnSpc>
                <a:spcPts val="3250"/>
              </a:lnSpc>
              <a:buNone/>
            </a:pPr>
            <a:r>
              <a:rPr lang="en-US" sz="2600" dirty="0">
                <a:solidFill>
                  <a:srgbClr val="C9DDF2"/>
                </a:solidFill>
                <a:latin typeface="Public Sans" pitchFamily="34" charset="0"/>
                <a:ea typeface="Public Sans" pitchFamily="34" charset="-122"/>
                <a:cs typeface="Public Sans" pitchFamily="34" charset="-120"/>
              </a:rPr>
              <a:t>From vulnerability scan to verified patch: governed, AI-assisted, with agents and a chat assistant at every step.</a:t>
            </a:r>
            <a:endParaRPr lang="en-US" sz="2600" dirty="0"/>
          </a:p>
        </p:txBody>
      </p:sp>
      <p:sp>
        <p:nvSpPr>
          <p:cNvPr id="6" name="Text 3"/>
          <p:cNvSpPr/>
          <p:nvPr/>
        </p:nvSpPr>
        <p:spPr>
          <a:xfrm>
            <a:off x="812800" y="55753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8FB4DC"/>
                </a:solidFill>
                <a:latin typeface="Public Sans" pitchFamily="34" charset="0"/>
                <a:ea typeface="Public Sans" pitchFamily="34" charset="-122"/>
                <a:cs typeface="Public Sans" pitchFamily="34" charset="-120"/>
              </a:rPr>
              <a:t>Final demo | Innova Solutions | October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9FD"/>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2545"/>
                </a:solidFill>
                <a:latin typeface="Source Serif 4" pitchFamily="18" charset="0"/>
                <a:ea typeface="Source Serif 4" pitchFamily="18" charset="-122"/>
                <a:cs typeface="Source Serif 4" pitchFamily="18" charset="-120"/>
              </a:rPr>
              <a:t>The problem, in plain words</a:t>
            </a:r>
            <a:endParaRPr lang="en-US" sz="3200" dirty="0"/>
          </a:p>
        </p:txBody>
      </p:sp>
      <p:sp>
        <p:nvSpPr>
          <p:cNvPr id="3" name="Text 1"/>
          <p:cNvSpPr/>
          <p:nvPr/>
        </p:nvSpPr>
        <p:spPr>
          <a:xfrm>
            <a:off x="812800" y="1361414"/>
            <a:ext cx="9810750" cy="665427"/>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5B6B7C"/>
                </a:solidFill>
                <a:latin typeface="Public Sans" pitchFamily="34" charset="0"/>
                <a:ea typeface="Public Sans" pitchFamily="34" charset="-122"/>
                <a:cs typeface="Public Sans" pitchFamily="34" charset="-120"/>
              </a:rPr>
              <a:t>Every company has security weaknesses to fix. Getting them fixed is slower and riskier than it should be.</a:t>
            </a:r>
            <a:endParaRPr lang="en-US" sz="1800" dirty="0"/>
          </a:p>
        </p:txBody>
      </p:sp>
      <p:sp>
        <p:nvSpPr>
          <p:cNvPr id="4" name="Shape 2"/>
          <p:cNvSpPr/>
          <p:nvPr/>
        </p:nvSpPr>
        <p:spPr>
          <a:xfrm>
            <a:off x="812800" y="2306241"/>
            <a:ext cx="5181600" cy="1341107"/>
          </a:xfrm>
          <a:prstGeom prst="roundRect">
            <a:avLst>
              <a:gd name="adj" fmla="val 7576"/>
            </a:avLst>
          </a:prstGeom>
          <a:solidFill>
            <a:srgbClr val="FFFFFF"/>
          </a:solidFill>
          <a:ln/>
        </p:spPr>
      </p:sp>
      <p:sp>
        <p:nvSpPr>
          <p:cNvPr id="5" name="Shape 3"/>
          <p:cNvSpPr/>
          <p:nvPr/>
        </p:nvSpPr>
        <p:spPr>
          <a:xfrm>
            <a:off x="812800" y="2306241"/>
            <a:ext cx="5181600" cy="1341107"/>
          </a:xfrm>
          <a:custGeom>
            <a:avLst/>
            <a:gdLst/>
            <a:ahLst/>
            <a:cxnLst/>
            <a:rect l="l" t="t" r="r" b="b"/>
            <a:pathLst>
              <a:path w="5181600" h="1341107">
                <a:moveTo>
                  <a:pt x="101600" y="1341107"/>
                </a:moveTo>
                <a:lnTo>
                  <a:pt x="101600" y="1341107"/>
                </a:lnTo>
                <a:arcTo hR="101600" wR="101600" stAng="5400000" swAng="5400000"/>
                <a:lnTo>
                  <a:pt x="0" y="101600"/>
                </a:lnTo>
                <a:arcTo hR="101600" wR="101600" stAng="10800000" swAng="5400000"/>
                <a:lnTo>
                  <a:pt x="101600" y="0"/>
                </a:lnTo>
                <a:arcTo hR="101600" wR="50800" stAng="16200000" swAng="-5400000"/>
                <a:lnTo>
                  <a:pt x="50800" y="1239507"/>
                </a:lnTo>
                <a:arcTo hR="101600" wR="50800" stAng="10800000" swAng="-5400000"/>
                <a:close/>
              </a:path>
            </a:pathLst>
          </a:custGeom>
          <a:solidFill>
            <a:srgbClr val="5B6B7C"/>
          </a:solidFill>
          <a:ln/>
        </p:spPr>
      </p:sp>
      <p:sp>
        <p:nvSpPr>
          <p:cNvPr id="6" name="Text 4"/>
          <p:cNvSpPr/>
          <p:nvPr/>
        </p:nvSpPr>
        <p:spPr>
          <a:xfrm>
            <a:off x="1117600" y="2534841"/>
            <a:ext cx="476148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2545"/>
                </a:solidFill>
                <a:latin typeface="Public Sans" pitchFamily="34" charset="0"/>
                <a:ea typeface="Public Sans" pitchFamily="34" charset="-122"/>
                <a:cs typeface="Public Sans" pitchFamily="34" charset="-120"/>
              </a:rPr>
              <a:t>Copy and paste</a:t>
            </a:r>
            <a:endParaRPr lang="en-US" sz="1800" dirty="0"/>
          </a:p>
        </p:txBody>
      </p:sp>
      <p:sp>
        <p:nvSpPr>
          <p:cNvPr id="7" name="Text 5"/>
          <p:cNvSpPr/>
          <p:nvPr/>
        </p:nvSpPr>
        <p:spPr>
          <a:xfrm>
            <a:off x="1117600" y="2885348"/>
            <a:ext cx="476148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B6B7C"/>
                </a:solidFill>
                <a:latin typeface="Public Sans" pitchFamily="34" charset="0"/>
                <a:ea typeface="Public Sans" pitchFamily="34" charset="-122"/>
                <a:cs typeface="Public Sans" pitchFamily="34" charset="-120"/>
              </a:rPr>
              <a:t>Scan results come in a spreadsheet, and someone types each one into a ticket by hand.</a:t>
            </a:r>
            <a:endParaRPr lang="en-US" sz="1500" dirty="0"/>
          </a:p>
        </p:txBody>
      </p:sp>
      <p:sp>
        <p:nvSpPr>
          <p:cNvPr id="8" name="Shape 6"/>
          <p:cNvSpPr/>
          <p:nvPr/>
        </p:nvSpPr>
        <p:spPr>
          <a:xfrm>
            <a:off x="6197600" y="2306241"/>
            <a:ext cx="5181600" cy="1341107"/>
          </a:xfrm>
          <a:prstGeom prst="roundRect">
            <a:avLst>
              <a:gd name="adj" fmla="val 7576"/>
            </a:avLst>
          </a:prstGeom>
          <a:solidFill>
            <a:srgbClr val="FFFFFF"/>
          </a:solidFill>
          <a:ln/>
        </p:spPr>
      </p:sp>
      <p:sp>
        <p:nvSpPr>
          <p:cNvPr id="9" name="Shape 7"/>
          <p:cNvSpPr/>
          <p:nvPr/>
        </p:nvSpPr>
        <p:spPr>
          <a:xfrm>
            <a:off x="6197600" y="2306241"/>
            <a:ext cx="5181600" cy="1341107"/>
          </a:xfrm>
          <a:custGeom>
            <a:avLst/>
            <a:gdLst/>
            <a:ahLst/>
            <a:cxnLst/>
            <a:rect l="l" t="t" r="r" b="b"/>
            <a:pathLst>
              <a:path w="5181600" h="1341107">
                <a:moveTo>
                  <a:pt x="101600" y="1341107"/>
                </a:moveTo>
                <a:lnTo>
                  <a:pt x="101600" y="1341107"/>
                </a:lnTo>
                <a:arcTo hR="101600" wR="101600" stAng="5400000" swAng="5400000"/>
                <a:lnTo>
                  <a:pt x="0" y="101600"/>
                </a:lnTo>
                <a:arcTo hR="101600" wR="101600" stAng="10800000" swAng="5400000"/>
                <a:lnTo>
                  <a:pt x="101600" y="0"/>
                </a:lnTo>
                <a:arcTo hR="101600" wR="50800" stAng="16200000" swAng="-5400000"/>
                <a:lnTo>
                  <a:pt x="50800" y="1239507"/>
                </a:lnTo>
                <a:arcTo hR="101600" wR="50800" stAng="10800000" swAng="-5400000"/>
                <a:close/>
              </a:path>
            </a:pathLst>
          </a:custGeom>
          <a:solidFill>
            <a:srgbClr val="5B6B7C"/>
          </a:solidFill>
          <a:ln/>
        </p:spPr>
      </p:sp>
      <p:sp>
        <p:nvSpPr>
          <p:cNvPr id="10" name="Text 8"/>
          <p:cNvSpPr/>
          <p:nvPr/>
        </p:nvSpPr>
        <p:spPr>
          <a:xfrm>
            <a:off x="6502400" y="2534841"/>
            <a:ext cx="476148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2545"/>
                </a:solidFill>
                <a:latin typeface="Public Sans" pitchFamily="34" charset="0"/>
                <a:ea typeface="Public Sans" pitchFamily="34" charset="-122"/>
                <a:cs typeface="Public Sans" pitchFamily="34" charset="-120"/>
              </a:rPr>
              <a:t>Starting from zero</a:t>
            </a:r>
            <a:endParaRPr lang="en-US" sz="1800" dirty="0"/>
          </a:p>
        </p:txBody>
      </p:sp>
      <p:sp>
        <p:nvSpPr>
          <p:cNvPr id="11" name="Text 9"/>
          <p:cNvSpPr/>
          <p:nvPr/>
        </p:nvSpPr>
        <p:spPr>
          <a:xfrm>
            <a:off x="6502400" y="2885348"/>
            <a:ext cx="476148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B6B7C"/>
                </a:solidFill>
                <a:latin typeface="Public Sans" pitchFamily="34" charset="0"/>
                <a:ea typeface="Public Sans" pitchFamily="34" charset="-122"/>
                <a:cs typeface="Public Sans" pitchFamily="34" charset="-120"/>
              </a:rPr>
              <a:t>The same fix gets worked out again and again, even if a colleague solved it last month.</a:t>
            </a:r>
            <a:endParaRPr lang="en-US" sz="1500" dirty="0"/>
          </a:p>
        </p:txBody>
      </p:sp>
      <p:sp>
        <p:nvSpPr>
          <p:cNvPr id="12" name="Shape 10"/>
          <p:cNvSpPr/>
          <p:nvPr/>
        </p:nvSpPr>
        <p:spPr>
          <a:xfrm>
            <a:off x="812800" y="3850548"/>
            <a:ext cx="5181600" cy="1341107"/>
          </a:xfrm>
          <a:prstGeom prst="roundRect">
            <a:avLst>
              <a:gd name="adj" fmla="val 7576"/>
            </a:avLst>
          </a:prstGeom>
          <a:solidFill>
            <a:srgbClr val="FFFFFF"/>
          </a:solidFill>
          <a:ln/>
        </p:spPr>
      </p:sp>
      <p:sp>
        <p:nvSpPr>
          <p:cNvPr id="13" name="Shape 11"/>
          <p:cNvSpPr/>
          <p:nvPr/>
        </p:nvSpPr>
        <p:spPr>
          <a:xfrm>
            <a:off x="812800" y="3850548"/>
            <a:ext cx="5181600" cy="1341107"/>
          </a:xfrm>
          <a:custGeom>
            <a:avLst/>
            <a:gdLst/>
            <a:ahLst/>
            <a:cxnLst/>
            <a:rect l="l" t="t" r="r" b="b"/>
            <a:pathLst>
              <a:path w="5181600" h="1341107">
                <a:moveTo>
                  <a:pt x="101600" y="1341107"/>
                </a:moveTo>
                <a:lnTo>
                  <a:pt x="101600" y="1341107"/>
                </a:lnTo>
                <a:arcTo hR="101600" wR="101600" stAng="5400000" swAng="5400000"/>
                <a:lnTo>
                  <a:pt x="0" y="101600"/>
                </a:lnTo>
                <a:arcTo hR="101600" wR="101600" stAng="10800000" swAng="5400000"/>
                <a:lnTo>
                  <a:pt x="101600" y="0"/>
                </a:lnTo>
                <a:arcTo hR="101600" wR="50800" stAng="16200000" swAng="-5400000"/>
                <a:lnTo>
                  <a:pt x="50800" y="1239507"/>
                </a:lnTo>
                <a:arcTo hR="101600" wR="50800" stAng="10800000" swAng="-5400000"/>
                <a:close/>
              </a:path>
            </a:pathLst>
          </a:custGeom>
          <a:solidFill>
            <a:srgbClr val="5B6B7C"/>
          </a:solidFill>
          <a:ln/>
        </p:spPr>
      </p:sp>
      <p:sp>
        <p:nvSpPr>
          <p:cNvPr id="14" name="Text 12"/>
          <p:cNvSpPr/>
          <p:nvPr/>
        </p:nvSpPr>
        <p:spPr>
          <a:xfrm>
            <a:off x="1117600" y="4079148"/>
            <a:ext cx="476148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2545"/>
                </a:solidFill>
                <a:latin typeface="Public Sans" pitchFamily="34" charset="0"/>
                <a:ea typeface="Public Sans" pitchFamily="34" charset="-122"/>
                <a:cs typeface="Public Sans" pitchFamily="34" charset="-120"/>
              </a:rPr>
              <a:t>Scattered approvals</a:t>
            </a:r>
            <a:endParaRPr lang="en-US" sz="1800" dirty="0"/>
          </a:p>
        </p:txBody>
      </p:sp>
      <p:sp>
        <p:nvSpPr>
          <p:cNvPr id="15" name="Text 13"/>
          <p:cNvSpPr/>
          <p:nvPr/>
        </p:nvSpPr>
        <p:spPr>
          <a:xfrm>
            <a:off x="1117600" y="4429654"/>
            <a:ext cx="476148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B6B7C"/>
                </a:solidFill>
                <a:latin typeface="Public Sans" pitchFamily="34" charset="0"/>
                <a:ea typeface="Public Sans" pitchFamily="34" charset="-122"/>
                <a:cs typeface="Public Sans" pitchFamily="34" charset="-120"/>
              </a:rPr>
              <a:t>“Yes, go ahead” sits in an email or a chat, and the work runs in yet another tool.</a:t>
            </a:r>
            <a:endParaRPr lang="en-US" sz="1500" dirty="0"/>
          </a:p>
        </p:txBody>
      </p:sp>
      <p:sp>
        <p:nvSpPr>
          <p:cNvPr id="16" name="Shape 14"/>
          <p:cNvSpPr/>
          <p:nvPr/>
        </p:nvSpPr>
        <p:spPr>
          <a:xfrm>
            <a:off x="6197600" y="3850548"/>
            <a:ext cx="5181600" cy="1341107"/>
          </a:xfrm>
          <a:prstGeom prst="roundRect">
            <a:avLst>
              <a:gd name="adj" fmla="val 7576"/>
            </a:avLst>
          </a:prstGeom>
          <a:solidFill>
            <a:srgbClr val="FFFFFF"/>
          </a:solidFill>
          <a:ln/>
        </p:spPr>
      </p:sp>
      <p:sp>
        <p:nvSpPr>
          <p:cNvPr id="17" name="Shape 15"/>
          <p:cNvSpPr/>
          <p:nvPr/>
        </p:nvSpPr>
        <p:spPr>
          <a:xfrm>
            <a:off x="6197600" y="3850548"/>
            <a:ext cx="5181600" cy="1341107"/>
          </a:xfrm>
          <a:custGeom>
            <a:avLst/>
            <a:gdLst/>
            <a:ahLst/>
            <a:cxnLst/>
            <a:rect l="l" t="t" r="r" b="b"/>
            <a:pathLst>
              <a:path w="5181600" h="1341107">
                <a:moveTo>
                  <a:pt x="101600" y="1341107"/>
                </a:moveTo>
                <a:lnTo>
                  <a:pt x="101600" y="1341107"/>
                </a:lnTo>
                <a:arcTo hR="101600" wR="101600" stAng="5400000" swAng="5400000"/>
                <a:lnTo>
                  <a:pt x="0" y="101600"/>
                </a:lnTo>
                <a:arcTo hR="101600" wR="101600" stAng="10800000" swAng="5400000"/>
                <a:lnTo>
                  <a:pt x="101600" y="0"/>
                </a:lnTo>
                <a:arcTo hR="101600" wR="50800" stAng="16200000" swAng="-5400000"/>
                <a:lnTo>
                  <a:pt x="50800" y="1239507"/>
                </a:lnTo>
                <a:arcTo hR="101600" wR="50800" stAng="10800000" swAng="-5400000"/>
                <a:close/>
              </a:path>
            </a:pathLst>
          </a:custGeom>
          <a:solidFill>
            <a:srgbClr val="5B6B7C"/>
          </a:solidFill>
          <a:ln/>
        </p:spPr>
      </p:sp>
      <p:sp>
        <p:nvSpPr>
          <p:cNvPr id="18" name="Text 16"/>
          <p:cNvSpPr/>
          <p:nvPr/>
        </p:nvSpPr>
        <p:spPr>
          <a:xfrm>
            <a:off x="6502400" y="4079148"/>
            <a:ext cx="476148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2545"/>
                </a:solidFill>
                <a:latin typeface="Public Sans" pitchFamily="34" charset="0"/>
                <a:ea typeface="Public Sans" pitchFamily="34" charset="-122"/>
                <a:cs typeface="Public Sans" pitchFamily="34" charset="-120"/>
              </a:rPr>
              <a:t>No clear answer</a:t>
            </a:r>
            <a:endParaRPr lang="en-US" sz="1800" dirty="0"/>
          </a:p>
        </p:txBody>
      </p:sp>
      <p:sp>
        <p:nvSpPr>
          <p:cNvPr id="19" name="Text 17"/>
          <p:cNvSpPr/>
          <p:nvPr/>
        </p:nvSpPr>
        <p:spPr>
          <a:xfrm>
            <a:off x="6502400" y="4429654"/>
            <a:ext cx="476148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B6B7C"/>
                </a:solidFill>
                <a:latin typeface="Public Sans" pitchFamily="34" charset="0"/>
                <a:ea typeface="Public Sans" pitchFamily="34" charset="-122"/>
                <a:cs typeface="Public Sans" pitchFamily="34" charset="-120"/>
              </a:rPr>
              <a:t>When someone asks who approved a change, or what is still open, it takes hours to find out.</a:t>
            </a:r>
            <a:endParaRPr lang="en-US" sz="1500" dirty="0"/>
          </a:p>
        </p:txBody>
      </p:sp>
      <p:sp>
        <p:nvSpPr>
          <p:cNvPr id="20" name="Text 18"/>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Bulwark | Innova Solutions</a:t>
            </a:r>
            <a:endParaRPr lang="en-US" sz="1200" dirty="0"/>
          </a:p>
        </p:txBody>
      </p:sp>
      <p:sp>
        <p:nvSpPr>
          <p:cNvPr id="21" name="Text 1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9FD"/>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2545"/>
                </a:solidFill>
                <a:latin typeface="Source Serif 4" pitchFamily="18" charset="0"/>
                <a:ea typeface="Source Serif 4" pitchFamily="18" charset="-122"/>
                <a:cs typeface="Source Serif 4" pitchFamily="18" charset="-120"/>
              </a:rPr>
              <a:t>What is Bulwark?</a:t>
            </a:r>
            <a:endParaRPr lang="en-US" sz="3200" dirty="0"/>
          </a:p>
        </p:txBody>
      </p:sp>
      <p:sp>
        <p:nvSpPr>
          <p:cNvPr id="3" name="Shape 1"/>
          <p:cNvSpPr/>
          <p:nvPr/>
        </p:nvSpPr>
        <p:spPr>
          <a:xfrm>
            <a:off x="812800" y="1310615"/>
            <a:ext cx="5181600" cy="2295525"/>
          </a:xfrm>
          <a:prstGeom prst="roundRect">
            <a:avLst>
              <a:gd name="adj" fmla="val 4426"/>
            </a:avLst>
          </a:prstGeom>
          <a:solidFill>
            <a:srgbClr val="FFFFFF"/>
          </a:solidFill>
          <a:ln/>
        </p:spPr>
      </p:sp>
      <p:sp>
        <p:nvSpPr>
          <p:cNvPr id="4" name="Text 2"/>
          <p:cNvSpPr/>
          <p:nvPr/>
        </p:nvSpPr>
        <p:spPr>
          <a:xfrm>
            <a:off x="1066800" y="1564615"/>
            <a:ext cx="481380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2545"/>
                </a:solidFill>
                <a:latin typeface="Source Serif 4" pitchFamily="18" charset="0"/>
                <a:ea typeface="Source Serif 4" pitchFamily="18" charset="-122"/>
                <a:cs typeface="Source Serif 4" pitchFamily="18" charset="-120"/>
              </a:rPr>
              <a:t>One place for the whole fix</a:t>
            </a:r>
            <a:endParaRPr lang="en-US" sz="2000" dirty="0"/>
          </a:p>
        </p:txBody>
      </p:sp>
      <p:sp>
        <p:nvSpPr>
          <p:cNvPr id="5" name="Text 3"/>
          <p:cNvSpPr/>
          <p:nvPr/>
        </p:nvSpPr>
        <p:spPr>
          <a:xfrm>
            <a:off x="1144270" y="1971015"/>
            <a:ext cx="4728718" cy="1406525"/>
          </a:xfrm>
          <a:prstGeom prst="rect">
            <a:avLst/>
          </a:prstGeom>
          <a:noFill/>
          <a:ln/>
        </p:spPr>
        <p:txBody>
          <a:bodyPr wrap="square" lIns="0" tIns="0" rIns="0" bIns="0" rtlCol="0" anchor="t">
            <a:normAutofit/>
          </a:bodyPr>
          <a:lstStyle/>
          <a:p>
            <a:pPr algn="l" marL="176530" indent="-176530">
              <a:lnSpc>
                <a:spcPts val="2175"/>
              </a:lnSpc>
              <a:buSzPct val="100000"/>
              <a:buChar char="•"/>
            </a:pPr>
            <a:r>
              <a:rPr lang="en-US" sz="1500" dirty="0">
                <a:solidFill>
                  <a:srgbClr val="0B2545"/>
                </a:solidFill>
                <a:latin typeface="Public Sans" pitchFamily="34" charset="0"/>
                <a:ea typeface="Public Sans" pitchFamily="34" charset="-122"/>
                <a:cs typeface="Public Sans" pitchFamily="34" charset="-120"/>
              </a:rPr>
              <a:t>Upload a scan; every finding becomes an incident</a:t>
            </a:r>
            <a:endParaRPr lang="en-US" sz="1500" dirty="0"/>
          </a:p>
          <a:p>
            <a:pPr algn="l" marL="176530" indent="-176530">
              <a:lnSpc>
                <a:spcPts val="2175"/>
              </a:lnSpc>
              <a:buSzPct val="100000"/>
              <a:buChar char="•"/>
            </a:pPr>
            <a:r>
              <a:rPr lang="en-US" sz="1500" dirty="0">
                <a:solidFill>
                  <a:srgbClr val="0B2545"/>
                </a:solidFill>
                <a:latin typeface="Public Sans" pitchFamily="34" charset="0"/>
                <a:ea typeface="Public Sans" pitchFamily="34" charset="-122"/>
                <a:cs typeface="Public Sans" pitchFamily="34" charset="-120"/>
              </a:rPr>
              <a:t>AI agents point to similar past fixes and draft a plan</a:t>
            </a:r>
            <a:endParaRPr lang="en-US" sz="1500" dirty="0"/>
          </a:p>
          <a:p>
            <a:pPr algn="l" marL="176530" indent="-176530">
              <a:lnSpc>
                <a:spcPts val="2175"/>
              </a:lnSpc>
              <a:buSzPct val="100000"/>
              <a:buChar char="•"/>
            </a:pPr>
            <a:r>
              <a:rPr lang="en-US" sz="1500" dirty="0">
                <a:solidFill>
                  <a:srgbClr val="0B2545"/>
                </a:solidFill>
                <a:latin typeface="Public Sans" pitchFamily="34" charset="0"/>
                <a:ea typeface="Public Sans" pitchFamily="34" charset="-122"/>
                <a:cs typeface="Public Sans" pitchFamily="34" charset="-120"/>
              </a:rPr>
              <a:t>Ask the chat assistant anything, in plain words</a:t>
            </a:r>
            <a:endParaRPr lang="en-US" sz="1500" dirty="0"/>
          </a:p>
          <a:p>
            <a:pPr algn="l" marL="176530" indent="-176530">
              <a:lnSpc>
                <a:spcPts val="2175"/>
              </a:lnSpc>
              <a:buSzPct val="100000"/>
              <a:buChar char="•"/>
            </a:pPr>
            <a:r>
              <a:rPr lang="en-US" sz="1500" dirty="0">
                <a:solidFill>
                  <a:srgbClr val="0B2545"/>
                </a:solidFill>
                <a:latin typeface="Public Sans" pitchFamily="34" charset="0"/>
                <a:ea typeface="Public Sans" pitchFamily="34" charset="-122"/>
                <a:cs typeface="Public Sans" pitchFamily="34" charset="-120"/>
              </a:rPr>
              <a:t>A person approves before anything runs</a:t>
            </a:r>
            <a:endParaRPr lang="en-US" sz="1500" dirty="0"/>
          </a:p>
        </p:txBody>
      </p:sp>
      <p:sp>
        <p:nvSpPr>
          <p:cNvPr id="6" name="Shape 4"/>
          <p:cNvSpPr/>
          <p:nvPr/>
        </p:nvSpPr>
        <p:spPr>
          <a:xfrm>
            <a:off x="6197600" y="1310615"/>
            <a:ext cx="5181600" cy="2295525"/>
          </a:xfrm>
          <a:prstGeom prst="roundRect">
            <a:avLst>
              <a:gd name="adj" fmla="val 4426"/>
            </a:avLst>
          </a:prstGeom>
          <a:solidFill>
            <a:srgbClr val="0072CE"/>
          </a:solidFill>
          <a:ln/>
        </p:spPr>
      </p:sp>
      <p:sp>
        <p:nvSpPr>
          <p:cNvPr id="7" name="Text 5"/>
          <p:cNvSpPr/>
          <p:nvPr/>
        </p:nvSpPr>
        <p:spPr>
          <a:xfrm>
            <a:off x="6451600" y="1564615"/>
            <a:ext cx="481380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FFFFF"/>
                </a:solidFill>
                <a:latin typeface="Source Serif 4" pitchFamily="18" charset="0"/>
                <a:ea typeface="Source Serif 4" pitchFamily="18" charset="-122"/>
                <a:cs typeface="Source Serif 4" pitchFamily="18" charset="-120"/>
              </a:rPr>
              <a:t>What you get</a:t>
            </a:r>
            <a:endParaRPr lang="en-US" sz="2000" dirty="0"/>
          </a:p>
        </p:txBody>
      </p:sp>
      <p:sp>
        <p:nvSpPr>
          <p:cNvPr id="8" name="Text 6"/>
          <p:cNvSpPr/>
          <p:nvPr/>
        </p:nvSpPr>
        <p:spPr>
          <a:xfrm>
            <a:off x="6529070" y="1971015"/>
            <a:ext cx="4728718" cy="1130300"/>
          </a:xfrm>
          <a:prstGeom prst="rect">
            <a:avLst/>
          </a:prstGeom>
          <a:noFill/>
          <a:ln/>
        </p:spPr>
        <p:txBody>
          <a:bodyPr wrap="square" lIns="0" tIns="0" rIns="0" bIns="0" rtlCol="0" anchor="t">
            <a:normAutofit/>
          </a:bodyPr>
          <a:lstStyle/>
          <a:p>
            <a:pPr algn="l" marL="176530" indent="-176530">
              <a:lnSpc>
                <a:spcPts val="2175"/>
              </a:lnSpc>
              <a:buSzPct val="100000"/>
              <a:buChar char="•"/>
            </a:pPr>
            <a:r>
              <a:rPr lang="en-US" sz="1500" dirty="0">
                <a:solidFill>
                  <a:srgbClr val="FFFFFF"/>
                </a:solidFill>
                <a:latin typeface="Public Sans" pitchFamily="34" charset="0"/>
                <a:ea typeface="Public Sans" pitchFamily="34" charset="-122"/>
                <a:cs typeface="Public Sans" pitchFamily="34" charset="-120"/>
              </a:rPr>
              <a:t>Less typing and fewer missed items</a:t>
            </a:r>
            <a:endParaRPr lang="en-US" sz="1500" dirty="0"/>
          </a:p>
          <a:p>
            <a:pPr algn="l" marL="176530" indent="-176530">
              <a:lnSpc>
                <a:spcPts val="2175"/>
              </a:lnSpc>
              <a:buSzPct val="100000"/>
              <a:buChar char="•"/>
            </a:pPr>
            <a:r>
              <a:rPr lang="en-US" sz="1500" dirty="0">
                <a:solidFill>
                  <a:srgbClr val="FFFFFF"/>
                </a:solidFill>
                <a:latin typeface="Public Sans" pitchFamily="34" charset="0"/>
                <a:ea typeface="Public Sans" pitchFamily="34" charset="-122"/>
                <a:cs typeface="Public Sans" pitchFamily="34" charset="-120"/>
              </a:rPr>
              <a:t>Good fixes reused, not reinvented</a:t>
            </a:r>
            <a:endParaRPr lang="en-US" sz="1500" dirty="0"/>
          </a:p>
          <a:p>
            <a:pPr algn="l" marL="176530" indent="-176530">
              <a:lnSpc>
                <a:spcPts val="2175"/>
              </a:lnSpc>
              <a:buSzPct val="100000"/>
              <a:buChar char="•"/>
            </a:pPr>
            <a:r>
              <a:rPr lang="en-US" sz="1500" dirty="0">
                <a:solidFill>
                  <a:srgbClr val="FFFFFF"/>
                </a:solidFill>
                <a:latin typeface="Public Sans" pitchFamily="34" charset="0"/>
                <a:ea typeface="Public Sans" pitchFamily="34" charset="-122"/>
                <a:cs typeface="Public Sans" pitchFamily="34" charset="-120"/>
              </a:rPr>
              <a:t>Clear sign-off with a named approver</a:t>
            </a:r>
            <a:endParaRPr lang="en-US" sz="1500" dirty="0"/>
          </a:p>
          <a:p>
            <a:pPr algn="l" marL="176530" indent="-176530">
              <a:lnSpc>
                <a:spcPts val="2175"/>
              </a:lnSpc>
              <a:buSzPct val="100000"/>
              <a:buChar char="•"/>
            </a:pPr>
            <a:r>
              <a:rPr lang="en-US" sz="1500" dirty="0">
                <a:solidFill>
                  <a:srgbClr val="FFFFFF"/>
                </a:solidFill>
                <a:latin typeface="Public Sans" pitchFamily="34" charset="0"/>
                <a:ea typeface="Public Sans" pitchFamily="34" charset="-122"/>
                <a:cs typeface="Public Sans" pitchFamily="34" charset="-120"/>
              </a:rPr>
              <a:t>A complete record of who did what</a:t>
            </a:r>
            <a:endParaRPr lang="en-US" sz="1500" dirty="0"/>
          </a:p>
        </p:txBody>
      </p:sp>
      <p:sp>
        <p:nvSpPr>
          <p:cNvPr id="9" name="Shape 7"/>
          <p:cNvSpPr/>
          <p:nvPr/>
        </p:nvSpPr>
        <p:spPr>
          <a:xfrm>
            <a:off x="812800" y="3860140"/>
            <a:ext cx="1991320" cy="1175941"/>
          </a:xfrm>
          <a:prstGeom prst="roundRect">
            <a:avLst>
              <a:gd name="adj" fmla="val 8640"/>
            </a:avLst>
          </a:prstGeom>
          <a:solidFill>
            <a:srgbClr val="FFFFFF"/>
          </a:solidFill>
          <a:ln/>
        </p:spPr>
      </p:sp>
      <p:sp>
        <p:nvSpPr>
          <p:cNvPr id="10" name="Text 8"/>
          <p:cNvSpPr/>
          <p:nvPr/>
        </p:nvSpPr>
        <p:spPr>
          <a:xfrm>
            <a:off x="990600" y="4012540"/>
            <a:ext cx="1686520"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0072CE"/>
                </a:solidFill>
                <a:latin typeface="Public Sans" pitchFamily="34" charset="0"/>
                <a:ea typeface="Public Sans" pitchFamily="34" charset="-122"/>
                <a:cs typeface="Public Sans" pitchFamily="34" charset="-120"/>
              </a:rPr>
              <a:t>6</a:t>
            </a:r>
            <a:endParaRPr lang="en-US" sz="3200" dirty="0"/>
          </a:p>
        </p:txBody>
      </p:sp>
      <p:sp>
        <p:nvSpPr>
          <p:cNvPr id="11" name="Text 9"/>
          <p:cNvSpPr/>
          <p:nvPr/>
        </p:nvSpPr>
        <p:spPr>
          <a:xfrm>
            <a:off x="990600" y="4457040"/>
            <a:ext cx="168652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apps and services working together</a:t>
            </a:r>
            <a:endParaRPr lang="en-US" sz="1200" dirty="0"/>
          </a:p>
        </p:txBody>
      </p:sp>
      <p:sp>
        <p:nvSpPr>
          <p:cNvPr id="12" name="Shape 10"/>
          <p:cNvSpPr/>
          <p:nvPr/>
        </p:nvSpPr>
        <p:spPr>
          <a:xfrm>
            <a:off x="2956520" y="3860140"/>
            <a:ext cx="1991387" cy="1175941"/>
          </a:xfrm>
          <a:prstGeom prst="roundRect">
            <a:avLst>
              <a:gd name="adj" fmla="val 8640"/>
            </a:avLst>
          </a:prstGeom>
          <a:solidFill>
            <a:srgbClr val="FFFFFF"/>
          </a:solidFill>
          <a:ln/>
        </p:spPr>
      </p:sp>
      <p:sp>
        <p:nvSpPr>
          <p:cNvPr id="13" name="Text 11"/>
          <p:cNvSpPr/>
          <p:nvPr/>
        </p:nvSpPr>
        <p:spPr>
          <a:xfrm>
            <a:off x="3134320" y="4012540"/>
            <a:ext cx="1686587"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0072CE"/>
                </a:solidFill>
                <a:latin typeface="Public Sans" pitchFamily="34" charset="0"/>
                <a:ea typeface="Public Sans" pitchFamily="34" charset="-122"/>
                <a:cs typeface="Public Sans" pitchFamily="34" charset="-120"/>
              </a:rPr>
              <a:t>3</a:t>
            </a:r>
            <a:endParaRPr lang="en-US" sz="3200" dirty="0"/>
          </a:p>
        </p:txBody>
      </p:sp>
      <p:sp>
        <p:nvSpPr>
          <p:cNvPr id="14" name="Text 12"/>
          <p:cNvSpPr/>
          <p:nvPr/>
        </p:nvSpPr>
        <p:spPr>
          <a:xfrm>
            <a:off x="3134320" y="4457040"/>
            <a:ext cx="168658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AI agents: finder, planner, chat</a:t>
            </a:r>
            <a:endParaRPr lang="en-US" sz="1200" dirty="0"/>
          </a:p>
        </p:txBody>
      </p:sp>
      <p:sp>
        <p:nvSpPr>
          <p:cNvPr id="15" name="Shape 13"/>
          <p:cNvSpPr/>
          <p:nvPr/>
        </p:nvSpPr>
        <p:spPr>
          <a:xfrm>
            <a:off x="5100307" y="3860140"/>
            <a:ext cx="1991320" cy="1175941"/>
          </a:xfrm>
          <a:prstGeom prst="roundRect">
            <a:avLst>
              <a:gd name="adj" fmla="val 8640"/>
            </a:avLst>
          </a:prstGeom>
          <a:solidFill>
            <a:srgbClr val="FFFFFF"/>
          </a:solidFill>
          <a:ln/>
        </p:spPr>
      </p:sp>
      <p:sp>
        <p:nvSpPr>
          <p:cNvPr id="16" name="Text 14"/>
          <p:cNvSpPr/>
          <p:nvPr/>
        </p:nvSpPr>
        <p:spPr>
          <a:xfrm>
            <a:off x="5278107" y="4012540"/>
            <a:ext cx="1686520"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0072CE"/>
                </a:solidFill>
                <a:latin typeface="Public Sans" pitchFamily="34" charset="0"/>
                <a:ea typeface="Public Sans" pitchFamily="34" charset="-122"/>
                <a:cs typeface="Public Sans" pitchFamily="34" charset="-120"/>
              </a:rPr>
              <a:t>60</a:t>
            </a:r>
            <a:endParaRPr lang="en-US" sz="3200" dirty="0"/>
          </a:p>
        </p:txBody>
      </p:sp>
      <p:sp>
        <p:nvSpPr>
          <p:cNvPr id="17" name="Text 15"/>
          <p:cNvSpPr/>
          <p:nvPr/>
        </p:nvSpPr>
        <p:spPr>
          <a:xfrm>
            <a:off x="5278107" y="4457040"/>
            <a:ext cx="168652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tools the chat assistant can use</a:t>
            </a:r>
            <a:endParaRPr lang="en-US" sz="1200" dirty="0"/>
          </a:p>
        </p:txBody>
      </p:sp>
      <p:sp>
        <p:nvSpPr>
          <p:cNvPr id="18" name="Shape 16"/>
          <p:cNvSpPr/>
          <p:nvPr/>
        </p:nvSpPr>
        <p:spPr>
          <a:xfrm>
            <a:off x="7244028" y="3860140"/>
            <a:ext cx="1991387" cy="1175941"/>
          </a:xfrm>
          <a:prstGeom prst="roundRect">
            <a:avLst>
              <a:gd name="adj" fmla="val 8640"/>
            </a:avLst>
          </a:prstGeom>
          <a:solidFill>
            <a:srgbClr val="FFFFFF"/>
          </a:solidFill>
          <a:ln/>
        </p:spPr>
      </p:sp>
      <p:sp>
        <p:nvSpPr>
          <p:cNvPr id="19" name="Text 17"/>
          <p:cNvSpPr/>
          <p:nvPr/>
        </p:nvSpPr>
        <p:spPr>
          <a:xfrm>
            <a:off x="7421828" y="4012540"/>
            <a:ext cx="1686587"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0072CE"/>
                </a:solidFill>
                <a:latin typeface="Public Sans" pitchFamily="34" charset="0"/>
                <a:ea typeface="Public Sans" pitchFamily="34" charset="-122"/>
                <a:cs typeface="Public Sans" pitchFamily="34" charset="-120"/>
              </a:rPr>
              <a:t>5</a:t>
            </a:r>
            <a:endParaRPr lang="en-US" sz="3200" dirty="0"/>
          </a:p>
        </p:txBody>
      </p:sp>
      <p:sp>
        <p:nvSpPr>
          <p:cNvPr id="20" name="Text 18"/>
          <p:cNvSpPr/>
          <p:nvPr/>
        </p:nvSpPr>
        <p:spPr>
          <a:xfrm>
            <a:off x="7421828" y="4457040"/>
            <a:ext cx="168658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roles with separate duties</a:t>
            </a:r>
            <a:endParaRPr lang="en-US" sz="1200" dirty="0"/>
          </a:p>
        </p:txBody>
      </p:sp>
      <p:sp>
        <p:nvSpPr>
          <p:cNvPr id="21" name="Shape 19"/>
          <p:cNvSpPr/>
          <p:nvPr/>
        </p:nvSpPr>
        <p:spPr>
          <a:xfrm>
            <a:off x="9387814" y="3860140"/>
            <a:ext cx="1991387" cy="1175941"/>
          </a:xfrm>
          <a:prstGeom prst="roundRect">
            <a:avLst>
              <a:gd name="adj" fmla="val 8640"/>
            </a:avLst>
          </a:prstGeom>
          <a:solidFill>
            <a:srgbClr val="FFFFFF"/>
          </a:solidFill>
          <a:ln/>
        </p:spPr>
      </p:sp>
      <p:sp>
        <p:nvSpPr>
          <p:cNvPr id="22" name="Text 20"/>
          <p:cNvSpPr/>
          <p:nvPr/>
        </p:nvSpPr>
        <p:spPr>
          <a:xfrm>
            <a:off x="9565614" y="4012540"/>
            <a:ext cx="1686587"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0072CE"/>
                </a:solidFill>
                <a:latin typeface="Public Sans" pitchFamily="34" charset="0"/>
                <a:ea typeface="Public Sans" pitchFamily="34" charset="-122"/>
                <a:cs typeface="Public Sans" pitchFamily="34" charset="-120"/>
              </a:rPr>
              <a:t>7</a:t>
            </a:r>
            <a:endParaRPr lang="en-US" sz="3200" dirty="0"/>
          </a:p>
        </p:txBody>
      </p:sp>
      <p:sp>
        <p:nvSpPr>
          <p:cNvPr id="23" name="Text 21"/>
          <p:cNvSpPr/>
          <p:nvPr/>
        </p:nvSpPr>
        <p:spPr>
          <a:xfrm>
            <a:off x="9565614" y="4457040"/>
            <a:ext cx="168658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incident states, start to finish</a:t>
            </a:r>
            <a:endParaRPr lang="en-US" sz="1200" dirty="0"/>
          </a:p>
        </p:txBody>
      </p:sp>
      <p:sp>
        <p:nvSpPr>
          <p:cNvPr id="24" name="Text 22"/>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Bulwark | Innova Solutions</a:t>
            </a:r>
            <a:endParaRPr lang="en-US" sz="1200" dirty="0"/>
          </a:p>
        </p:txBody>
      </p:sp>
      <p:sp>
        <p:nvSpPr>
          <p:cNvPr id="25" name="Text 2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9FD"/>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2545"/>
                </a:solidFill>
                <a:latin typeface="Source Serif 4" pitchFamily="18" charset="0"/>
                <a:ea typeface="Source Serif 4" pitchFamily="18" charset="-122"/>
                <a:cs typeface="Source Serif 4" pitchFamily="18" charset="-120"/>
              </a:rPr>
              <a:t>What it does</a:t>
            </a:r>
            <a:endParaRPr lang="en-US" sz="3200" dirty="0"/>
          </a:p>
        </p:txBody>
      </p:sp>
      <p:sp>
        <p:nvSpPr>
          <p:cNvPr id="3" name="Shape 1"/>
          <p:cNvSpPr/>
          <p:nvPr/>
        </p:nvSpPr>
        <p:spPr>
          <a:xfrm>
            <a:off x="812800" y="1310615"/>
            <a:ext cx="2546350" cy="965134"/>
          </a:xfrm>
          <a:prstGeom prst="roundRect">
            <a:avLst>
              <a:gd name="adj" fmla="val 9211"/>
            </a:avLst>
          </a:prstGeom>
          <a:solidFill>
            <a:srgbClr val="FFFFFF"/>
          </a:solidFill>
          <a:ln/>
        </p:spPr>
      </p:sp>
      <p:sp>
        <p:nvSpPr>
          <p:cNvPr id="4" name="Text 2"/>
          <p:cNvSpPr/>
          <p:nvPr/>
        </p:nvSpPr>
        <p:spPr>
          <a:xfrm>
            <a:off x="965200" y="1463015"/>
            <a:ext cx="230879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072CE"/>
                </a:solidFill>
                <a:latin typeface="Public Sans" pitchFamily="34" charset="0"/>
                <a:ea typeface="Public Sans" pitchFamily="34" charset="-122"/>
                <a:cs typeface="Public Sans" pitchFamily="34" charset="-120"/>
              </a:rPr>
              <a:t>Dashboard</a:t>
            </a:r>
            <a:endParaRPr lang="en-US" sz="1400" dirty="0"/>
          </a:p>
        </p:txBody>
      </p:sp>
      <p:sp>
        <p:nvSpPr>
          <p:cNvPr id="5" name="Text 3"/>
          <p:cNvSpPr/>
          <p:nvPr/>
        </p:nvSpPr>
        <p:spPr>
          <a:xfrm>
            <a:off x="965200" y="1727135"/>
            <a:ext cx="2308796"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B7C"/>
                </a:solidFill>
                <a:latin typeface="Public Sans" pitchFamily="34" charset="0"/>
                <a:ea typeface="Public Sans" pitchFamily="34" charset="-122"/>
                <a:cs typeface="Public Sans" pitchFamily="34" charset="-120"/>
              </a:rPr>
              <a:t>Live summary and items needing attention</a:t>
            </a:r>
            <a:endParaRPr lang="en-US" sz="1200" dirty="0"/>
          </a:p>
        </p:txBody>
      </p:sp>
      <p:sp>
        <p:nvSpPr>
          <p:cNvPr id="6" name="Shape 4"/>
          <p:cNvSpPr/>
          <p:nvPr/>
        </p:nvSpPr>
        <p:spPr>
          <a:xfrm>
            <a:off x="3486150" y="1310615"/>
            <a:ext cx="2546350" cy="965134"/>
          </a:xfrm>
          <a:prstGeom prst="roundRect">
            <a:avLst>
              <a:gd name="adj" fmla="val 9211"/>
            </a:avLst>
          </a:prstGeom>
          <a:solidFill>
            <a:srgbClr val="FFFFFF"/>
          </a:solidFill>
          <a:ln/>
        </p:spPr>
      </p:sp>
      <p:sp>
        <p:nvSpPr>
          <p:cNvPr id="7" name="Text 5"/>
          <p:cNvSpPr/>
          <p:nvPr/>
        </p:nvSpPr>
        <p:spPr>
          <a:xfrm>
            <a:off x="3638550" y="1463015"/>
            <a:ext cx="230879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072CE"/>
                </a:solidFill>
                <a:latin typeface="Public Sans" pitchFamily="34" charset="0"/>
                <a:ea typeface="Public Sans" pitchFamily="34" charset="-122"/>
                <a:cs typeface="Public Sans" pitchFamily="34" charset="-120"/>
              </a:rPr>
              <a:t>Vulnerabilities</a:t>
            </a:r>
            <a:endParaRPr lang="en-US" sz="1400" dirty="0"/>
          </a:p>
        </p:txBody>
      </p:sp>
      <p:sp>
        <p:nvSpPr>
          <p:cNvPr id="8" name="Text 6"/>
          <p:cNvSpPr/>
          <p:nvPr/>
        </p:nvSpPr>
        <p:spPr>
          <a:xfrm>
            <a:off x="3638550" y="1727135"/>
            <a:ext cx="2308796"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B7C"/>
                </a:solidFill>
                <a:latin typeface="Public Sans" pitchFamily="34" charset="0"/>
                <a:ea typeface="Public Sans" pitchFamily="34" charset="-122"/>
                <a:cs typeface="Public Sans" pitchFamily="34" charset="-120"/>
              </a:rPr>
              <a:t>CVE register with severity and CVSS</a:t>
            </a:r>
            <a:endParaRPr lang="en-US" sz="1200" dirty="0"/>
          </a:p>
        </p:txBody>
      </p:sp>
      <p:sp>
        <p:nvSpPr>
          <p:cNvPr id="9" name="Shape 7"/>
          <p:cNvSpPr/>
          <p:nvPr/>
        </p:nvSpPr>
        <p:spPr>
          <a:xfrm>
            <a:off x="6159500" y="1310615"/>
            <a:ext cx="2546350" cy="965134"/>
          </a:xfrm>
          <a:prstGeom prst="roundRect">
            <a:avLst>
              <a:gd name="adj" fmla="val 9211"/>
            </a:avLst>
          </a:prstGeom>
          <a:solidFill>
            <a:srgbClr val="FFFFFF"/>
          </a:solidFill>
          <a:ln/>
        </p:spPr>
      </p:sp>
      <p:sp>
        <p:nvSpPr>
          <p:cNvPr id="10" name="Text 8"/>
          <p:cNvSpPr/>
          <p:nvPr/>
        </p:nvSpPr>
        <p:spPr>
          <a:xfrm>
            <a:off x="6311900" y="1463015"/>
            <a:ext cx="230879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072CE"/>
                </a:solidFill>
                <a:latin typeface="Public Sans" pitchFamily="34" charset="0"/>
                <a:ea typeface="Public Sans" pitchFamily="34" charset="-122"/>
                <a:cs typeface="Public Sans" pitchFamily="34" charset="-120"/>
              </a:rPr>
              <a:t>Assets</a:t>
            </a:r>
            <a:endParaRPr lang="en-US" sz="1400" dirty="0"/>
          </a:p>
        </p:txBody>
      </p:sp>
      <p:sp>
        <p:nvSpPr>
          <p:cNvPr id="11" name="Text 9"/>
          <p:cNvSpPr/>
          <p:nvPr/>
        </p:nvSpPr>
        <p:spPr>
          <a:xfrm>
            <a:off x="6311900" y="1727135"/>
            <a:ext cx="2308796"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B7C"/>
                </a:solidFill>
                <a:latin typeface="Public Sans" pitchFamily="34" charset="0"/>
                <a:ea typeface="Public Sans" pitchFamily="34" charset="-122"/>
                <a:cs typeface="Public Sans" pitchFamily="34" charset="-120"/>
              </a:rPr>
              <a:t>Systems and apps, by owner and environment</a:t>
            </a:r>
            <a:endParaRPr lang="en-US" sz="1200" dirty="0"/>
          </a:p>
        </p:txBody>
      </p:sp>
      <p:sp>
        <p:nvSpPr>
          <p:cNvPr id="12" name="Shape 10"/>
          <p:cNvSpPr/>
          <p:nvPr/>
        </p:nvSpPr>
        <p:spPr>
          <a:xfrm>
            <a:off x="8832850" y="1310615"/>
            <a:ext cx="2546350" cy="965134"/>
          </a:xfrm>
          <a:prstGeom prst="roundRect">
            <a:avLst>
              <a:gd name="adj" fmla="val 9211"/>
            </a:avLst>
          </a:prstGeom>
          <a:solidFill>
            <a:srgbClr val="FFFFFF"/>
          </a:solidFill>
          <a:ln/>
        </p:spPr>
      </p:sp>
      <p:sp>
        <p:nvSpPr>
          <p:cNvPr id="13" name="Text 11"/>
          <p:cNvSpPr/>
          <p:nvPr/>
        </p:nvSpPr>
        <p:spPr>
          <a:xfrm>
            <a:off x="8985250" y="1463015"/>
            <a:ext cx="230879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072CE"/>
                </a:solidFill>
                <a:latin typeface="Public Sans" pitchFamily="34" charset="0"/>
                <a:ea typeface="Public Sans" pitchFamily="34" charset="-122"/>
                <a:cs typeface="Public Sans" pitchFamily="34" charset="-120"/>
              </a:rPr>
              <a:t>Incidents</a:t>
            </a:r>
            <a:endParaRPr lang="en-US" sz="1400" dirty="0"/>
          </a:p>
        </p:txBody>
      </p:sp>
      <p:sp>
        <p:nvSpPr>
          <p:cNvPr id="14" name="Text 12"/>
          <p:cNvSpPr/>
          <p:nvPr/>
        </p:nvSpPr>
        <p:spPr>
          <a:xfrm>
            <a:off x="8985250" y="1727135"/>
            <a:ext cx="2308796"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B7C"/>
                </a:solidFill>
                <a:latin typeface="Public Sans" pitchFamily="34" charset="0"/>
                <a:ea typeface="Public Sans" pitchFamily="34" charset="-122"/>
                <a:cs typeface="Public Sans" pitchFamily="34" charset="-120"/>
              </a:rPr>
              <a:t>One per vulnerability, with assets and plan</a:t>
            </a:r>
            <a:endParaRPr lang="en-US" sz="1200" dirty="0"/>
          </a:p>
        </p:txBody>
      </p:sp>
      <p:sp>
        <p:nvSpPr>
          <p:cNvPr id="15" name="Shape 13"/>
          <p:cNvSpPr/>
          <p:nvPr/>
        </p:nvSpPr>
        <p:spPr>
          <a:xfrm>
            <a:off x="812800" y="2402748"/>
            <a:ext cx="2546350" cy="965134"/>
          </a:xfrm>
          <a:prstGeom prst="roundRect">
            <a:avLst>
              <a:gd name="adj" fmla="val 9211"/>
            </a:avLst>
          </a:prstGeom>
          <a:solidFill>
            <a:srgbClr val="FFFFFF"/>
          </a:solidFill>
          <a:ln/>
        </p:spPr>
      </p:sp>
      <p:sp>
        <p:nvSpPr>
          <p:cNvPr id="16" name="Text 14"/>
          <p:cNvSpPr/>
          <p:nvPr/>
        </p:nvSpPr>
        <p:spPr>
          <a:xfrm>
            <a:off x="965200" y="2555148"/>
            <a:ext cx="230879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072CE"/>
                </a:solidFill>
                <a:latin typeface="Public Sans" pitchFamily="34" charset="0"/>
                <a:ea typeface="Public Sans" pitchFamily="34" charset="-122"/>
                <a:cs typeface="Public Sans" pitchFamily="34" charset="-120"/>
              </a:rPr>
              <a:t>Solutions</a:t>
            </a:r>
            <a:endParaRPr lang="en-US" sz="1400" dirty="0"/>
          </a:p>
        </p:txBody>
      </p:sp>
      <p:sp>
        <p:nvSpPr>
          <p:cNvPr id="17" name="Text 15"/>
          <p:cNvSpPr/>
          <p:nvPr/>
        </p:nvSpPr>
        <p:spPr>
          <a:xfrm>
            <a:off x="965200" y="2819268"/>
            <a:ext cx="2308796"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B7C"/>
                </a:solidFill>
                <a:latin typeface="Public Sans" pitchFamily="34" charset="0"/>
                <a:ea typeface="Public Sans" pitchFamily="34" charset="-122"/>
                <a:cs typeface="Public Sans" pitchFamily="34" charset="-120"/>
              </a:rPr>
              <a:t>Versioned, reviewed catalog of fixes</a:t>
            </a:r>
            <a:endParaRPr lang="en-US" sz="1200" dirty="0"/>
          </a:p>
        </p:txBody>
      </p:sp>
      <p:sp>
        <p:nvSpPr>
          <p:cNvPr id="18" name="Shape 16"/>
          <p:cNvSpPr/>
          <p:nvPr/>
        </p:nvSpPr>
        <p:spPr>
          <a:xfrm>
            <a:off x="3486150" y="2402748"/>
            <a:ext cx="2546350" cy="965134"/>
          </a:xfrm>
          <a:prstGeom prst="roundRect">
            <a:avLst>
              <a:gd name="adj" fmla="val 9211"/>
            </a:avLst>
          </a:prstGeom>
          <a:solidFill>
            <a:srgbClr val="FFFFFF"/>
          </a:solidFill>
          <a:ln/>
        </p:spPr>
      </p:sp>
      <p:sp>
        <p:nvSpPr>
          <p:cNvPr id="19" name="Text 17"/>
          <p:cNvSpPr/>
          <p:nvPr/>
        </p:nvSpPr>
        <p:spPr>
          <a:xfrm>
            <a:off x="3638550" y="2555148"/>
            <a:ext cx="230879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072CE"/>
                </a:solidFill>
                <a:latin typeface="Public Sans" pitchFamily="34" charset="0"/>
                <a:ea typeface="Public Sans" pitchFamily="34" charset="-122"/>
                <a:cs typeface="Public Sans" pitchFamily="34" charset="-120"/>
              </a:rPr>
              <a:t>Approvals</a:t>
            </a:r>
            <a:endParaRPr lang="en-US" sz="1400" dirty="0"/>
          </a:p>
        </p:txBody>
      </p:sp>
      <p:sp>
        <p:nvSpPr>
          <p:cNvPr id="20" name="Text 18"/>
          <p:cNvSpPr/>
          <p:nvPr/>
        </p:nvSpPr>
        <p:spPr>
          <a:xfrm>
            <a:off x="3638550" y="2819268"/>
            <a:ext cx="2308796"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B7C"/>
                </a:solidFill>
                <a:latin typeface="Public Sans" pitchFamily="34" charset="0"/>
                <a:ea typeface="Public Sans" pitchFamily="34" charset="-122"/>
                <a:cs typeface="Public Sans" pitchFamily="34" charset="-120"/>
              </a:rPr>
              <a:t>Review queues for fixes and plans</a:t>
            </a:r>
            <a:endParaRPr lang="en-US" sz="1200" dirty="0"/>
          </a:p>
        </p:txBody>
      </p:sp>
      <p:sp>
        <p:nvSpPr>
          <p:cNvPr id="21" name="Shape 19"/>
          <p:cNvSpPr/>
          <p:nvPr/>
        </p:nvSpPr>
        <p:spPr>
          <a:xfrm>
            <a:off x="6159500" y="2402748"/>
            <a:ext cx="2546350" cy="965134"/>
          </a:xfrm>
          <a:prstGeom prst="roundRect">
            <a:avLst>
              <a:gd name="adj" fmla="val 9211"/>
            </a:avLst>
          </a:prstGeom>
          <a:solidFill>
            <a:srgbClr val="FFFFFF"/>
          </a:solidFill>
          <a:ln/>
        </p:spPr>
      </p:sp>
      <p:sp>
        <p:nvSpPr>
          <p:cNvPr id="22" name="Text 20"/>
          <p:cNvSpPr/>
          <p:nvPr/>
        </p:nvSpPr>
        <p:spPr>
          <a:xfrm>
            <a:off x="6311900" y="2555148"/>
            <a:ext cx="230879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072CE"/>
                </a:solidFill>
                <a:latin typeface="Public Sans" pitchFamily="34" charset="0"/>
                <a:ea typeface="Public Sans" pitchFamily="34" charset="-122"/>
                <a:cs typeface="Public Sans" pitchFamily="34" charset="-120"/>
              </a:rPr>
              <a:t>Execution</a:t>
            </a:r>
            <a:endParaRPr lang="en-US" sz="1400" dirty="0"/>
          </a:p>
        </p:txBody>
      </p:sp>
      <p:sp>
        <p:nvSpPr>
          <p:cNvPr id="23" name="Text 21"/>
          <p:cNvSpPr/>
          <p:nvPr/>
        </p:nvSpPr>
        <p:spPr>
          <a:xfrm>
            <a:off x="6311900" y="2819268"/>
            <a:ext cx="2308796"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B7C"/>
                </a:solidFill>
                <a:latin typeface="Public Sans" pitchFamily="34" charset="0"/>
                <a:ea typeface="Public Sans" pitchFamily="34" charset="-122"/>
                <a:cs typeface="Public Sans" pitchFamily="34" charset="-120"/>
              </a:rPr>
              <a:t>Run steps per asset with live logs</a:t>
            </a:r>
            <a:endParaRPr lang="en-US" sz="1200" dirty="0"/>
          </a:p>
        </p:txBody>
      </p:sp>
      <p:sp>
        <p:nvSpPr>
          <p:cNvPr id="24" name="Shape 22"/>
          <p:cNvSpPr/>
          <p:nvPr/>
        </p:nvSpPr>
        <p:spPr>
          <a:xfrm>
            <a:off x="8832850" y="2402748"/>
            <a:ext cx="2546350" cy="965134"/>
          </a:xfrm>
          <a:prstGeom prst="roundRect">
            <a:avLst>
              <a:gd name="adj" fmla="val 9211"/>
            </a:avLst>
          </a:prstGeom>
          <a:solidFill>
            <a:srgbClr val="FFFFFF"/>
          </a:solidFill>
          <a:ln/>
        </p:spPr>
      </p:sp>
      <p:sp>
        <p:nvSpPr>
          <p:cNvPr id="25" name="Text 23"/>
          <p:cNvSpPr/>
          <p:nvPr/>
        </p:nvSpPr>
        <p:spPr>
          <a:xfrm>
            <a:off x="8985250" y="2555148"/>
            <a:ext cx="230879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072CE"/>
                </a:solidFill>
                <a:latin typeface="Public Sans" pitchFamily="34" charset="0"/>
                <a:ea typeface="Public Sans" pitchFamily="34" charset="-122"/>
                <a:cs typeface="Public Sans" pitchFamily="34" charset="-120"/>
              </a:rPr>
              <a:t>Insights</a:t>
            </a:r>
            <a:endParaRPr lang="en-US" sz="1400" dirty="0"/>
          </a:p>
        </p:txBody>
      </p:sp>
      <p:sp>
        <p:nvSpPr>
          <p:cNvPr id="26" name="Text 24"/>
          <p:cNvSpPr/>
          <p:nvPr/>
        </p:nvSpPr>
        <p:spPr>
          <a:xfrm>
            <a:off x="8985250" y="2819268"/>
            <a:ext cx="2308796"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B7C"/>
                </a:solidFill>
                <a:latin typeface="Public Sans" pitchFamily="34" charset="0"/>
                <a:ea typeface="Public Sans" pitchFamily="34" charset="-122"/>
                <a:cs typeface="Public Sans" pitchFamily="34" charset="-120"/>
              </a:rPr>
              <a:t>Search by meaning, risk report, briefing</a:t>
            </a:r>
            <a:endParaRPr lang="en-US" sz="1200" dirty="0"/>
          </a:p>
        </p:txBody>
      </p:sp>
      <p:sp>
        <p:nvSpPr>
          <p:cNvPr id="27" name="Shape 25"/>
          <p:cNvSpPr/>
          <p:nvPr/>
        </p:nvSpPr>
        <p:spPr>
          <a:xfrm>
            <a:off x="812800" y="3494881"/>
            <a:ext cx="2546350" cy="1003234"/>
          </a:xfrm>
          <a:prstGeom prst="roundRect">
            <a:avLst>
              <a:gd name="adj" fmla="val 8861"/>
            </a:avLst>
          </a:prstGeom>
          <a:solidFill>
            <a:srgbClr val="FEF3DD"/>
          </a:solidFill>
          <a:ln/>
        </p:spPr>
      </p:sp>
      <p:sp>
        <p:nvSpPr>
          <p:cNvPr id="28" name="Shape 26"/>
          <p:cNvSpPr/>
          <p:nvPr/>
        </p:nvSpPr>
        <p:spPr>
          <a:xfrm>
            <a:off x="812800" y="3494881"/>
            <a:ext cx="2546350" cy="1003234"/>
          </a:xfrm>
          <a:custGeom>
            <a:avLst/>
            <a:gdLst/>
            <a:ahLst/>
            <a:cxnLst/>
            <a:rect l="l" t="t" r="r" b="b"/>
            <a:pathLst>
              <a:path w="2546350" h="1003234">
                <a:moveTo>
                  <a:pt x="0" y="88900"/>
                </a:moveTo>
                <a:lnTo>
                  <a:pt x="0" y="88900"/>
                </a:lnTo>
                <a:arcTo hR="88900" wR="88900" stAng="10800000" swAng="5400000"/>
                <a:lnTo>
                  <a:pt x="2457450" y="0"/>
                </a:lnTo>
                <a:arcTo hR="88900" wR="88900" stAng="16200000" swAng="5400000"/>
                <a:lnTo>
                  <a:pt x="2546350" y="88900"/>
                </a:lnTo>
                <a:arcTo hR="50800" wR="88900" stAng="0" swAng="-5400000"/>
                <a:lnTo>
                  <a:pt x="88900" y="38100"/>
                </a:lnTo>
                <a:arcTo hR="50800" wR="88900" stAng="16200000" swAng="-5400000"/>
                <a:close/>
              </a:path>
            </a:pathLst>
          </a:custGeom>
          <a:solidFill>
            <a:srgbClr val="F5A623"/>
          </a:solidFill>
          <a:ln/>
        </p:spPr>
      </p:sp>
      <p:sp>
        <p:nvSpPr>
          <p:cNvPr id="29" name="Text 27"/>
          <p:cNvSpPr/>
          <p:nvPr/>
        </p:nvSpPr>
        <p:spPr>
          <a:xfrm>
            <a:off x="965200" y="3685381"/>
            <a:ext cx="230879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B2545"/>
                </a:solidFill>
                <a:latin typeface="Public Sans" pitchFamily="34" charset="0"/>
                <a:ea typeface="Public Sans" pitchFamily="34" charset="-122"/>
                <a:cs typeface="Public Sans" pitchFamily="34" charset="-120"/>
              </a:rPr>
              <a:t>AI agents</a:t>
            </a:r>
            <a:endParaRPr lang="en-US" sz="1400" dirty="0"/>
          </a:p>
        </p:txBody>
      </p:sp>
      <p:sp>
        <p:nvSpPr>
          <p:cNvPr id="30" name="Text 28"/>
          <p:cNvSpPr/>
          <p:nvPr/>
        </p:nvSpPr>
        <p:spPr>
          <a:xfrm>
            <a:off x="965200" y="3949502"/>
            <a:ext cx="2308796"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B7C"/>
                </a:solidFill>
                <a:latin typeface="Public Sans" pitchFamily="34" charset="0"/>
                <a:ea typeface="Public Sans" pitchFamily="34" charset="-122"/>
                <a:cs typeface="Public Sans" pitchFamily="34" charset="-120"/>
              </a:rPr>
              <a:t>Similar fixes and AI-built plans on every incident</a:t>
            </a:r>
            <a:endParaRPr lang="en-US" sz="1200" dirty="0"/>
          </a:p>
        </p:txBody>
      </p:sp>
      <p:sp>
        <p:nvSpPr>
          <p:cNvPr id="31" name="Shape 29"/>
          <p:cNvSpPr/>
          <p:nvPr/>
        </p:nvSpPr>
        <p:spPr>
          <a:xfrm>
            <a:off x="3486150" y="3494881"/>
            <a:ext cx="2546350" cy="1003234"/>
          </a:xfrm>
          <a:prstGeom prst="roundRect">
            <a:avLst>
              <a:gd name="adj" fmla="val 8861"/>
            </a:avLst>
          </a:prstGeom>
          <a:solidFill>
            <a:srgbClr val="FEF3DD"/>
          </a:solidFill>
          <a:ln/>
        </p:spPr>
      </p:sp>
      <p:sp>
        <p:nvSpPr>
          <p:cNvPr id="32" name="Shape 30"/>
          <p:cNvSpPr/>
          <p:nvPr/>
        </p:nvSpPr>
        <p:spPr>
          <a:xfrm>
            <a:off x="3486150" y="3494881"/>
            <a:ext cx="2546350" cy="1003234"/>
          </a:xfrm>
          <a:custGeom>
            <a:avLst/>
            <a:gdLst/>
            <a:ahLst/>
            <a:cxnLst/>
            <a:rect l="l" t="t" r="r" b="b"/>
            <a:pathLst>
              <a:path w="2546350" h="1003234">
                <a:moveTo>
                  <a:pt x="0" y="88900"/>
                </a:moveTo>
                <a:lnTo>
                  <a:pt x="0" y="88900"/>
                </a:lnTo>
                <a:arcTo hR="88900" wR="88900" stAng="10800000" swAng="5400000"/>
                <a:lnTo>
                  <a:pt x="2457450" y="0"/>
                </a:lnTo>
                <a:arcTo hR="88900" wR="88900" stAng="16200000" swAng="5400000"/>
                <a:lnTo>
                  <a:pt x="2546350" y="88900"/>
                </a:lnTo>
                <a:arcTo hR="50800" wR="88900" stAng="0" swAng="-5400000"/>
                <a:lnTo>
                  <a:pt x="88900" y="38100"/>
                </a:lnTo>
                <a:arcTo hR="50800" wR="88900" stAng="16200000" swAng="-5400000"/>
                <a:close/>
              </a:path>
            </a:pathLst>
          </a:custGeom>
          <a:solidFill>
            <a:srgbClr val="F5A623"/>
          </a:solidFill>
          <a:ln/>
        </p:spPr>
      </p:sp>
      <p:sp>
        <p:nvSpPr>
          <p:cNvPr id="33" name="Text 31"/>
          <p:cNvSpPr/>
          <p:nvPr/>
        </p:nvSpPr>
        <p:spPr>
          <a:xfrm>
            <a:off x="3638550" y="3685381"/>
            <a:ext cx="230879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B2545"/>
                </a:solidFill>
                <a:latin typeface="Public Sans" pitchFamily="34" charset="0"/>
                <a:ea typeface="Public Sans" pitchFamily="34" charset="-122"/>
                <a:cs typeface="Public Sans" pitchFamily="34" charset="-120"/>
              </a:rPr>
              <a:t>Chat assistant</a:t>
            </a:r>
            <a:endParaRPr lang="en-US" sz="1400" dirty="0"/>
          </a:p>
        </p:txBody>
      </p:sp>
      <p:sp>
        <p:nvSpPr>
          <p:cNvPr id="34" name="Text 32"/>
          <p:cNvSpPr/>
          <p:nvPr/>
        </p:nvSpPr>
        <p:spPr>
          <a:xfrm>
            <a:off x="3638550" y="3949502"/>
            <a:ext cx="2308796"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B7C"/>
                </a:solidFill>
                <a:latin typeface="Public Sans" pitchFamily="34" charset="0"/>
                <a:ea typeface="Public Sans" pitchFamily="34" charset="-122"/>
                <a:cs typeface="Public Sans" pitchFamily="34" charset="-120"/>
              </a:rPr>
              <a:t>Floating chat on every page of the console</a:t>
            </a:r>
            <a:endParaRPr lang="en-US" sz="1200" dirty="0"/>
          </a:p>
        </p:txBody>
      </p:sp>
      <p:sp>
        <p:nvSpPr>
          <p:cNvPr id="35" name="Shape 33"/>
          <p:cNvSpPr/>
          <p:nvPr/>
        </p:nvSpPr>
        <p:spPr>
          <a:xfrm>
            <a:off x="6159500" y="3494881"/>
            <a:ext cx="2546350" cy="1003234"/>
          </a:xfrm>
          <a:prstGeom prst="roundRect">
            <a:avLst>
              <a:gd name="adj" fmla="val 8861"/>
            </a:avLst>
          </a:prstGeom>
          <a:solidFill>
            <a:srgbClr val="FEF3DD"/>
          </a:solidFill>
          <a:ln/>
        </p:spPr>
      </p:sp>
      <p:sp>
        <p:nvSpPr>
          <p:cNvPr id="36" name="Shape 34"/>
          <p:cNvSpPr/>
          <p:nvPr/>
        </p:nvSpPr>
        <p:spPr>
          <a:xfrm>
            <a:off x="6159500" y="3494881"/>
            <a:ext cx="2546350" cy="1003234"/>
          </a:xfrm>
          <a:custGeom>
            <a:avLst/>
            <a:gdLst/>
            <a:ahLst/>
            <a:cxnLst/>
            <a:rect l="l" t="t" r="r" b="b"/>
            <a:pathLst>
              <a:path w="2546350" h="1003234">
                <a:moveTo>
                  <a:pt x="0" y="88900"/>
                </a:moveTo>
                <a:lnTo>
                  <a:pt x="0" y="88900"/>
                </a:lnTo>
                <a:arcTo hR="88900" wR="88900" stAng="10800000" swAng="5400000"/>
                <a:lnTo>
                  <a:pt x="2457450" y="0"/>
                </a:lnTo>
                <a:arcTo hR="88900" wR="88900" stAng="16200000" swAng="5400000"/>
                <a:lnTo>
                  <a:pt x="2546350" y="88900"/>
                </a:lnTo>
                <a:arcTo hR="50800" wR="88900" stAng="0" swAng="-5400000"/>
                <a:lnTo>
                  <a:pt x="88900" y="38100"/>
                </a:lnTo>
                <a:arcTo hR="50800" wR="88900" stAng="16200000" swAng="-5400000"/>
                <a:close/>
              </a:path>
            </a:pathLst>
          </a:custGeom>
          <a:solidFill>
            <a:srgbClr val="F5A623"/>
          </a:solidFill>
          <a:ln/>
        </p:spPr>
      </p:sp>
      <p:sp>
        <p:nvSpPr>
          <p:cNvPr id="37" name="Text 35"/>
          <p:cNvSpPr/>
          <p:nvPr/>
        </p:nvSpPr>
        <p:spPr>
          <a:xfrm>
            <a:off x="6311900" y="3685381"/>
            <a:ext cx="230879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B2545"/>
                </a:solidFill>
                <a:latin typeface="Public Sans" pitchFamily="34" charset="0"/>
                <a:ea typeface="Public Sans" pitchFamily="34" charset="-122"/>
                <a:cs typeface="Public Sans" pitchFamily="34" charset="-120"/>
              </a:rPr>
              <a:t>Agent app</a:t>
            </a:r>
            <a:endParaRPr lang="en-US" sz="1400" dirty="0"/>
          </a:p>
        </p:txBody>
      </p:sp>
      <p:sp>
        <p:nvSpPr>
          <p:cNvPr id="38" name="Text 36"/>
          <p:cNvSpPr/>
          <p:nvPr/>
        </p:nvSpPr>
        <p:spPr>
          <a:xfrm>
            <a:off x="6311900" y="3949502"/>
            <a:ext cx="2308796"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B7C"/>
                </a:solidFill>
                <a:latin typeface="Public Sans" pitchFamily="34" charset="0"/>
                <a:ea typeface="Public Sans" pitchFamily="34" charset="-122"/>
                <a:cs typeface="Public Sans" pitchFamily="34" charset="-120"/>
              </a:rPr>
              <a:t>Full-screen chat with saved conversations</a:t>
            </a:r>
            <a:endParaRPr lang="en-US" sz="1200" dirty="0"/>
          </a:p>
        </p:txBody>
      </p:sp>
      <p:sp>
        <p:nvSpPr>
          <p:cNvPr id="39" name="Shape 37"/>
          <p:cNvSpPr/>
          <p:nvPr/>
        </p:nvSpPr>
        <p:spPr>
          <a:xfrm>
            <a:off x="8832850" y="3494881"/>
            <a:ext cx="2546350" cy="1003234"/>
          </a:xfrm>
          <a:prstGeom prst="roundRect">
            <a:avLst>
              <a:gd name="adj" fmla="val 8861"/>
            </a:avLst>
          </a:prstGeom>
          <a:solidFill>
            <a:srgbClr val="FFFFFF"/>
          </a:solidFill>
          <a:ln/>
        </p:spPr>
      </p:sp>
      <p:sp>
        <p:nvSpPr>
          <p:cNvPr id="40" name="Text 38"/>
          <p:cNvSpPr/>
          <p:nvPr/>
        </p:nvSpPr>
        <p:spPr>
          <a:xfrm>
            <a:off x="8985250" y="3647281"/>
            <a:ext cx="230879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072CE"/>
                </a:solidFill>
                <a:latin typeface="Public Sans" pitchFamily="34" charset="0"/>
                <a:ea typeface="Public Sans" pitchFamily="34" charset="-122"/>
                <a:cs typeface="Public Sans" pitchFamily="34" charset="-120"/>
              </a:rPr>
              <a:t>Users</a:t>
            </a:r>
            <a:endParaRPr lang="en-US" sz="1400" dirty="0"/>
          </a:p>
        </p:txBody>
      </p:sp>
      <p:sp>
        <p:nvSpPr>
          <p:cNvPr id="41" name="Text 39"/>
          <p:cNvSpPr/>
          <p:nvPr/>
        </p:nvSpPr>
        <p:spPr>
          <a:xfrm>
            <a:off x="8985250" y="3911402"/>
            <a:ext cx="2308796"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B7C"/>
                </a:solidFill>
                <a:latin typeface="Public Sans" pitchFamily="34" charset="0"/>
                <a:ea typeface="Public Sans" pitchFamily="34" charset="-122"/>
                <a:cs typeface="Public Sans" pitchFamily="34" charset="-120"/>
              </a:rPr>
              <a:t>Accounts and roles, managed by admins</a:t>
            </a:r>
            <a:endParaRPr lang="en-US" sz="1200" dirty="0"/>
          </a:p>
        </p:txBody>
      </p:sp>
      <p:sp>
        <p:nvSpPr>
          <p:cNvPr id="42" name="Shape 40"/>
          <p:cNvSpPr/>
          <p:nvPr/>
        </p:nvSpPr>
        <p:spPr>
          <a:xfrm>
            <a:off x="812800" y="4625116"/>
            <a:ext cx="2546350" cy="965134"/>
          </a:xfrm>
          <a:prstGeom prst="roundRect">
            <a:avLst>
              <a:gd name="adj" fmla="val 9211"/>
            </a:avLst>
          </a:prstGeom>
          <a:solidFill>
            <a:srgbClr val="FFFFFF"/>
          </a:solidFill>
          <a:ln/>
        </p:spPr>
      </p:sp>
      <p:sp>
        <p:nvSpPr>
          <p:cNvPr id="43" name="Text 41"/>
          <p:cNvSpPr/>
          <p:nvPr/>
        </p:nvSpPr>
        <p:spPr>
          <a:xfrm>
            <a:off x="965200" y="4777516"/>
            <a:ext cx="230879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072CE"/>
                </a:solidFill>
                <a:latin typeface="Public Sans" pitchFamily="34" charset="0"/>
                <a:ea typeface="Public Sans" pitchFamily="34" charset="-122"/>
                <a:cs typeface="Public Sans" pitchFamily="34" charset="-120"/>
              </a:rPr>
              <a:t>Audit log</a:t>
            </a:r>
            <a:endParaRPr lang="en-US" sz="1400" dirty="0"/>
          </a:p>
        </p:txBody>
      </p:sp>
      <p:sp>
        <p:nvSpPr>
          <p:cNvPr id="44" name="Text 42"/>
          <p:cNvSpPr/>
          <p:nvPr/>
        </p:nvSpPr>
        <p:spPr>
          <a:xfrm>
            <a:off x="965200" y="5041636"/>
            <a:ext cx="2308796"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B7C"/>
                </a:solidFill>
                <a:latin typeface="Public Sans" pitchFamily="34" charset="0"/>
                <a:ea typeface="Public Sans" pitchFamily="34" charset="-122"/>
                <a:cs typeface="Public Sans" pitchFamily="34" charset="-120"/>
              </a:rPr>
              <a:t>Every change with who and when</a:t>
            </a:r>
            <a:endParaRPr lang="en-US" sz="1200" dirty="0"/>
          </a:p>
        </p:txBody>
      </p:sp>
      <p:sp>
        <p:nvSpPr>
          <p:cNvPr id="45" name="Text 43"/>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Bulwark | Innova Solutions</a:t>
            </a:r>
            <a:endParaRPr lang="en-US" sz="1200" dirty="0"/>
          </a:p>
        </p:txBody>
      </p:sp>
      <p:sp>
        <p:nvSpPr>
          <p:cNvPr id="46" name="Text 4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9FD"/>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2545"/>
                </a:solidFill>
                <a:latin typeface="Source Serif 4" pitchFamily="18" charset="0"/>
                <a:ea typeface="Source Serif 4" pitchFamily="18" charset="-122"/>
                <a:cs typeface="Source Serif 4" pitchFamily="18" charset="-120"/>
              </a:rPr>
              <a:t>Meet the three AI agents</a:t>
            </a:r>
            <a:endParaRPr lang="en-US" sz="3200" dirty="0"/>
          </a:p>
        </p:txBody>
      </p:sp>
      <p:sp>
        <p:nvSpPr>
          <p:cNvPr id="3" name="Shape 1"/>
          <p:cNvSpPr/>
          <p:nvPr/>
        </p:nvSpPr>
        <p:spPr>
          <a:xfrm>
            <a:off x="812800" y="1310615"/>
            <a:ext cx="3403600" cy="2524654"/>
          </a:xfrm>
          <a:prstGeom prst="roundRect">
            <a:avLst>
              <a:gd name="adj" fmla="val 4024"/>
            </a:avLst>
          </a:prstGeom>
          <a:solidFill>
            <a:srgbClr val="FFFFFF"/>
          </a:solidFill>
          <a:ln/>
        </p:spPr>
      </p:sp>
      <p:sp>
        <p:nvSpPr>
          <p:cNvPr id="4" name="Shape 2"/>
          <p:cNvSpPr/>
          <p:nvPr/>
        </p:nvSpPr>
        <p:spPr>
          <a:xfrm>
            <a:off x="812800" y="1310615"/>
            <a:ext cx="3403600" cy="2524654"/>
          </a:xfrm>
          <a:custGeom>
            <a:avLst/>
            <a:gdLst/>
            <a:ahLst/>
            <a:cxnLst/>
            <a:rect l="l" t="t" r="r" b="b"/>
            <a:pathLst>
              <a:path w="3403600" h="2524654">
                <a:moveTo>
                  <a:pt x="0" y="101600"/>
                </a:moveTo>
                <a:lnTo>
                  <a:pt x="0" y="101600"/>
                </a:lnTo>
                <a:arcTo hR="101600" wR="101600" stAng="10800000" swAng="5400000"/>
                <a:lnTo>
                  <a:pt x="3302000" y="0"/>
                </a:lnTo>
                <a:arcTo hR="101600" wR="101600" stAng="16200000" swAng="5400000"/>
                <a:lnTo>
                  <a:pt x="3403600" y="101600"/>
                </a:lnTo>
                <a:arcTo hR="50800" wR="101600" stAng="0" swAng="-5400000"/>
                <a:lnTo>
                  <a:pt x="101600" y="50800"/>
                </a:lnTo>
                <a:arcTo hR="50800" wR="101600" stAng="16200000" swAng="-5400000"/>
                <a:close/>
              </a:path>
            </a:pathLst>
          </a:custGeom>
          <a:solidFill>
            <a:srgbClr val="F5A623"/>
          </a:solidFill>
          <a:ln/>
        </p:spPr>
      </p:sp>
      <p:sp>
        <p:nvSpPr>
          <p:cNvPr id="5" name="Text 3"/>
          <p:cNvSpPr/>
          <p:nvPr/>
        </p:nvSpPr>
        <p:spPr>
          <a:xfrm>
            <a:off x="1041400" y="1590015"/>
            <a:ext cx="30347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26A00"/>
                </a:solidFill>
                <a:latin typeface="Public Sans" pitchFamily="34" charset="0"/>
                <a:ea typeface="Public Sans" pitchFamily="34" charset="-122"/>
                <a:cs typeface="Public Sans" pitchFamily="34" charset="-120"/>
              </a:rPr>
              <a:t>AGENT 1</a:t>
            </a:r>
            <a:endParaRPr lang="en-US" sz="1200" dirty="0"/>
          </a:p>
        </p:txBody>
      </p:sp>
      <p:sp>
        <p:nvSpPr>
          <p:cNvPr id="6" name="Text 4"/>
          <p:cNvSpPr/>
          <p:nvPr/>
        </p:nvSpPr>
        <p:spPr>
          <a:xfrm>
            <a:off x="1041400" y="1904935"/>
            <a:ext cx="303479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2545"/>
                </a:solidFill>
                <a:latin typeface="Source Serif 4" pitchFamily="18" charset="0"/>
                <a:ea typeface="Source Serif 4" pitchFamily="18" charset="-122"/>
                <a:cs typeface="Source Serif 4" pitchFamily="18" charset="-120"/>
              </a:rPr>
              <a:t>Similar-fix finder</a:t>
            </a:r>
            <a:endParaRPr lang="en-US" sz="2000" dirty="0"/>
          </a:p>
        </p:txBody>
      </p:sp>
      <p:sp>
        <p:nvSpPr>
          <p:cNvPr id="7" name="Text 5"/>
          <p:cNvSpPr/>
          <p:nvPr/>
        </p:nvSpPr>
        <p:spPr>
          <a:xfrm>
            <a:off x="1041400" y="2311335"/>
            <a:ext cx="3034792" cy="102102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B7C"/>
                </a:solidFill>
                <a:latin typeface="Public Sans" pitchFamily="34" charset="0"/>
                <a:ea typeface="Public Sans" pitchFamily="34" charset="-122"/>
                <a:cs typeface="Public Sans" pitchFamily="34" charset="-120"/>
              </a:rPr>
              <a:t>Reads each new incident and finds past incidents that were already solved. Shows the fixes that worked, with a match score.</a:t>
            </a:r>
            <a:endParaRPr lang="en-US" sz="1400" dirty="0"/>
          </a:p>
        </p:txBody>
      </p:sp>
      <p:sp>
        <p:nvSpPr>
          <p:cNvPr id="8" name="Text 6"/>
          <p:cNvSpPr/>
          <p:nvPr/>
        </p:nvSpPr>
        <p:spPr>
          <a:xfrm>
            <a:off x="1041400" y="3408561"/>
            <a:ext cx="3034792" cy="223507"/>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072CE"/>
                </a:solidFill>
                <a:latin typeface="Public Sans" pitchFamily="34" charset="0"/>
                <a:ea typeface="Public Sans" pitchFamily="34" charset="-122"/>
                <a:cs typeface="Public Sans" pitchFamily="34" charset="-120"/>
              </a:rPr>
              <a:t>Gemini embeddings + pgvector search</a:t>
            </a:r>
            <a:endParaRPr lang="en-US" sz="1200" dirty="0"/>
          </a:p>
        </p:txBody>
      </p:sp>
      <p:sp>
        <p:nvSpPr>
          <p:cNvPr id="9" name="Shape 7"/>
          <p:cNvSpPr/>
          <p:nvPr/>
        </p:nvSpPr>
        <p:spPr>
          <a:xfrm>
            <a:off x="4394200" y="1310615"/>
            <a:ext cx="3403600" cy="2524654"/>
          </a:xfrm>
          <a:prstGeom prst="roundRect">
            <a:avLst>
              <a:gd name="adj" fmla="val 4024"/>
            </a:avLst>
          </a:prstGeom>
          <a:solidFill>
            <a:srgbClr val="FFFFFF"/>
          </a:solidFill>
          <a:ln/>
        </p:spPr>
      </p:sp>
      <p:sp>
        <p:nvSpPr>
          <p:cNvPr id="10" name="Shape 8"/>
          <p:cNvSpPr/>
          <p:nvPr/>
        </p:nvSpPr>
        <p:spPr>
          <a:xfrm>
            <a:off x="4394200" y="1310615"/>
            <a:ext cx="3403600" cy="2524654"/>
          </a:xfrm>
          <a:custGeom>
            <a:avLst/>
            <a:gdLst/>
            <a:ahLst/>
            <a:cxnLst/>
            <a:rect l="l" t="t" r="r" b="b"/>
            <a:pathLst>
              <a:path w="3403600" h="2524654">
                <a:moveTo>
                  <a:pt x="0" y="101600"/>
                </a:moveTo>
                <a:lnTo>
                  <a:pt x="0" y="101600"/>
                </a:lnTo>
                <a:arcTo hR="101600" wR="101600" stAng="10800000" swAng="5400000"/>
                <a:lnTo>
                  <a:pt x="3302000" y="0"/>
                </a:lnTo>
                <a:arcTo hR="101600" wR="101600" stAng="16200000" swAng="5400000"/>
                <a:lnTo>
                  <a:pt x="3403600" y="101600"/>
                </a:lnTo>
                <a:arcTo hR="50800" wR="101600" stAng="0" swAng="-5400000"/>
                <a:lnTo>
                  <a:pt x="101600" y="50800"/>
                </a:lnTo>
                <a:arcTo hR="50800" wR="101600" stAng="16200000" swAng="-5400000"/>
                <a:close/>
              </a:path>
            </a:pathLst>
          </a:custGeom>
          <a:solidFill>
            <a:srgbClr val="F5A623"/>
          </a:solidFill>
          <a:ln/>
        </p:spPr>
      </p:sp>
      <p:sp>
        <p:nvSpPr>
          <p:cNvPr id="11" name="Text 9"/>
          <p:cNvSpPr/>
          <p:nvPr/>
        </p:nvSpPr>
        <p:spPr>
          <a:xfrm>
            <a:off x="4622800" y="1590015"/>
            <a:ext cx="30347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26A00"/>
                </a:solidFill>
                <a:latin typeface="Public Sans" pitchFamily="34" charset="0"/>
                <a:ea typeface="Public Sans" pitchFamily="34" charset="-122"/>
                <a:cs typeface="Public Sans" pitchFamily="34" charset="-120"/>
              </a:rPr>
              <a:t>AGENT 2</a:t>
            </a:r>
            <a:endParaRPr lang="en-US" sz="1200" dirty="0"/>
          </a:p>
        </p:txBody>
      </p:sp>
      <p:sp>
        <p:nvSpPr>
          <p:cNvPr id="12" name="Text 10"/>
          <p:cNvSpPr/>
          <p:nvPr/>
        </p:nvSpPr>
        <p:spPr>
          <a:xfrm>
            <a:off x="4622800" y="1904935"/>
            <a:ext cx="303479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2545"/>
                </a:solidFill>
                <a:latin typeface="Source Serif 4" pitchFamily="18" charset="0"/>
                <a:ea typeface="Source Serif 4" pitchFamily="18" charset="-122"/>
                <a:cs typeface="Source Serif 4" pitchFamily="18" charset="-120"/>
              </a:rPr>
              <a:t>Plan builder</a:t>
            </a:r>
            <a:endParaRPr lang="en-US" sz="2000" dirty="0"/>
          </a:p>
        </p:txBody>
      </p:sp>
      <p:sp>
        <p:nvSpPr>
          <p:cNvPr id="13" name="Text 11"/>
          <p:cNvSpPr/>
          <p:nvPr/>
        </p:nvSpPr>
        <p:spPr>
          <a:xfrm>
            <a:off x="4622800" y="2311335"/>
            <a:ext cx="3034792" cy="102102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B7C"/>
                </a:solidFill>
                <a:latin typeface="Public Sans" pitchFamily="34" charset="0"/>
                <a:ea typeface="Public Sans" pitchFamily="34" charset="-122"/>
                <a:cs typeface="Public Sans" pitchFamily="34" charset="-120"/>
              </a:rPr>
              <a:t>Drafts an ordered plan using only approved fixes. If nothing fits, it drafts a new fix for a developer to build and review.</a:t>
            </a:r>
            <a:endParaRPr lang="en-US" sz="1400" dirty="0"/>
          </a:p>
        </p:txBody>
      </p:sp>
      <p:sp>
        <p:nvSpPr>
          <p:cNvPr id="14" name="Text 12"/>
          <p:cNvSpPr/>
          <p:nvPr/>
        </p:nvSpPr>
        <p:spPr>
          <a:xfrm>
            <a:off x="4622800" y="3408561"/>
            <a:ext cx="3034792" cy="223507"/>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072CE"/>
                </a:solidFill>
                <a:latin typeface="Public Sans" pitchFamily="34" charset="0"/>
                <a:ea typeface="Public Sans" pitchFamily="34" charset="-122"/>
                <a:cs typeface="Public Sans" pitchFamily="34" charset="-120"/>
              </a:rPr>
              <a:t>Gemini 2.5 Flash</a:t>
            </a:r>
            <a:endParaRPr lang="en-US" sz="1200" dirty="0"/>
          </a:p>
        </p:txBody>
      </p:sp>
      <p:sp>
        <p:nvSpPr>
          <p:cNvPr id="15" name="Shape 13"/>
          <p:cNvSpPr/>
          <p:nvPr/>
        </p:nvSpPr>
        <p:spPr>
          <a:xfrm>
            <a:off x="7975600" y="1310615"/>
            <a:ext cx="3403600" cy="2524654"/>
          </a:xfrm>
          <a:prstGeom prst="roundRect">
            <a:avLst>
              <a:gd name="adj" fmla="val 4024"/>
            </a:avLst>
          </a:prstGeom>
          <a:solidFill>
            <a:srgbClr val="FFFFFF"/>
          </a:solidFill>
          <a:ln/>
        </p:spPr>
      </p:sp>
      <p:sp>
        <p:nvSpPr>
          <p:cNvPr id="16" name="Shape 14"/>
          <p:cNvSpPr/>
          <p:nvPr/>
        </p:nvSpPr>
        <p:spPr>
          <a:xfrm>
            <a:off x="7975600" y="1310615"/>
            <a:ext cx="3403600" cy="2524654"/>
          </a:xfrm>
          <a:custGeom>
            <a:avLst/>
            <a:gdLst/>
            <a:ahLst/>
            <a:cxnLst/>
            <a:rect l="l" t="t" r="r" b="b"/>
            <a:pathLst>
              <a:path w="3403600" h="2524654">
                <a:moveTo>
                  <a:pt x="0" y="101600"/>
                </a:moveTo>
                <a:lnTo>
                  <a:pt x="0" y="101600"/>
                </a:lnTo>
                <a:arcTo hR="101600" wR="101600" stAng="10800000" swAng="5400000"/>
                <a:lnTo>
                  <a:pt x="3302000" y="0"/>
                </a:lnTo>
                <a:arcTo hR="101600" wR="101600" stAng="16200000" swAng="5400000"/>
                <a:lnTo>
                  <a:pt x="3403600" y="101600"/>
                </a:lnTo>
                <a:arcTo hR="50800" wR="101600" stAng="0" swAng="-5400000"/>
                <a:lnTo>
                  <a:pt x="101600" y="50800"/>
                </a:lnTo>
                <a:arcTo hR="50800" wR="101600" stAng="16200000" swAng="-5400000"/>
                <a:close/>
              </a:path>
            </a:pathLst>
          </a:custGeom>
          <a:solidFill>
            <a:srgbClr val="F5A623"/>
          </a:solidFill>
          <a:ln/>
        </p:spPr>
      </p:sp>
      <p:sp>
        <p:nvSpPr>
          <p:cNvPr id="17" name="Text 15"/>
          <p:cNvSpPr/>
          <p:nvPr/>
        </p:nvSpPr>
        <p:spPr>
          <a:xfrm>
            <a:off x="8204200" y="1590015"/>
            <a:ext cx="30347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26A00"/>
                </a:solidFill>
                <a:latin typeface="Public Sans" pitchFamily="34" charset="0"/>
                <a:ea typeface="Public Sans" pitchFamily="34" charset="-122"/>
                <a:cs typeface="Public Sans" pitchFamily="34" charset="-120"/>
              </a:rPr>
              <a:t>AGENT 3</a:t>
            </a:r>
            <a:endParaRPr lang="en-US" sz="1200" dirty="0"/>
          </a:p>
        </p:txBody>
      </p:sp>
      <p:sp>
        <p:nvSpPr>
          <p:cNvPr id="18" name="Text 16"/>
          <p:cNvSpPr/>
          <p:nvPr/>
        </p:nvSpPr>
        <p:spPr>
          <a:xfrm>
            <a:off x="8204200" y="1904935"/>
            <a:ext cx="303479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2545"/>
                </a:solidFill>
                <a:latin typeface="Source Serif 4" pitchFamily="18" charset="0"/>
                <a:ea typeface="Source Serif 4" pitchFamily="18" charset="-122"/>
                <a:cs typeface="Source Serif 4" pitchFamily="18" charset="-120"/>
              </a:rPr>
              <a:t>Chat assistant</a:t>
            </a:r>
            <a:endParaRPr lang="en-US" sz="2000" dirty="0"/>
          </a:p>
        </p:txBody>
      </p:sp>
      <p:sp>
        <p:nvSpPr>
          <p:cNvPr id="19" name="Text 17"/>
          <p:cNvSpPr/>
          <p:nvPr/>
        </p:nvSpPr>
        <p:spPr>
          <a:xfrm>
            <a:off x="8204200" y="2311335"/>
            <a:ext cx="3034792" cy="102102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B7C"/>
                </a:solidFill>
                <a:latin typeface="Public Sans" pitchFamily="34" charset="0"/>
                <a:ea typeface="Public Sans" pitchFamily="34" charset="-122"/>
                <a:cs typeface="Public Sans" pitchFamily="34" charset="-120"/>
              </a:rPr>
              <a:t>Answers questions and prepares actions in plain words. Anything that changes data waits for a person to confirm.</a:t>
            </a:r>
            <a:endParaRPr lang="en-US" sz="1400" dirty="0"/>
          </a:p>
        </p:txBody>
      </p:sp>
      <p:sp>
        <p:nvSpPr>
          <p:cNvPr id="20" name="Text 18"/>
          <p:cNvSpPr/>
          <p:nvPr/>
        </p:nvSpPr>
        <p:spPr>
          <a:xfrm>
            <a:off x="8204200" y="3408561"/>
            <a:ext cx="3034792" cy="223507"/>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072CE"/>
                </a:solidFill>
                <a:latin typeface="Public Sans" pitchFamily="34" charset="0"/>
                <a:ea typeface="Public Sans" pitchFamily="34" charset="-122"/>
                <a:cs typeface="Public Sans" pitchFamily="34" charset="-120"/>
              </a:rPr>
              <a:t>LangGraph + 60 MCP tools</a:t>
            </a:r>
            <a:endParaRPr lang="en-US" sz="1200" dirty="0"/>
          </a:p>
        </p:txBody>
      </p:sp>
      <p:sp>
        <p:nvSpPr>
          <p:cNvPr id="21" name="Text 19"/>
          <p:cNvSpPr/>
          <p:nvPr/>
        </p:nvSpPr>
        <p:spPr>
          <a:xfrm>
            <a:off x="812800" y="4089270"/>
            <a:ext cx="10566400" cy="904214"/>
          </a:xfrm>
          <a:prstGeom prst="roundRect">
            <a:avLst>
              <a:gd name="adj" fmla="val 11236"/>
            </a:avLst>
          </a:prstGeom>
          <a:solidFill>
            <a:srgbClr val="E6F2FC"/>
          </a:solidFill>
          <a:ln/>
        </p:spPr>
        <p:txBody>
          <a:bodyPr wrap="square" lIns="224242" tIns="148042" rIns="0" bIns="122642" rtlCol="0" anchor="t">
            <a:normAutofit/>
          </a:bodyPr>
          <a:lstStyle/>
          <a:p>
            <a:pPr algn="l" indent="0" marL="0">
              <a:lnSpc>
                <a:spcPts val="2160"/>
              </a:lnSpc>
              <a:buNone/>
            </a:pPr>
            <a:r>
              <a:rPr lang="en-US" sz="1600" b="1" dirty="0">
                <a:solidFill>
                  <a:srgbClr val="0B2545"/>
                </a:solidFill>
                <a:latin typeface="Public Sans" pitchFamily="34" charset="0"/>
                <a:ea typeface="Public Sans" pitchFamily="34" charset="-122"/>
                <a:cs typeface="Public Sans" pitchFamily="34" charset="-120"/>
              </a:rPr>
              <a:t>Agents suggest. People decide.</a:t>
            </a:r>
            <a:r>
              <a:rPr lang="en-US" sz="1600" dirty="0">
                <a:solidFill>
                  <a:srgbClr val="0B2545"/>
                </a:solidFill>
                <a:latin typeface="Public Sans" pitchFamily="34" charset="0"/>
                <a:ea typeface="Public Sans" pitchFamily="34" charset="-122"/>
                <a:cs typeface="Public Sans" pitchFamily="34" charset="-120"/>
              </a:rPr>
              <a:t> Every suggestion goes through the same review and approval as human work.</a:t>
            </a:r>
            <a:endParaRPr lang="en-US" sz="1600" dirty="0"/>
          </a:p>
        </p:txBody>
      </p:sp>
      <p:sp>
        <p:nvSpPr>
          <p:cNvPr id="22" name="Text 20"/>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Bulwark | Innova Solutions</a:t>
            </a:r>
            <a:endParaRPr lang="en-US" sz="1200" dirty="0"/>
          </a:p>
        </p:txBody>
      </p:sp>
      <p:sp>
        <p:nvSpPr>
          <p:cNvPr id="23" name="Text 2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9FD"/>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2545"/>
                </a:solidFill>
                <a:latin typeface="Source Serif 4" pitchFamily="18" charset="0"/>
                <a:ea typeface="Source Serif 4" pitchFamily="18" charset="-122"/>
                <a:cs typeface="Source Serif 4" pitchFamily="18" charset="-120"/>
              </a:rPr>
              <a:t>Architecture</a:t>
            </a:r>
            <a:endParaRPr lang="en-US" sz="3200" dirty="0"/>
          </a:p>
        </p:txBody>
      </p:sp>
      <p:sp>
        <p:nvSpPr>
          <p:cNvPr id="3" name="Shape 1"/>
          <p:cNvSpPr/>
          <p:nvPr/>
        </p:nvSpPr>
        <p:spPr>
          <a:xfrm>
            <a:off x="812800" y="1397000"/>
            <a:ext cx="2413000" cy="762000"/>
          </a:xfrm>
          <a:prstGeom prst="roundRect">
            <a:avLst>
              <a:gd name="adj" fmla="val 11667"/>
            </a:avLst>
          </a:prstGeom>
          <a:solidFill>
            <a:srgbClr val="5B6B7C"/>
          </a:solidFill>
          <a:ln/>
        </p:spPr>
      </p:sp>
      <p:sp>
        <p:nvSpPr>
          <p:cNvPr id="4" name="Text 2"/>
          <p:cNvSpPr/>
          <p:nvPr/>
        </p:nvSpPr>
        <p:spPr>
          <a:xfrm>
            <a:off x="1565282" y="1525259"/>
            <a:ext cx="907971"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FFFFFF"/>
                </a:solidFill>
                <a:latin typeface="Public Sans" pitchFamily="34" charset="0"/>
                <a:ea typeface="Public Sans" pitchFamily="34" charset="-122"/>
                <a:cs typeface="Public Sans" pitchFamily="34" charset="-120"/>
              </a:rPr>
              <a:t>Scanner</a:t>
            </a:r>
            <a:endParaRPr lang="en-US" sz="1500" dirty="0"/>
          </a:p>
        </p:txBody>
      </p:sp>
      <p:sp>
        <p:nvSpPr>
          <p:cNvPr id="5" name="Text 3"/>
          <p:cNvSpPr/>
          <p:nvPr/>
        </p:nvSpPr>
        <p:spPr>
          <a:xfrm>
            <a:off x="1299296" y="1817359"/>
            <a:ext cx="143994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E3E9EF"/>
                </a:solidFill>
                <a:latin typeface="Public Sans" pitchFamily="34" charset="0"/>
                <a:ea typeface="Public Sans" pitchFamily="34" charset="-122"/>
                <a:cs typeface="Public Sans" pitchFamily="34" charset="-120"/>
              </a:rPr>
              <a:t>Excel workbooks</a:t>
            </a:r>
            <a:endParaRPr lang="en-US" sz="1200" dirty="0"/>
          </a:p>
        </p:txBody>
      </p:sp>
      <p:sp>
        <p:nvSpPr>
          <p:cNvPr id="6" name="Shape 4"/>
          <p:cNvSpPr/>
          <p:nvPr/>
        </p:nvSpPr>
        <p:spPr>
          <a:xfrm>
            <a:off x="3530600" y="1397000"/>
            <a:ext cx="2413000" cy="762000"/>
          </a:xfrm>
          <a:prstGeom prst="roundRect">
            <a:avLst>
              <a:gd name="adj" fmla="val 11667"/>
            </a:avLst>
          </a:prstGeom>
          <a:solidFill>
            <a:srgbClr val="0072CE"/>
          </a:solidFill>
          <a:ln/>
        </p:spPr>
      </p:sp>
      <p:sp>
        <p:nvSpPr>
          <p:cNvPr id="7" name="Text 5"/>
          <p:cNvSpPr/>
          <p:nvPr/>
        </p:nvSpPr>
        <p:spPr>
          <a:xfrm>
            <a:off x="3980663" y="1525259"/>
            <a:ext cx="1512808"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FFFFFF"/>
                </a:solidFill>
                <a:latin typeface="Public Sans" pitchFamily="34" charset="0"/>
                <a:ea typeface="Public Sans" pitchFamily="34" charset="-122"/>
                <a:cs typeface="Public Sans" pitchFamily="34" charset="-120"/>
              </a:rPr>
              <a:t>Scan Ingestor</a:t>
            </a:r>
            <a:endParaRPr lang="en-US" sz="1500" dirty="0"/>
          </a:p>
        </p:txBody>
      </p:sp>
      <p:sp>
        <p:nvSpPr>
          <p:cNvPr id="8" name="Text 6"/>
          <p:cNvSpPr/>
          <p:nvPr/>
        </p:nvSpPr>
        <p:spPr>
          <a:xfrm>
            <a:off x="4018922" y="1817359"/>
            <a:ext cx="1436291"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DCEBFA"/>
                </a:solidFill>
                <a:latin typeface="Public Sans" pitchFamily="34" charset="0"/>
                <a:ea typeface="Public Sans" pitchFamily="34" charset="-122"/>
                <a:cs typeface="Public Sans" pitchFamily="34" charset="-120"/>
              </a:rPr>
              <a:t>validate and load</a:t>
            </a:r>
            <a:endParaRPr lang="en-US" sz="1200" dirty="0"/>
          </a:p>
        </p:txBody>
      </p:sp>
      <p:sp>
        <p:nvSpPr>
          <p:cNvPr id="9" name="Shape 7"/>
          <p:cNvSpPr/>
          <p:nvPr/>
        </p:nvSpPr>
        <p:spPr>
          <a:xfrm>
            <a:off x="6248400" y="1397000"/>
            <a:ext cx="2413000" cy="762000"/>
          </a:xfrm>
          <a:prstGeom prst="roundRect">
            <a:avLst>
              <a:gd name="adj" fmla="val 11667"/>
            </a:avLst>
          </a:prstGeom>
          <a:solidFill>
            <a:srgbClr val="0B2545"/>
          </a:solidFill>
          <a:ln/>
        </p:spPr>
      </p:sp>
      <p:sp>
        <p:nvSpPr>
          <p:cNvPr id="10" name="Text 8"/>
          <p:cNvSpPr/>
          <p:nvPr/>
        </p:nvSpPr>
        <p:spPr>
          <a:xfrm>
            <a:off x="7136051" y="1525259"/>
            <a:ext cx="637699"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FFFFFF"/>
                </a:solidFill>
                <a:latin typeface="Public Sans" pitchFamily="34" charset="0"/>
                <a:ea typeface="Public Sans" pitchFamily="34" charset="-122"/>
                <a:cs typeface="Public Sans" pitchFamily="34" charset="-120"/>
              </a:rPr>
              <a:t>Kafka</a:t>
            </a:r>
            <a:endParaRPr lang="en-US" sz="1500" dirty="0"/>
          </a:p>
        </p:txBody>
      </p:sp>
      <p:sp>
        <p:nvSpPr>
          <p:cNvPr id="11" name="Text 9"/>
          <p:cNvSpPr/>
          <p:nvPr/>
        </p:nvSpPr>
        <p:spPr>
          <a:xfrm>
            <a:off x="6705924" y="1817359"/>
            <a:ext cx="1497886"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C9DDF2"/>
                </a:solidFill>
                <a:latin typeface="Public Sans" pitchFamily="34" charset="0"/>
                <a:ea typeface="Public Sans" pitchFamily="34" charset="-122"/>
                <a:cs typeface="Public Sans" pitchFamily="34" charset="-120"/>
              </a:rPr>
              <a:t>bulwark.incidents</a:t>
            </a:r>
            <a:endParaRPr lang="en-US" sz="1200" dirty="0"/>
          </a:p>
        </p:txBody>
      </p:sp>
      <p:sp>
        <p:nvSpPr>
          <p:cNvPr id="12" name="Shape 10"/>
          <p:cNvSpPr/>
          <p:nvPr/>
        </p:nvSpPr>
        <p:spPr>
          <a:xfrm>
            <a:off x="8966200" y="1397000"/>
            <a:ext cx="2413000" cy="762000"/>
          </a:xfrm>
          <a:prstGeom prst="roundRect">
            <a:avLst>
              <a:gd name="adj" fmla="val 11667"/>
            </a:avLst>
          </a:prstGeom>
          <a:solidFill>
            <a:srgbClr val="F5A623"/>
          </a:solidFill>
          <a:ln/>
        </p:spPr>
      </p:sp>
      <p:sp>
        <p:nvSpPr>
          <p:cNvPr id="13" name="Text 11"/>
          <p:cNvSpPr/>
          <p:nvPr/>
        </p:nvSpPr>
        <p:spPr>
          <a:xfrm>
            <a:off x="9029700" y="1525259"/>
            <a:ext cx="2285935"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0B2545"/>
                </a:solidFill>
                <a:latin typeface="Public Sans" pitchFamily="34" charset="0"/>
                <a:ea typeface="Public Sans" pitchFamily="34" charset="-122"/>
                <a:cs typeface="Public Sans" pitchFamily="34" charset="-120"/>
              </a:rPr>
              <a:t>Recommender agents</a:t>
            </a:r>
            <a:endParaRPr lang="en-US" sz="1500" dirty="0"/>
          </a:p>
        </p:txBody>
      </p:sp>
      <p:sp>
        <p:nvSpPr>
          <p:cNvPr id="14" name="Text 12"/>
          <p:cNvSpPr/>
          <p:nvPr/>
        </p:nvSpPr>
        <p:spPr>
          <a:xfrm>
            <a:off x="9317197" y="1817359"/>
            <a:ext cx="1711008"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2545"/>
                </a:solidFill>
                <a:latin typeface="Public Sans" pitchFamily="34" charset="0"/>
                <a:ea typeface="Public Sans" pitchFamily="34" charset="-122"/>
                <a:cs typeface="Public Sans" pitchFamily="34" charset="-120"/>
              </a:rPr>
              <a:t>finder + plan builder</a:t>
            </a:r>
            <a:endParaRPr lang="en-US" sz="1200" dirty="0"/>
          </a:p>
        </p:txBody>
      </p:sp>
      <p:sp>
        <p:nvSpPr>
          <p:cNvPr id="15" name="Text 13"/>
          <p:cNvSpPr/>
          <p:nvPr/>
        </p:nvSpPr>
        <p:spPr>
          <a:xfrm>
            <a:off x="822325" y="2486025"/>
            <a:ext cx="10547350" cy="463550"/>
          </a:xfrm>
          <a:prstGeom prst="roundRect">
            <a:avLst>
              <a:gd name="adj" fmla="val 17123"/>
            </a:avLst>
          </a:prstGeom>
          <a:solidFill>
            <a:srgbClr val="E6F2FC"/>
          </a:solidFill>
          <a:ln w="19050">
            <a:solidFill>
              <a:srgbClr val="0072CE"/>
            </a:solidFill>
            <a:prstDash val="solid"/>
          </a:ln>
        </p:spPr>
        <p:txBody>
          <a:bodyPr wrap="square" lIns="0" tIns="0" rIns="0" bIns="0" rtlCol="0" anchor="ctr">
            <a:normAutofit/>
          </a:bodyPr>
          <a:lstStyle/>
          <a:p>
            <a:pPr algn="ctr" indent="0" marL="0">
              <a:lnSpc>
                <a:spcPts val="1960"/>
              </a:lnSpc>
              <a:buNone/>
            </a:pPr>
            <a:r>
              <a:rPr lang="en-US" sz="1400" b="1" dirty="0">
                <a:solidFill>
                  <a:srgbClr val="0B2545"/>
                </a:solidFill>
                <a:latin typeface="Public Sans" pitchFamily="34" charset="0"/>
                <a:ea typeface="Public Sans" pitchFamily="34" charset="-122"/>
                <a:cs typeface="Public Sans" pitchFamily="34" charset="-120"/>
              </a:rPr>
              <a:t>PostgreSQL 16 + pgvector | incidents, plans, solutions, approvals, runs, audit, chat history</a:t>
            </a:r>
            <a:endParaRPr lang="en-US" sz="1400" dirty="0"/>
          </a:p>
        </p:txBody>
      </p:sp>
      <p:sp>
        <p:nvSpPr>
          <p:cNvPr id="16" name="Shape 14"/>
          <p:cNvSpPr/>
          <p:nvPr/>
        </p:nvSpPr>
        <p:spPr>
          <a:xfrm>
            <a:off x="812800" y="3302000"/>
            <a:ext cx="5130800" cy="762000"/>
          </a:xfrm>
          <a:prstGeom prst="roundRect">
            <a:avLst>
              <a:gd name="adj" fmla="val 11667"/>
            </a:avLst>
          </a:prstGeom>
          <a:solidFill>
            <a:srgbClr val="0072CE"/>
          </a:solidFill>
          <a:ln/>
        </p:spPr>
      </p:sp>
      <p:sp>
        <p:nvSpPr>
          <p:cNvPr id="17" name="Text 15"/>
          <p:cNvSpPr/>
          <p:nvPr/>
        </p:nvSpPr>
        <p:spPr>
          <a:xfrm>
            <a:off x="2712244" y="3430259"/>
            <a:ext cx="1331913"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FFFFFF"/>
                </a:solidFill>
                <a:latin typeface="Public Sans" pitchFamily="34" charset="0"/>
                <a:ea typeface="Public Sans" pitchFamily="34" charset="-122"/>
                <a:cs typeface="Public Sans" pitchFamily="34" charset="-120"/>
              </a:rPr>
              <a:t>Bulwark API</a:t>
            </a:r>
            <a:endParaRPr lang="en-US" sz="1500" dirty="0"/>
          </a:p>
        </p:txBody>
      </p:sp>
      <p:sp>
        <p:nvSpPr>
          <p:cNvPr id="18" name="Text 16"/>
          <p:cNvSpPr/>
          <p:nvPr/>
        </p:nvSpPr>
        <p:spPr>
          <a:xfrm>
            <a:off x="1536224" y="3722359"/>
            <a:ext cx="368395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DCEBFA"/>
                </a:solidFill>
                <a:latin typeface="Public Sans" pitchFamily="34" charset="0"/>
                <a:ea typeface="Public Sans" pitchFamily="34" charset="-122"/>
                <a:cs typeface="Public Sans" pitchFamily="34" charset="-120"/>
              </a:rPr>
              <a:t>FastAPI, JWT roles: the one door to the data</a:t>
            </a:r>
            <a:endParaRPr lang="en-US" sz="1200" dirty="0"/>
          </a:p>
        </p:txBody>
      </p:sp>
      <p:sp>
        <p:nvSpPr>
          <p:cNvPr id="19" name="Shape 17"/>
          <p:cNvSpPr/>
          <p:nvPr/>
        </p:nvSpPr>
        <p:spPr>
          <a:xfrm>
            <a:off x="6248400" y="3302000"/>
            <a:ext cx="2413000" cy="762000"/>
          </a:xfrm>
          <a:prstGeom prst="roundRect">
            <a:avLst>
              <a:gd name="adj" fmla="val 11667"/>
            </a:avLst>
          </a:prstGeom>
          <a:solidFill>
            <a:srgbClr val="0072CE"/>
          </a:solidFill>
          <a:ln/>
        </p:spPr>
      </p:sp>
      <p:sp>
        <p:nvSpPr>
          <p:cNvPr id="20" name="Text 18"/>
          <p:cNvSpPr/>
          <p:nvPr/>
        </p:nvSpPr>
        <p:spPr>
          <a:xfrm>
            <a:off x="6856657" y="3430259"/>
            <a:ext cx="1196419"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FFFFFF"/>
                </a:solidFill>
                <a:latin typeface="Public Sans" pitchFamily="34" charset="0"/>
                <a:ea typeface="Public Sans" pitchFamily="34" charset="-122"/>
                <a:cs typeface="Public Sans" pitchFamily="34" charset="-120"/>
              </a:rPr>
              <a:t>Job Worker</a:t>
            </a:r>
            <a:endParaRPr lang="en-US" sz="1500" dirty="0"/>
          </a:p>
        </p:txBody>
      </p:sp>
      <p:sp>
        <p:nvSpPr>
          <p:cNvPr id="21" name="Text 19"/>
          <p:cNvSpPr/>
          <p:nvPr/>
        </p:nvSpPr>
        <p:spPr>
          <a:xfrm>
            <a:off x="6789738" y="3722359"/>
            <a:ext cx="133032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DCEBFA"/>
                </a:solidFill>
                <a:latin typeface="Public Sans" pitchFamily="34" charset="0"/>
                <a:ea typeface="Public Sans" pitchFamily="34" charset="-122"/>
                <a:cs typeface="Public Sans" pitchFamily="34" charset="-120"/>
              </a:rPr>
              <a:t>Postgres queue</a:t>
            </a:r>
            <a:endParaRPr lang="en-US" sz="1200" dirty="0"/>
          </a:p>
        </p:txBody>
      </p:sp>
      <p:sp>
        <p:nvSpPr>
          <p:cNvPr id="22" name="Shape 20"/>
          <p:cNvSpPr/>
          <p:nvPr/>
        </p:nvSpPr>
        <p:spPr>
          <a:xfrm>
            <a:off x="8966200" y="3302000"/>
            <a:ext cx="2413000" cy="762000"/>
          </a:xfrm>
          <a:prstGeom prst="roundRect">
            <a:avLst>
              <a:gd name="adj" fmla="val 11667"/>
            </a:avLst>
          </a:prstGeom>
          <a:solidFill>
            <a:srgbClr val="5B6B7C"/>
          </a:solidFill>
          <a:ln/>
        </p:spPr>
      </p:sp>
      <p:sp>
        <p:nvSpPr>
          <p:cNvPr id="23" name="Text 21"/>
          <p:cNvSpPr/>
          <p:nvPr/>
        </p:nvSpPr>
        <p:spPr>
          <a:xfrm>
            <a:off x="9621923" y="3430259"/>
            <a:ext cx="1101487"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FFFFFF"/>
                </a:solidFill>
                <a:latin typeface="Public Sans" pitchFamily="34" charset="0"/>
                <a:ea typeface="Public Sans" pitchFamily="34" charset="-122"/>
                <a:cs typeface="Public Sans" pitchFamily="34" charset="-120"/>
              </a:rPr>
              <a:t>Executors</a:t>
            </a:r>
            <a:endParaRPr lang="en-US" sz="1500" dirty="0"/>
          </a:p>
        </p:txBody>
      </p:sp>
      <p:sp>
        <p:nvSpPr>
          <p:cNvPr id="24" name="Text 22"/>
          <p:cNvSpPr/>
          <p:nvPr/>
        </p:nvSpPr>
        <p:spPr>
          <a:xfrm>
            <a:off x="9025184" y="3722359"/>
            <a:ext cx="2294966"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E3E9EF"/>
                </a:solidFill>
                <a:latin typeface="Public Sans" pitchFamily="34" charset="0"/>
                <a:ea typeface="Public Sans" pitchFamily="34" charset="-122"/>
                <a:cs typeface="Public Sans" pitchFamily="34" charset="-120"/>
              </a:rPr>
              <a:t>Ansible, AWS SSM, Shell, HTTP</a:t>
            </a:r>
            <a:endParaRPr lang="en-US" sz="1200" dirty="0"/>
          </a:p>
        </p:txBody>
      </p:sp>
      <p:sp>
        <p:nvSpPr>
          <p:cNvPr id="25" name="Shape 23"/>
          <p:cNvSpPr/>
          <p:nvPr/>
        </p:nvSpPr>
        <p:spPr>
          <a:xfrm>
            <a:off x="812800" y="4445000"/>
            <a:ext cx="2413000" cy="762000"/>
          </a:xfrm>
          <a:prstGeom prst="roundRect">
            <a:avLst>
              <a:gd name="adj" fmla="val 11667"/>
            </a:avLst>
          </a:prstGeom>
          <a:solidFill>
            <a:srgbClr val="0072CE"/>
          </a:solidFill>
          <a:ln/>
        </p:spPr>
      </p:sp>
      <p:sp>
        <p:nvSpPr>
          <p:cNvPr id="26" name="Text 24"/>
          <p:cNvSpPr/>
          <p:nvPr/>
        </p:nvSpPr>
        <p:spPr>
          <a:xfrm>
            <a:off x="1428201" y="4573259"/>
            <a:ext cx="1182132"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FFFFFF"/>
                </a:solidFill>
                <a:latin typeface="Public Sans" pitchFamily="34" charset="0"/>
                <a:ea typeface="Public Sans" pitchFamily="34" charset="-122"/>
                <a:cs typeface="Public Sans" pitchFamily="34" charset="-120"/>
              </a:rPr>
              <a:t>Bulwark UI</a:t>
            </a:r>
            <a:endParaRPr lang="en-US" sz="1500" dirty="0"/>
          </a:p>
        </p:txBody>
      </p:sp>
      <p:sp>
        <p:nvSpPr>
          <p:cNvPr id="27" name="Text 25"/>
          <p:cNvSpPr/>
          <p:nvPr/>
        </p:nvSpPr>
        <p:spPr>
          <a:xfrm>
            <a:off x="1142213" y="4865359"/>
            <a:ext cx="1754108"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DCEBFA"/>
                </a:solidFill>
                <a:latin typeface="Public Sans" pitchFamily="34" charset="0"/>
                <a:ea typeface="Public Sans" pitchFamily="34" charset="-122"/>
                <a:cs typeface="Public Sans" pitchFamily="34" charset="-120"/>
              </a:rPr>
              <a:t>React + floating chat</a:t>
            </a:r>
            <a:endParaRPr lang="en-US" sz="1200" dirty="0"/>
          </a:p>
        </p:txBody>
      </p:sp>
      <p:sp>
        <p:nvSpPr>
          <p:cNvPr id="28" name="Shape 26"/>
          <p:cNvSpPr/>
          <p:nvPr/>
        </p:nvSpPr>
        <p:spPr>
          <a:xfrm>
            <a:off x="3530600" y="4445000"/>
            <a:ext cx="2413000" cy="762000"/>
          </a:xfrm>
          <a:prstGeom prst="roundRect">
            <a:avLst>
              <a:gd name="adj" fmla="val 11667"/>
            </a:avLst>
          </a:prstGeom>
          <a:solidFill>
            <a:srgbClr val="F5A623"/>
          </a:solidFill>
          <a:ln/>
        </p:spPr>
      </p:sp>
      <p:sp>
        <p:nvSpPr>
          <p:cNvPr id="29" name="Text 27"/>
          <p:cNvSpPr/>
          <p:nvPr/>
        </p:nvSpPr>
        <p:spPr>
          <a:xfrm>
            <a:off x="4104488" y="4573259"/>
            <a:ext cx="1265158"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0B2545"/>
                </a:solidFill>
                <a:latin typeface="Public Sans" pitchFamily="34" charset="0"/>
                <a:ea typeface="Public Sans" pitchFamily="34" charset="-122"/>
                <a:cs typeface="Public Sans" pitchFamily="34" charset="-120"/>
              </a:rPr>
              <a:t>MCP server</a:t>
            </a:r>
            <a:endParaRPr lang="en-US" sz="1500" dirty="0"/>
          </a:p>
        </p:txBody>
      </p:sp>
      <p:sp>
        <p:nvSpPr>
          <p:cNvPr id="30" name="Text 28"/>
          <p:cNvSpPr/>
          <p:nvPr/>
        </p:nvSpPr>
        <p:spPr>
          <a:xfrm>
            <a:off x="3785877" y="4865359"/>
            <a:ext cx="1902381"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2545"/>
                </a:solidFill>
                <a:latin typeface="Public Sans" pitchFamily="34" charset="0"/>
                <a:ea typeface="Public Sans" pitchFamily="34" charset="-122"/>
                <a:cs typeface="Public Sans" pitchFamily="34" charset="-120"/>
              </a:rPr>
              <a:t>60 tools, caller’s token</a:t>
            </a:r>
            <a:endParaRPr lang="en-US" sz="1200" dirty="0"/>
          </a:p>
        </p:txBody>
      </p:sp>
      <p:sp>
        <p:nvSpPr>
          <p:cNvPr id="31" name="Shape 29"/>
          <p:cNvSpPr/>
          <p:nvPr/>
        </p:nvSpPr>
        <p:spPr>
          <a:xfrm>
            <a:off x="6248400" y="4445000"/>
            <a:ext cx="2413000" cy="762000"/>
          </a:xfrm>
          <a:prstGeom prst="roundRect">
            <a:avLst>
              <a:gd name="adj" fmla="val 11667"/>
            </a:avLst>
          </a:prstGeom>
          <a:solidFill>
            <a:srgbClr val="F5A623"/>
          </a:solidFill>
          <a:ln/>
        </p:spPr>
      </p:sp>
      <p:sp>
        <p:nvSpPr>
          <p:cNvPr id="32" name="Text 30"/>
          <p:cNvSpPr/>
          <p:nvPr/>
        </p:nvSpPr>
        <p:spPr>
          <a:xfrm>
            <a:off x="6855143" y="4573259"/>
            <a:ext cx="1199515"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0B2545"/>
                </a:solidFill>
                <a:latin typeface="Public Sans" pitchFamily="34" charset="0"/>
                <a:ea typeface="Public Sans" pitchFamily="34" charset="-122"/>
                <a:cs typeface="Public Sans" pitchFamily="34" charset="-120"/>
              </a:rPr>
              <a:t>Chat agent</a:t>
            </a:r>
            <a:endParaRPr lang="en-US" sz="1500" dirty="0"/>
          </a:p>
        </p:txBody>
      </p:sp>
      <p:sp>
        <p:nvSpPr>
          <p:cNvPr id="33" name="Text 31"/>
          <p:cNvSpPr/>
          <p:nvPr/>
        </p:nvSpPr>
        <p:spPr>
          <a:xfrm>
            <a:off x="6391355" y="4865359"/>
            <a:ext cx="2127091"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2545"/>
                </a:solidFill>
                <a:latin typeface="Public Sans" pitchFamily="34" charset="0"/>
                <a:ea typeface="Public Sans" pitchFamily="34" charset="-122"/>
                <a:cs typeface="Public Sans" pitchFamily="34" charset="-120"/>
              </a:rPr>
              <a:t>LangGraph, Gemini Flash</a:t>
            </a:r>
            <a:endParaRPr lang="en-US" sz="1200" dirty="0"/>
          </a:p>
        </p:txBody>
      </p:sp>
      <p:sp>
        <p:nvSpPr>
          <p:cNvPr id="34" name="Shape 32"/>
          <p:cNvSpPr/>
          <p:nvPr/>
        </p:nvSpPr>
        <p:spPr>
          <a:xfrm>
            <a:off x="8966200" y="4445000"/>
            <a:ext cx="2413000" cy="762000"/>
          </a:xfrm>
          <a:prstGeom prst="roundRect">
            <a:avLst>
              <a:gd name="adj" fmla="val 11667"/>
            </a:avLst>
          </a:prstGeom>
          <a:solidFill>
            <a:srgbClr val="F5A623"/>
          </a:solidFill>
          <a:ln/>
        </p:spPr>
      </p:sp>
      <p:sp>
        <p:nvSpPr>
          <p:cNvPr id="35" name="Text 33"/>
          <p:cNvSpPr/>
          <p:nvPr/>
        </p:nvSpPr>
        <p:spPr>
          <a:xfrm>
            <a:off x="9612313" y="4573259"/>
            <a:ext cx="1120775"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0B2545"/>
                </a:solidFill>
                <a:latin typeface="Public Sans" pitchFamily="34" charset="0"/>
                <a:ea typeface="Public Sans" pitchFamily="34" charset="-122"/>
                <a:cs typeface="Public Sans" pitchFamily="34" charset="-120"/>
              </a:rPr>
              <a:t>Agent app</a:t>
            </a:r>
            <a:endParaRPr lang="en-US" sz="1500" dirty="0"/>
          </a:p>
        </p:txBody>
      </p:sp>
      <p:sp>
        <p:nvSpPr>
          <p:cNvPr id="36" name="Text 34"/>
          <p:cNvSpPr/>
          <p:nvPr/>
        </p:nvSpPr>
        <p:spPr>
          <a:xfrm>
            <a:off x="9383719" y="4865359"/>
            <a:ext cx="1577896"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2545"/>
                </a:solidFill>
                <a:latin typeface="Public Sans" pitchFamily="34" charset="0"/>
                <a:ea typeface="Public Sans" pitchFamily="34" charset="-122"/>
                <a:cs typeface="Public Sans" pitchFamily="34" charset="-120"/>
              </a:rPr>
              <a:t>React, saved chats</a:t>
            </a:r>
            <a:endParaRPr lang="en-US" sz="1200" dirty="0"/>
          </a:p>
        </p:txBody>
      </p:sp>
      <p:pic>
        <p:nvPicPr>
          <p:cNvPr id="37" name="Image 0" descr="connector">    </p:cNvPr>
          <p:cNvPicPr>
            <a:picLocks noChangeAspect="1"/>
          </p:cNvPicPr>
          <p:nvPr/>
        </p:nvPicPr>
        <p:blipFill>
          <a:blip r:embed="rId1"/>
          <a:srcRect l="0" r="0" t="0" b="0"/>
          <a:stretch/>
        </p:blipFill>
        <p:spPr>
          <a:xfrm>
            <a:off x="3162300" y="1714500"/>
            <a:ext cx="431800" cy="127000"/>
          </a:xfrm>
          <a:prstGeom prst="rect">
            <a:avLst/>
          </a:prstGeom>
        </p:spPr>
      </p:pic>
      <p:pic>
        <p:nvPicPr>
          <p:cNvPr id="38" name="Image 1" descr="connector">    </p:cNvPr>
          <p:cNvPicPr>
            <a:picLocks noChangeAspect="1"/>
          </p:cNvPicPr>
          <p:nvPr/>
        </p:nvPicPr>
        <p:blipFill>
          <a:blip r:embed="rId2"/>
          <a:srcRect l="0" r="0" t="0" b="0"/>
          <a:stretch/>
        </p:blipFill>
        <p:spPr>
          <a:xfrm>
            <a:off x="5880100" y="1714500"/>
            <a:ext cx="431800" cy="127000"/>
          </a:xfrm>
          <a:prstGeom prst="rect">
            <a:avLst/>
          </a:prstGeom>
        </p:spPr>
      </p:pic>
      <p:pic>
        <p:nvPicPr>
          <p:cNvPr id="39" name="Image 2" descr="connector">    </p:cNvPr>
          <p:cNvPicPr>
            <a:picLocks noChangeAspect="1"/>
          </p:cNvPicPr>
          <p:nvPr/>
        </p:nvPicPr>
        <p:blipFill>
          <a:blip r:embed="rId3"/>
          <a:srcRect l="0" r="0" t="0" b="0"/>
          <a:stretch/>
        </p:blipFill>
        <p:spPr>
          <a:xfrm>
            <a:off x="8597900" y="1714500"/>
            <a:ext cx="431800" cy="127000"/>
          </a:xfrm>
          <a:prstGeom prst="rect">
            <a:avLst/>
          </a:prstGeom>
        </p:spPr>
      </p:pic>
      <p:pic>
        <p:nvPicPr>
          <p:cNvPr id="40" name="Image 3" descr="connector">    </p:cNvPr>
          <p:cNvPicPr>
            <a:picLocks noChangeAspect="1"/>
          </p:cNvPicPr>
          <p:nvPr/>
        </p:nvPicPr>
        <p:blipFill>
          <a:blip r:embed="rId4"/>
          <a:srcRect l="0" r="0" t="0" b="0"/>
          <a:stretch/>
        </p:blipFill>
        <p:spPr>
          <a:xfrm>
            <a:off x="4673600" y="2095500"/>
            <a:ext cx="127000" cy="444500"/>
          </a:xfrm>
          <a:prstGeom prst="rect">
            <a:avLst/>
          </a:prstGeom>
        </p:spPr>
      </p:pic>
      <p:pic>
        <p:nvPicPr>
          <p:cNvPr id="41" name="Image 4" descr="connector">    </p:cNvPr>
          <p:cNvPicPr>
            <a:picLocks noChangeAspect="1"/>
          </p:cNvPicPr>
          <p:nvPr/>
        </p:nvPicPr>
        <p:blipFill>
          <a:blip r:embed="rId5"/>
          <a:srcRect l="0" r="0" t="0" b="0"/>
          <a:stretch/>
        </p:blipFill>
        <p:spPr>
          <a:xfrm>
            <a:off x="10109200" y="2095500"/>
            <a:ext cx="127000" cy="444500"/>
          </a:xfrm>
          <a:prstGeom prst="rect">
            <a:avLst/>
          </a:prstGeom>
        </p:spPr>
      </p:pic>
      <p:pic>
        <p:nvPicPr>
          <p:cNvPr id="42" name="Image 5" descr="connector">    </p:cNvPr>
          <p:cNvPicPr>
            <a:picLocks noChangeAspect="1"/>
          </p:cNvPicPr>
          <p:nvPr/>
        </p:nvPicPr>
        <p:blipFill>
          <a:blip r:embed="rId6"/>
          <a:srcRect l="0" r="0" t="0" b="0"/>
          <a:stretch/>
        </p:blipFill>
        <p:spPr>
          <a:xfrm>
            <a:off x="3314700" y="2895600"/>
            <a:ext cx="127000" cy="469900"/>
          </a:xfrm>
          <a:prstGeom prst="rect">
            <a:avLst/>
          </a:prstGeom>
        </p:spPr>
      </p:pic>
      <p:pic>
        <p:nvPicPr>
          <p:cNvPr id="43" name="Image 6" descr="connector">    </p:cNvPr>
          <p:cNvPicPr>
            <a:picLocks noChangeAspect="1"/>
          </p:cNvPicPr>
          <p:nvPr/>
        </p:nvPicPr>
        <p:blipFill>
          <a:blip r:embed="rId7"/>
          <a:srcRect l="0" r="0" t="0" b="0"/>
          <a:stretch/>
        </p:blipFill>
        <p:spPr>
          <a:xfrm>
            <a:off x="7391400" y="2895600"/>
            <a:ext cx="127000" cy="469900"/>
          </a:xfrm>
          <a:prstGeom prst="rect">
            <a:avLst/>
          </a:prstGeom>
        </p:spPr>
      </p:pic>
      <p:pic>
        <p:nvPicPr>
          <p:cNvPr id="44" name="Image 7" descr="connector">    </p:cNvPr>
          <p:cNvPicPr>
            <a:picLocks noChangeAspect="1"/>
          </p:cNvPicPr>
          <p:nvPr/>
        </p:nvPicPr>
        <p:blipFill>
          <a:blip r:embed="rId8"/>
          <a:srcRect l="0" r="0" t="0" b="0"/>
          <a:stretch/>
        </p:blipFill>
        <p:spPr>
          <a:xfrm>
            <a:off x="8597900" y="3619500"/>
            <a:ext cx="431800" cy="127000"/>
          </a:xfrm>
          <a:prstGeom prst="rect">
            <a:avLst/>
          </a:prstGeom>
        </p:spPr>
      </p:pic>
      <p:pic>
        <p:nvPicPr>
          <p:cNvPr id="45" name="Image 8" descr="connector">    </p:cNvPr>
          <p:cNvPicPr>
            <a:picLocks noChangeAspect="1"/>
          </p:cNvPicPr>
          <p:nvPr/>
        </p:nvPicPr>
        <p:blipFill>
          <a:blip r:embed="rId9"/>
          <a:srcRect l="0" r="0" t="0" b="0"/>
          <a:stretch/>
        </p:blipFill>
        <p:spPr>
          <a:xfrm>
            <a:off x="1955800" y="4000500"/>
            <a:ext cx="127000" cy="508000"/>
          </a:xfrm>
          <a:prstGeom prst="rect">
            <a:avLst/>
          </a:prstGeom>
        </p:spPr>
      </p:pic>
      <p:pic>
        <p:nvPicPr>
          <p:cNvPr id="46" name="Image 9" descr="connector">    </p:cNvPr>
          <p:cNvPicPr>
            <a:picLocks noChangeAspect="1"/>
          </p:cNvPicPr>
          <p:nvPr/>
        </p:nvPicPr>
        <p:blipFill>
          <a:blip r:embed="rId10"/>
          <a:srcRect l="0" r="0" t="0" b="0"/>
          <a:stretch/>
        </p:blipFill>
        <p:spPr>
          <a:xfrm>
            <a:off x="4673600" y="4000500"/>
            <a:ext cx="127000" cy="508000"/>
          </a:xfrm>
          <a:prstGeom prst="rect">
            <a:avLst/>
          </a:prstGeom>
        </p:spPr>
      </p:pic>
      <p:pic>
        <p:nvPicPr>
          <p:cNvPr id="47" name="Image 10" descr="connector">    </p:cNvPr>
          <p:cNvPicPr>
            <a:picLocks noChangeAspect="1"/>
          </p:cNvPicPr>
          <p:nvPr/>
        </p:nvPicPr>
        <p:blipFill>
          <a:blip r:embed="rId11"/>
          <a:srcRect l="0" r="0" t="0" b="0"/>
          <a:stretch/>
        </p:blipFill>
        <p:spPr>
          <a:xfrm>
            <a:off x="5880100" y="4762500"/>
            <a:ext cx="431800" cy="127000"/>
          </a:xfrm>
          <a:prstGeom prst="rect">
            <a:avLst/>
          </a:prstGeom>
        </p:spPr>
      </p:pic>
      <p:pic>
        <p:nvPicPr>
          <p:cNvPr id="48" name="Image 11" descr="connector">    </p:cNvPr>
          <p:cNvPicPr>
            <a:picLocks noChangeAspect="1"/>
          </p:cNvPicPr>
          <p:nvPr/>
        </p:nvPicPr>
        <p:blipFill>
          <a:blip r:embed="rId12"/>
          <a:srcRect l="0" r="0" t="0" b="0"/>
          <a:stretch/>
        </p:blipFill>
        <p:spPr>
          <a:xfrm>
            <a:off x="8597900" y="4762500"/>
            <a:ext cx="431800" cy="127000"/>
          </a:xfrm>
          <a:prstGeom prst="rect">
            <a:avLst/>
          </a:prstGeom>
        </p:spPr>
      </p:pic>
      <p:sp>
        <p:nvSpPr>
          <p:cNvPr id="49" name="Text 35"/>
          <p:cNvSpPr/>
          <p:nvPr/>
        </p:nvSpPr>
        <p:spPr>
          <a:xfrm>
            <a:off x="812800" y="5397500"/>
            <a:ext cx="10883392" cy="452041"/>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5B6B7C"/>
                </a:solidFill>
                <a:latin typeface="Public Sans" pitchFamily="34" charset="0"/>
                <a:ea typeface="Public Sans" pitchFamily="34" charset="-122"/>
                <a:cs typeface="Public Sans" pitchFamily="34" charset="-120"/>
              </a:rPr>
              <a:t>Amber = AI agents and chat. Both chat front ends use the same agent. Executors are simulated by default; real Ansible or AWS SSM plug in without changing the workflow.</a:t>
            </a:r>
            <a:endParaRPr lang="en-US" sz="1200" dirty="0"/>
          </a:p>
        </p:txBody>
      </p:sp>
      <p:sp>
        <p:nvSpPr>
          <p:cNvPr id="50" name="Text 36"/>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Bulwark | Innova Solutions</a:t>
            </a:r>
            <a:endParaRPr lang="en-US" sz="1200" dirty="0"/>
          </a:p>
        </p:txBody>
      </p:sp>
      <p:sp>
        <p:nvSpPr>
          <p:cNvPr id="51" name="Text 3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9FD"/>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2545"/>
                </a:solidFill>
                <a:latin typeface="Source Serif 4" pitchFamily="18" charset="0"/>
                <a:ea typeface="Source Serif 4" pitchFamily="18" charset="-122"/>
                <a:cs typeface="Source Serif 4" pitchFamily="18" charset="-120"/>
              </a:rPr>
              <a:t>How the chat assistant works</a:t>
            </a:r>
            <a:endParaRPr lang="en-US" sz="3200" dirty="0"/>
          </a:p>
        </p:txBody>
      </p:sp>
      <p:sp>
        <p:nvSpPr>
          <p:cNvPr id="3" name="Shape 1"/>
          <p:cNvSpPr/>
          <p:nvPr/>
        </p:nvSpPr>
        <p:spPr>
          <a:xfrm>
            <a:off x="812800" y="1310615"/>
            <a:ext cx="2011627" cy="1749954"/>
          </a:xfrm>
          <a:prstGeom prst="roundRect">
            <a:avLst>
              <a:gd name="adj" fmla="val 5806"/>
            </a:avLst>
          </a:prstGeom>
          <a:solidFill>
            <a:srgbClr val="FFFFFF"/>
          </a:solidFill>
          <a:ln/>
        </p:spPr>
      </p:sp>
      <p:pic>
        <p:nvPicPr>
          <p:cNvPr id="4" name="Image 0" descr="Chat">    </p:cNvPr>
          <p:cNvPicPr>
            <a:picLocks noChangeAspect="1"/>
          </p:cNvPicPr>
          <p:nvPr/>
        </p:nvPicPr>
        <p:blipFill>
          <a:blip r:embed="rId1"/>
          <a:srcRect l="0" r="0" t="0" b="0"/>
          <a:stretch/>
        </p:blipFill>
        <p:spPr>
          <a:xfrm>
            <a:off x="952500" y="1488415"/>
            <a:ext cx="355600" cy="355600"/>
          </a:xfrm>
          <a:prstGeom prst="rect">
            <a:avLst/>
          </a:prstGeom>
        </p:spPr>
      </p:pic>
      <p:sp>
        <p:nvSpPr>
          <p:cNvPr id="5" name="Text 2"/>
          <p:cNvSpPr/>
          <p:nvPr/>
        </p:nvSpPr>
        <p:spPr>
          <a:xfrm>
            <a:off x="952500" y="1932915"/>
            <a:ext cx="1784194"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545"/>
                </a:solidFill>
                <a:latin typeface="Public Sans" pitchFamily="34" charset="0"/>
                <a:ea typeface="Public Sans" pitchFamily="34" charset="-122"/>
                <a:cs typeface="Public Sans" pitchFamily="34" charset="-120"/>
              </a:rPr>
              <a:t>1. Ask</a:t>
            </a:r>
            <a:endParaRPr lang="en-US" sz="1600" dirty="0"/>
          </a:p>
        </p:txBody>
      </p:sp>
      <p:sp>
        <p:nvSpPr>
          <p:cNvPr id="6" name="Text 3"/>
          <p:cNvSpPr/>
          <p:nvPr/>
        </p:nvSpPr>
        <p:spPr>
          <a:xfrm>
            <a:off x="952500" y="2265629"/>
            <a:ext cx="1784194"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B6B7C"/>
                </a:solidFill>
                <a:latin typeface="Public Sans" pitchFamily="34" charset="0"/>
                <a:ea typeface="Public Sans" pitchFamily="34" charset="-122"/>
                <a:cs typeface="Public Sans" pitchFamily="34" charset="-120"/>
              </a:rPr>
              <a:t>Type a question in the console chat or the agent app.</a:t>
            </a:r>
            <a:endParaRPr lang="en-US" sz="1200" dirty="0"/>
          </a:p>
        </p:txBody>
      </p:sp>
      <p:sp>
        <p:nvSpPr>
          <p:cNvPr id="7" name="Shape 4"/>
          <p:cNvSpPr/>
          <p:nvPr/>
        </p:nvSpPr>
        <p:spPr>
          <a:xfrm>
            <a:off x="2951427" y="1310615"/>
            <a:ext cx="2011693" cy="1749954"/>
          </a:xfrm>
          <a:prstGeom prst="roundRect">
            <a:avLst>
              <a:gd name="adj" fmla="val 5806"/>
            </a:avLst>
          </a:prstGeom>
          <a:solidFill>
            <a:srgbClr val="FFFFFF"/>
          </a:solidFill>
          <a:ln/>
        </p:spPr>
      </p:sp>
      <p:pic>
        <p:nvPicPr>
          <p:cNvPr id="8" name="Image 1" descr="Search">    </p:cNvPr>
          <p:cNvPicPr>
            <a:picLocks noChangeAspect="1"/>
          </p:cNvPicPr>
          <p:nvPr/>
        </p:nvPicPr>
        <p:blipFill>
          <a:blip r:embed="rId2"/>
          <a:srcRect l="0" r="0" t="0" b="0"/>
          <a:stretch/>
        </p:blipFill>
        <p:spPr>
          <a:xfrm>
            <a:off x="3091127" y="1488415"/>
            <a:ext cx="355600" cy="355600"/>
          </a:xfrm>
          <a:prstGeom prst="rect">
            <a:avLst/>
          </a:prstGeom>
        </p:spPr>
      </p:pic>
      <p:sp>
        <p:nvSpPr>
          <p:cNvPr id="9" name="Text 5"/>
          <p:cNvSpPr/>
          <p:nvPr/>
        </p:nvSpPr>
        <p:spPr>
          <a:xfrm>
            <a:off x="3091127" y="1932915"/>
            <a:ext cx="1784262"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545"/>
                </a:solidFill>
                <a:latin typeface="Public Sans" pitchFamily="34" charset="0"/>
                <a:ea typeface="Public Sans" pitchFamily="34" charset="-122"/>
                <a:cs typeface="Public Sans" pitchFamily="34" charset="-120"/>
              </a:rPr>
              <a:t>2. Pick</a:t>
            </a:r>
            <a:endParaRPr lang="en-US" sz="1600" dirty="0"/>
          </a:p>
        </p:txBody>
      </p:sp>
      <p:sp>
        <p:nvSpPr>
          <p:cNvPr id="10" name="Text 6"/>
          <p:cNvSpPr/>
          <p:nvPr/>
        </p:nvSpPr>
        <p:spPr>
          <a:xfrm>
            <a:off x="3091127" y="2265629"/>
            <a:ext cx="1784262"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B6B7C"/>
                </a:solidFill>
                <a:latin typeface="Public Sans" pitchFamily="34" charset="0"/>
                <a:ea typeface="Public Sans" pitchFamily="34" charset="-122"/>
                <a:cs typeface="Public Sans" pitchFamily="34" charset="-120"/>
              </a:rPr>
              <a:t>The agent shortlists the 14 most useful tools out of 60.</a:t>
            </a:r>
            <a:endParaRPr lang="en-US" sz="1200" dirty="0"/>
          </a:p>
        </p:txBody>
      </p:sp>
      <p:sp>
        <p:nvSpPr>
          <p:cNvPr id="11" name="Shape 7"/>
          <p:cNvSpPr/>
          <p:nvPr/>
        </p:nvSpPr>
        <p:spPr>
          <a:xfrm>
            <a:off x="5090120" y="1310615"/>
            <a:ext cx="2011693" cy="1749954"/>
          </a:xfrm>
          <a:prstGeom prst="roundRect">
            <a:avLst>
              <a:gd name="adj" fmla="val 5806"/>
            </a:avLst>
          </a:prstGeom>
          <a:solidFill>
            <a:srgbClr val="FFFFFF"/>
          </a:solidFill>
          <a:ln/>
        </p:spPr>
      </p:sp>
      <p:pic>
        <p:nvPicPr>
          <p:cNvPr id="12" name="Image 2" descr="Link">    </p:cNvPr>
          <p:cNvPicPr>
            <a:picLocks noChangeAspect="1"/>
          </p:cNvPicPr>
          <p:nvPr/>
        </p:nvPicPr>
        <p:blipFill>
          <a:blip r:embed="rId3"/>
          <a:srcRect l="0" r="0" t="0" b="0"/>
          <a:stretch/>
        </p:blipFill>
        <p:spPr>
          <a:xfrm>
            <a:off x="5229820" y="1488415"/>
            <a:ext cx="355600" cy="355600"/>
          </a:xfrm>
          <a:prstGeom prst="rect">
            <a:avLst/>
          </a:prstGeom>
        </p:spPr>
      </p:pic>
      <p:sp>
        <p:nvSpPr>
          <p:cNvPr id="13" name="Text 8"/>
          <p:cNvSpPr/>
          <p:nvPr/>
        </p:nvSpPr>
        <p:spPr>
          <a:xfrm>
            <a:off x="5229820" y="1932915"/>
            <a:ext cx="1784262"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545"/>
                </a:solidFill>
                <a:latin typeface="Public Sans" pitchFamily="34" charset="0"/>
                <a:ea typeface="Public Sans" pitchFamily="34" charset="-122"/>
                <a:cs typeface="Public Sans" pitchFamily="34" charset="-120"/>
              </a:rPr>
              <a:t>3. Call</a:t>
            </a:r>
            <a:endParaRPr lang="en-US" sz="1600" dirty="0"/>
          </a:p>
        </p:txBody>
      </p:sp>
      <p:sp>
        <p:nvSpPr>
          <p:cNvPr id="14" name="Text 9"/>
          <p:cNvSpPr/>
          <p:nvPr/>
        </p:nvSpPr>
        <p:spPr>
          <a:xfrm>
            <a:off x="5229820" y="2265629"/>
            <a:ext cx="1784262"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B6B7C"/>
                </a:solidFill>
                <a:latin typeface="Public Sans" pitchFamily="34" charset="0"/>
                <a:ea typeface="Public Sans" pitchFamily="34" charset="-122"/>
                <a:cs typeface="Public Sans" pitchFamily="34" charset="-120"/>
              </a:rPr>
              <a:t>Tools call the Bulwark API using your own sign-in.</a:t>
            </a:r>
            <a:endParaRPr lang="en-US" sz="1200" dirty="0"/>
          </a:p>
        </p:txBody>
      </p:sp>
      <p:sp>
        <p:nvSpPr>
          <p:cNvPr id="15" name="Shape 10"/>
          <p:cNvSpPr/>
          <p:nvPr/>
        </p:nvSpPr>
        <p:spPr>
          <a:xfrm>
            <a:off x="7228814" y="1310615"/>
            <a:ext cx="2011693" cy="1749954"/>
          </a:xfrm>
          <a:prstGeom prst="roundRect">
            <a:avLst>
              <a:gd name="adj" fmla="val 5806"/>
            </a:avLst>
          </a:prstGeom>
          <a:solidFill>
            <a:srgbClr val="FEF3DD"/>
          </a:solidFill>
          <a:ln/>
        </p:spPr>
      </p:sp>
      <p:sp>
        <p:nvSpPr>
          <p:cNvPr id="16" name="Shape 11"/>
          <p:cNvSpPr/>
          <p:nvPr/>
        </p:nvSpPr>
        <p:spPr>
          <a:xfrm>
            <a:off x="7228814" y="1310615"/>
            <a:ext cx="2011693" cy="1749954"/>
          </a:xfrm>
          <a:custGeom>
            <a:avLst/>
            <a:gdLst/>
            <a:ahLst/>
            <a:cxnLst/>
            <a:rect l="l" t="t" r="r" b="b"/>
            <a:pathLst>
              <a:path w="2011693" h="1749954">
                <a:moveTo>
                  <a:pt x="0" y="101600"/>
                </a:moveTo>
                <a:lnTo>
                  <a:pt x="0" y="101600"/>
                </a:lnTo>
                <a:arcTo hR="101600" wR="101600" stAng="10800000" swAng="5400000"/>
                <a:lnTo>
                  <a:pt x="1910093" y="0"/>
                </a:lnTo>
                <a:arcTo hR="101600" wR="101600" stAng="16200000" swAng="5400000"/>
                <a:lnTo>
                  <a:pt x="2011693" y="101600"/>
                </a:lnTo>
                <a:arcTo hR="63500" wR="101600" stAng="0" swAng="-5400000"/>
                <a:lnTo>
                  <a:pt x="101600" y="38100"/>
                </a:lnTo>
                <a:arcTo hR="63500" wR="101600" stAng="16200000" swAng="-5400000"/>
                <a:close/>
              </a:path>
            </a:pathLst>
          </a:custGeom>
          <a:solidFill>
            <a:srgbClr val="F5A623"/>
          </a:solidFill>
          <a:ln/>
        </p:spPr>
      </p:sp>
      <p:pic>
        <p:nvPicPr>
          <p:cNvPr id="17" name="Image 3" descr="Lock">    </p:cNvPr>
          <p:cNvPicPr>
            <a:picLocks noChangeAspect="1"/>
          </p:cNvPicPr>
          <p:nvPr/>
        </p:nvPicPr>
        <p:blipFill>
          <a:blip r:embed="rId4"/>
          <a:srcRect l="0" r="0" t="0" b="0"/>
          <a:stretch/>
        </p:blipFill>
        <p:spPr>
          <a:xfrm>
            <a:off x="7368514" y="1526515"/>
            <a:ext cx="355600" cy="355600"/>
          </a:xfrm>
          <a:prstGeom prst="rect">
            <a:avLst/>
          </a:prstGeom>
        </p:spPr>
      </p:pic>
      <p:sp>
        <p:nvSpPr>
          <p:cNvPr id="18" name="Text 12"/>
          <p:cNvSpPr/>
          <p:nvPr/>
        </p:nvSpPr>
        <p:spPr>
          <a:xfrm>
            <a:off x="7368514" y="1971015"/>
            <a:ext cx="1784262"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545"/>
                </a:solidFill>
                <a:latin typeface="Public Sans" pitchFamily="34" charset="0"/>
                <a:ea typeface="Public Sans" pitchFamily="34" charset="-122"/>
                <a:cs typeface="Public Sans" pitchFamily="34" charset="-120"/>
              </a:rPr>
              <a:t>4. Confirm</a:t>
            </a:r>
            <a:endParaRPr lang="en-US" sz="1600" dirty="0"/>
          </a:p>
        </p:txBody>
      </p:sp>
      <p:sp>
        <p:nvSpPr>
          <p:cNvPr id="19" name="Text 13"/>
          <p:cNvSpPr/>
          <p:nvPr/>
        </p:nvSpPr>
        <p:spPr>
          <a:xfrm>
            <a:off x="7368514" y="2303729"/>
            <a:ext cx="1784262"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B6B7C"/>
                </a:solidFill>
                <a:latin typeface="Public Sans" pitchFamily="34" charset="0"/>
                <a:ea typeface="Public Sans" pitchFamily="34" charset="-122"/>
                <a:cs typeface="Public Sans" pitchFamily="34" charset="-120"/>
              </a:rPr>
              <a:t>Any change pauses until you click approve.</a:t>
            </a:r>
            <a:endParaRPr lang="en-US" sz="1200" dirty="0"/>
          </a:p>
        </p:txBody>
      </p:sp>
      <p:sp>
        <p:nvSpPr>
          <p:cNvPr id="20" name="Shape 14"/>
          <p:cNvSpPr/>
          <p:nvPr/>
        </p:nvSpPr>
        <p:spPr>
          <a:xfrm>
            <a:off x="9367507" y="1310615"/>
            <a:ext cx="2011693" cy="1749954"/>
          </a:xfrm>
          <a:prstGeom prst="roundRect">
            <a:avLst>
              <a:gd name="adj" fmla="val 5806"/>
            </a:avLst>
          </a:prstGeom>
          <a:solidFill>
            <a:srgbClr val="FFFFFF"/>
          </a:solidFill>
          <a:ln/>
        </p:spPr>
      </p:sp>
      <p:pic>
        <p:nvPicPr>
          <p:cNvPr id="21" name="Image 4" descr="Book">    </p:cNvPr>
          <p:cNvPicPr>
            <a:picLocks noChangeAspect="1"/>
          </p:cNvPicPr>
          <p:nvPr/>
        </p:nvPicPr>
        <p:blipFill>
          <a:blip r:embed="rId5"/>
          <a:srcRect l="0" r="0" t="0" b="0"/>
          <a:stretch/>
        </p:blipFill>
        <p:spPr>
          <a:xfrm>
            <a:off x="9507207" y="1488415"/>
            <a:ext cx="355600" cy="355600"/>
          </a:xfrm>
          <a:prstGeom prst="rect">
            <a:avLst/>
          </a:prstGeom>
        </p:spPr>
      </p:pic>
      <p:sp>
        <p:nvSpPr>
          <p:cNvPr id="22" name="Text 15"/>
          <p:cNvSpPr/>
          <p:nvPr/>
        </p:nvSpPr>
        <p:spPr>
          <a:xfrm>
            <a:off x="9507207" y="1932915"/>
            <a:ext cx="1784262"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545"/>
                </a:solidFill>
                <a:latin typeface="Public Sans" pitchFamily="34" charset="0"/>
                <a:ea typeface="Public Sans" pitchFamily="34" charset="-122"/>
                <a:cs typeface="Public Sans" pitchFamily="34" charset="-120"/>
              </a:rPr>
              <a:t>5. Remember</a:t>
            </a:r>
            <a:endParaRPr lang="en-US" sz="1600" dirty="0"/>
          </a:p>
        </p:txBody>
      </p:sp>
      <p:sp>
        <p:nvSpPr>
          <p:cNvPr id="23" name="Text 16"/>
          <p:cNvSpPr/>
          <p:nvPr/>
        </p:nvSpPr>
        <p:spPr>
          <a:xfrm>
            <a:off x="9507207" y="2265629"/>
            <a:ext cx="1784262"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B6B7C"/>
                </a:solidFill>
                <a:latin typeface="Public Sans" pitchFamily="34" charset="0"/>
                <a:ea typeface="Public Sans" pitchFamily="34" charset="-122"/>
                <a:cs typeface="Public Sans" pitchFamily="34" charset="-120"/>
              </a:rPr>
              <a:t>The reply and history are saved, so chats can resume.</a:t>
            </a:r>
            <a:endParaRPr lang="en-US" sz="1200" dirty="0"/>
          </a:p>
        </p:txBody>
      </p:sp>
      <p:sp>
        <p:nvSpPr>
          <p:cNvPr id="24" name="Text 17"/>
          <p:cNvSpPr/>
          <p:nvPr/>
        </p:nvSpPr>
        <p:spPr>
          <a:xfrm>
            <a:off x="812800" y="3314570"/>
            <a:ext cx="10566400" cy="889000"/>
          </a:xfrm>
          <a:prstGeom prst="roundRect">
            <a:avLst>
              <a:gd name="adj" fmla="val 11429"/>
            </a:avLst>
          </a:prstGeom>
          <a:solidFill>
            <a:srgbClr val="E6F2FC"/>
          </a:solidFill>
          <a:ln/>
        </p:spPr>
        <p:txBody>
          <a:bodyPr wrap="square" lIns="224242" tIns="148042" rIns="0" bIns="122642" rtlCol="0" anchor="t">
            <a:normAutofit/>
          </a:bodyPr>
          <a:lstStyle/>
          <a:p>
            <a:pPr algn="l" indent="0" marL="0">
              <a:lnSpc>
                <a:spcPts val="2100"/>
              </a:lnSpc>
              <a:buNone/>
            </a:pPr>
            <a:r>
              <a:rPr lang="en-US" sz="1500" dirty="0">
                <a:solidFill>
                  <a:srgbClr val="0B2545"/>
                </a:solidFill>
                <a:latin typeface="Public Sans" pitchFamily="34" charset="0"/>
                <a:ea typeface="Public Sans" pitchFamily="34" charset="-122"/>
                <a:cs typeface="Public Sans" pitchFamily="34" charset="-120"/>
              </a:rPr>
              <a:t>The assistant can only do what the signed-in person’s role allows. An analyst’s chat cannot approve; an approver’s chat can.</a:t>
            </a:r>
            <a:endParaRPr lang="en-US" sz="1500" dirty="0"/>
          </a:p>
        </p:txBody>
      </p:sp>
      <p:sp>
        <p:nvSpPr>
          <p:cNvPr id="25" name="Text 18"/>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Bulwark | Innova Solutions</a:t>
            </a:r>
            <a:endParaRPr lang="en-US" sz="1200" dirty="0"/>
          </a:p>
        </p:txBody>
      </p:sp>
      <p:sp>
        <p:nvSpPr>
          <p:cNvPr id="26" name="Text 1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9FD"/>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2545"/>
                </a:solidFill>
                <a:latin typeface="Source Serif 4" pitchFamily="18" charset="0"/>
                <a:ea typeface="Source Serif 4" pitchFamily="18" charset="-122"/>
                <a:cs typeface="Source Serif 4" pitchFamily="18" charset="-120"/>
              </a:rPr>
              <a:t>Tech stack</a:t>
            </a:r>
            <a:endParaRPr lang="en-US" sz="3200" dirty="0"/>
          </a:p>
        </p:txBody>
      </p:sp>
      <p:sp>
        <p:nvSpPr>
          <p:cNvPr id="3" name="Shape 1"/>
          <p:cNvSpPr/>
          <p:nvPr/>
        </p:nvSpPr>
        <p:spPr>
          <a:xfrm>
            <a:off x="812800" y="1259815"/>
            <a:ext cx="3420533" cy="1431859"/>
          </a:xfrm>
          <a:prstGeom prst="roundRect">
            <a:avLst>
              <a:gd name="adj" fmla="val 7096"/>
            </a:avLst>
          </a:prstGeom>
          <a:solidFill>
            <a:srgbClr val="FFFFFF"/>
          </a:solidFill>
          <a:ln/>
        </p:spPr>
      </p:sp>
      <p:sp>
        <p:nvSpPr>
          <p:cNvPr id="4" name="Shape 2"/>
          <p:cNvSpPr/>
          <p:nvPr/>
        </p:nvSpPr>
        <p:spPr>
          <a:xfrm>
            <a:off x="812800" y="1259815"/>
            <a:ext cx="3420533" cy="1431859"/>
          </a:xfrm>
          <a:custGeom>
            <a:avLst/>
            <a:gdLst/>
            <a:ahLst/>
            <a:cxnLst/>
            <a:rect l="l" t="t" r="r" b="b"/>
            <a:pathLst>
              <a:path w="3420533" h="1431859">
                <a:moveTo>
                  <a:pt x="0" y="101600"/>
                </a:moveTo>
                <a:lnTo>
                  <a:pt x="0" y="101600"/>
                </a:lnTo>
                <a:arcTo hR="101600" wR="101600" stAng="10800000" swAng="5400000"/>
                <a:lnTo>
                  <a:pt x="3318933" y="0"/>
                </a:lnTo>
                <a:arcTo hR="101600" wR="101600" stAng="16200000" swAng="5400000"/>
                <a:lnTo>
                  <a:pt x="3420533" y="101600"/>
                </a:lnTo>
                <a:arcTo hR="63500" wR="101600" stAng="0" swAng="-5400000"/>
                <a:lnTo>
                  <a:pt x="101600" y="38100"/>
                </a:lnTo>
                <a:arcTo hR="63500" wR="101600" stAng="16200000" swAng="-5400000"/>
                <a:close/>
              </a:path>
            </a:pathLst>
          </a:custGeom>
          <a:solidFill>
            <a:srgbClr val="0072CE"/>
          </a:solidFill>
          <a:ln/>
        </p:spPr>
      </p:sp>
      <p:sp>
        <p:nvSpPr>
          <p:cNvPr id="5" name="Text 3"/>
          <p:cNvSpPr/>
          <p:nvPr/>
        </p:nvSpPr>
        <p:spPr>
          <a:xfrm>
            <a:off x="1016000" y="1475715"/>
            <a:ext cx="310455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072CE"/>
                </a:solidFill>
                <a:latin typeface="Public Sans" pitchFamily="34" charset="0"/>
                <a:ea typeface="Public Sans" pitchFamily="34" charset="-122"/>
                <a:cs typeface="Public Sans" pitchFamily="34" charset="-120"/>
              </a:rPr>
              <a:t>Frontend</a:t>
            </a:r>
            <a:endParaRPr lang="en-US" sz="1600" dirty="0"/>
          </a:p>
        </p:txBody>
      </p:sp>
      <p:sp>
        <p:nvSpPr>
          <p:cNvPr id="6" name="Text 4"/>
          <p:cNvSpPr/>
          <p:nvPr/>
        </p:nvSpPr>
        <p:spPr>
          <a:xfrm>
            <a:off x="1114044" y="1795729"/>
            <a:ext cx="2998893" cy="743545"/>
          </a:xfrm>
          <a:prstGeom prst="rect">
            <a:avLst/>
          </a:prstGeom>
          <a:noFill/>
          <a:ln/>
        </p:spPr>
        <p:txBody>
          <a:bodyPr wrap="square" lIns="0" tIns="0" rIns="0" bIns="0" rtlCol="0" anchor="t">
            <a:normAutofit/>
          </a:bodyPr>
          <a:lstStyle/>
          <a:p>
            <a:pPr algn="l" marL="155956" indent="-155956">
              <a:lnSpc>
                <a:spcPts val="1885"/>
              </a:lnSpc>
              <a:buSzPct val="100000"/>
              <a:buChar char="•"/>
            </a:pPr>
            <a:r>
              <a:rPr lang="en-US" sz="1300" dirty="0">
                <a:solidFill>
                  <a:srgbClr val="0B2545"/>
                </a:solidFill>
                <a:latin typeface="Public Sans" pitchFamily="34" charset="0"/>
                <a:ea typeface="Public Sans" pitchFamily="34" charset="-122"/>
                <a:cs typeface="Public Sans" pitchFamily="34" charset="-120"/>
              </a:rPr>
              <a:t>React 18, Vite 5</a:t>
            </a:r>
            <a:endParaRPr lang="en-US" sz="1300" dirty="0"/>
          </a:p>
          <a:p>
            <a:pPr algn="l" marL="155956" indent="-155956">
              <a:lnSpc>
                <a:spcPts val="1885"/>
              </a:lnSpc>
              <a:buSzPct val="100000"/>
              <a:buChar char="•"/>
            </a:pPr>
            <a:r>
              <a:rPr lang="en-US" sz="1300" dirty="0">
                <a:solidFill>
                  <a:srgbClr val="0B2545"/>
                </a:solidFill>
                <a:latin typeface="Public Sans" pitchFamily="34" charset="0"/>
                <a:ea typeface="Public Sans" pitchFamily="34" charset="-122"/>
                <a:cs typeface="Public Sans" pitchFamily="34" charset="-120"/>
              </a:rPr>
              <a:t>React Router 6</a:t>
            </a:r>
            <a:endParaRPr lang="en-US" sz="1300" dirty="0"/>
          </a:p>
          <a:p>
            <a:pPr algn="l" marL="155956" indent="-155956">
              <a:lnSpc>
                <a:spcPts val="1885"/>
              </a:lnSpc>
              <a:buSzPct val="100000"/>
              <a:buChar char="•"/>
            </a:pPr>
            <a:r>
              <a:rPr lang="en-US" sz="1300" dirty="0">
                <a:solidFill>
                  <a:srgbClr val="0B2545"/>
                </a:solidFill>
                <a:latin typeface="Public Sans" pitchFamily="34" charset="0"/>
                <a:ea typeface="Public Sans" pitchFamily="34" charset="-122"/>
                <a:cs typeface="Public Sans" pitchFamily="34" charset="-120"/>
              </a:rPr>
              <a:t>Vitest tests</a:t>
            </a:r>
            <a:endParaRPr lang="en-US" sz="1300" dirty="0"/>
          </a:p>
        </p:txBody>
      </p:sp>
      <p:sp>
        <p:nvSpPr>
          <p:cNvPr id="7" name="Shape 5"/>
          <p:cNvSpPr/>
          <p:nvPr/>
        </p:nvSpPr>
        <p:spPr>
          <a:xfrm>
            <a:off x="4385733" y="1259815"/>
            <a:ext cx="3420533" cy="1431859"/>
          </a:xfrm>
          <a:prstGeom prst="roundRect">
            <a:avLst>
              <a:gd name="adj" fmla="val 7096"/>
            </a:avLst>
          </a:prstGeom>
          <a:solidFill>
            <a:srgbClr val="FFFFFF"/>
          </a:solidFill>
          <a:ln/>
        </p:spPr>
      </p:sp>
      <p:sp>
        <p:nvSpPr>
          <p:cNvPr id="8" name="Shape 6"/>
          <p:cNvSpPr/>
          <p:nvPr/>
        </p:nvSpPr>
        <p:spPr>
          <a:xfrm>
            <a:off x="4385733" y="1259815"/>
            <a:ext cx="3420533" cy="1431859"/>
          </a:xfrm>
          <a:custGeom>
            <a:avLst/>
            <a:gdLst/>
            <a:ahLst/>
            <a:cxnLst/>
            <a:rect l="l" t="t" r="r" b="b"/>
            <a:pathLst>
              <a:path w="3420533" h="1431859">
                <a:moveTo>
                  <a:pt x="0" y="101600"/>
                </a:moveTo>
                <a:lnTo>
                  <a:pt x="0" y="101600"/>
                </a:lnTo>
                <a:arcTo hR="101600" wR="101600" stAng="10800000" swAng="5400000"/>
                <a:lnTo>
                  <a:pt x="3318933" y="0"/>
                </a:lnTo>
                <a:arcTo hR="101600" wR="101600" stAng="16200000" swAng="5400000"/>
                <a:lnTo>
                  <a:pt x="3420533" y="101600"/>
                </a:lnTo>
                <a:arcTo hR="63500" wR="101600" stAng="0" swAng="-5400000"/>
                <a:lnTo>
                  <a:pt x="101600" y="38100"/>
                </a:lnTo>
                <a:arcTo hR="63500" wR="101600" stAng="16200000" swAng="-5400000"/>
                <a:close/>
              </a:path>
            </a:pathLst>
          </a:custGeom>
          <a:solidFill>
            <a:srgbClr val="0072CE"/>
          </a:solidFill>
          <a:ln/>
        </p:spPr>
      </p:sp>
      <p:sp>
        <p:nvSpPr>
          <p:cNvPr id="9" name="Text 7"/>
          <p:cNvSpPr/>
          <p:nvPr/>
        </p:nvSpPr>
        <p:spPr>
          <a:xfrm>
            <a:off x="4588933" y="1475715"/>
            <a:ext cx="310455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072CE"/>
                </a:solidFill>
                <a:latin typeface="Public Sans" pitchFamily="34" charset="0"/>
                <a:ea typeface="Public Sans" pitchFamily="34" charset="-122"/>
                <a:cs typeface="Public Sans" pitchFamily="34" charset="-120"/>
              </a:rPr>
              <a:t>Backend API</a:t>
            </a:r>
            <a:endParaRPr lang="en-US" sz="1600" dirty="0"/>
          </a:p>
        </p:txBody>
      </p:sp>
      <p:sp>
        <p:nvSpPr>
          <p:cNvPr id="10" name="Text 8"/>
          <p:cNvSpPr/>
          <p:nvPr/>
        </p:nvSpPr>
        <p:spPr>
          <a:xfrm>
            <a:off x="4686977" y="1795729"/>
            <a:ext cx="2998893" cy="743545"/>
          </a:xfrm>
          <a:prstGeom prst="rect">
            <a:avLst/>
          </a:prstGeom>
          <a:noFill/>
          <a:ln/>
        </p:spPr>
        <p:txBody>
          <a:bodyPr wrap="square" lIns="0" tIns="0" rIns="0" bIns="0" rtlCol="0" anchor="t">
            <a:normAutofit/>
          </a:bodyPr>
          <a:lstStyle/>
          <a:p>
            <a:pPr algn="l" marL="155956" indent="-155956">
              <a:lnSpc>
                <a:spcPts val="1885"/>
              </a:lnSpc>
              <a:buSzPct val="100000"/>
              <a:buChar char="•"/>
            </a:pPr>
            <a:r>
              <a:rPr lang="en-US" sz="1300" dirty="0">
                <a:solidFill>
                  <a:srgbClr val="0B2545"/>
                </a:solidFill>
                <a:latin typeface="Public Sans" pitchFamily="34" charset="0"/>
                <a:ea typeface="Public Sans" pitchFamily="34" charset="-122"/>
                <a:cs typeface="Public Sans" pitchFamily="34" charset="-120"/>
              </a:rPr>
              <a:t>Python 3.11+, FastAPI</a:t>
            </a:r>
            <a:endParaRPr lang="en-US" sz="1300" dirty="0"/>
          </a:p>
          <a:p>
            <a:pPr algn="l" marL="155956" indent="-155956">
              <a:lnSpc>
                <a:spcPts val="1885"/>
              </a:lnSpc>
              <a:buSzPct val="100000"/>
              <a:buChar char="•"/>
            </a:pPr>
            <a:r>
              <a:rPr lang="en-US" sz="1300" dirty="0">
                <a:solidFill>
                  <a:srgbClr val="0B2545"/>
                </a:solidFill>
                <a:latin typeface="Public Sans" pitchFamily="34" charset="0"/>
                <a:ea typeface="Public Sans" pitchFamily="34" charset="-122"/>
                <a:cs typeface="Public Sans" pitchFamily="34" charset="-120"/>
              </a:rPr>
              <a:t>Async SQLAlchemy 2, Alembic</a:t>
            </a:r>
            <a:endParaRPr lang="en-US" sz="1300" dirty="0"/>
          </a:p>
          <a:p>
            <a:pPr algn="l" marL="155956" indent="-155956">
              <a:lnSpc>
                <a:spcPts val="1885"/>
              </a:lnSpc>
              <a:buSzPct val="100000"/>
              <a:buChar char="•"/>
            </a:pPr>
            <a:r>
              <a:rPr lang="en-US" sz="1300" dirty="0">
                <a:solidFill>
                  <a:srgbClr val="0B2545"/>
                </a:solidFill>
                <a:latin typeface="Public Sans" pitchFamily="34" charset="0"/>
                <a:ea typeface="Public Sans" pitchFamily="34" charset="-122"/>
                <a:cs typeface="Public Sans" pitchFamily="34" charset="-120"/>
              </a:rPr>
              <a:t>Pydantic v2, JWT, Uvicorn</a:t>
            </a:r>
            <a:endParaRPr lang="en-US" sz="1300" dirty="0"/>
          </a:p>
        </p:txBody>
      </p:sp>
      <p:sp>
        <p:nvSpPr>
          <p:cNvPr id="11" name="Shape 9"/>
          <p:cNvSpPr/>
          <p:nvPr/>
        </p:nvSpPr>
        <p:spPr>
          <a:xfrm>
            <a:off x="7958667" y="1259815"/>
            <a:ext cx="3420533" cy="1431859"/>
          </a:xfrm>
          <a:prstGeom prst="roundRect">
            <a:avLst>
              <a:gd name="adj" fmla="val 7096"/>
            </a:avLst>
          </a:prstGeom>
          <a:solidFill>
            <a:srgbClr val="FFFFFF"/>
          </a:solidFill>
          <a:ln/>
        </p:spPr>
      </p:sp>
      <p:sp>
        <p:nvSpPr>
          <p:cNvPr id="12" name="Shape 10"/>
          <p:cNvSpPr/>
          <p:nvPr/>
        </p:nvSpPr>
        <p:spPr>
          <a:xfrm>
            <a:off x="7958667" y="1259815"/>
            <a:ext cx="3420533" cy="1431859"/>
          </a:xfrm>
          <a:custGeom>
            <a:avLst/>
            <a:gdLst/>
            <a:ahLst/>
            <a:cxnLst/>
            <a:rect l="l" t="t" r="r" b="b"/>
            <a:pathLst>
              <a:path w="3420533" h="1431859">
                <a:moveTo>
                  <a:pt x="0" y="101600"/>
                </a:moveTo>
                <a:lnTo>
                  <a:pt x="0" y="101600"/>
                </a:lnTo>
                <a:arcTo hR="101600" wR="101600" stAng="10800000" swAng="5400000"/>
                <a:lnTo>
                  <a:pt x="3318933" y="0"/>
                </a:lnTo>
                <a:arcTo hR="101600" wR="101600" stAng="16200000" swAng="5400000"/>
                <a:lnTo>
                  <a:pt x="3420533" y="101600"/>
                </a:lnTo>
                <a:arcTo hR="63500" wR="101600" stAng="0" swAng="-5400000"/>
                <a:lnTo>
                  <a:pt x="101600" y="38100"/>
                </a:lnTo>
                <a:arcTo hR="63500" wR="101600" stAng="16200000" swAng="-5400000"/>
                <a:close/>
              </a:path>
            </a:pathLst>
          </a:custGeom>
          <a:solidFill>
            <a:srgbClr val="0072CE"/>
          </a:solidFill>
          <a:ln/>
        </p:spPr>
      </p:sp>
      <p:sp>
        <p:nvSpPr>
          <p:cNvPr id="13" name="Text 11"/>
          <p:cNvSpPr/>
          <p:nvPr/>
        </p:nvSpPr>
        <p:spPr>
          <a:xfrm>
            <a:off x="8161867" y="1475715"/>
            <a:ext cx="310455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072CE"/>
                </a:solidFill>
                <a:latin typeface="Public Sans" pitchFamily="34" charset="0"/>
                <a:ea typeface="Public Sans" pitchFamily="34" charset="-122"/>
                <a:cs typeface="Public Sans" pitchFamily="34" charset="-120"/>
              </a:rPr>
              <a:t>Data and messaging</a:t>
            </a:r>
            <a:endParaRPr lang="en-US" sz="1600" dirty="0"/>
          </a:p>
        </p:txBody>
      </p:sp>
      <p:sp>
        <p:nvSpPr>
          <p:cNvPr id="14" name="Text 12"/>
          <p:cNvSpPr/>
          <p:nvPr/>
        </p:nvSpPr>
        <p:spPr>
          <a:xfrm>
            <a:off x="8259911" y="1795729"/>
            <a:ext cx="2998893" cy="743545"/>
          </a:xfrm>
          <a:prstGeom prst="rect">
            <a:avLst/>
          </a:prstGeom>
          <a:noFill/>
          <a:ln/>
        </p:spPr>
        <p:txBody>
          <a:bodyPr wrap="square" lIns="0" tIns="0" rIns="0" bIns="0" rtlCol="0" anchor="t">
            <a:normAutofit/>
          </a:bodyPr>
          <a:lstStyle/>
          <a:p>
            <a:pPr algn="l" marL="155956" indent="-155956">
              <a:lnSpc>
                <a:spcPts val="1885"/>
              </a:lnSpc>
              <a:buSzPct val="100000"/>
              <a:buChar char="•"/>
            </a:pPr>
            <a:r>
              <a:rPr lang="en-US" sz="1300" dirty="0">
                <a:solidFill>
                  <a:srgbClr val="0B2545"/>
                </a:solidFill>
                <a:latin typeface="Public Sans" pitchFamily="34" charset="0"/>
                <a:ea typeface="Public Sans" pitchFamily="34" charset="-122"/>
                <a:cs typeface="Public Sans" pitchFamily="34" charset="-120"/>
              </a:rPr>
              <a:t>PostgreSQL 16</a:t>
            </a:r>
            <a:endParaRPr lang="en-US" sz="1300" dirty="0"/>
          </a:p>
          <a:p>
            <a:pPr algn="l" marL="155956" indent="-155956">
              <a:lnSpc>
                <a:spcPts val="1885"/>
              </a:lnSpc>
              <a:buSzPct val="100000"/>
              <a:buChar char="•"/>
            </a:pPr>
            <a:r>
              <a:rPr lang="en-US" sz="1300" dirty="0">
                <a:solidFill>
                  <a:srgbClr val="0B2545"/>
                </a:solidFill>
                <a:latin typeface="Public Sans" pitchFamily="34" charset="0"/>
                <a:ea typeface="Public Sans" pitchFamily="34" charset="-122"/>
                <a:cs typeface="Public Sans" pitchFamily="34" charset="-120"/>
              </a:rPr>
              <a:t>pgvector, HNSW index</a:t>
            </a:r>
            <a:endParaRPr lang="en-US" sz="1300" dirty="0"/>
          </a:p>
          <a:p>
            <a:pPr algn="l" marL="155956" indent="-155956">
              <a:lnSpc>
                <a:spcPts val="1885"/>
              </a:lnSpc>
              <a:buSzPct val="100000"/>
              <a:buChar char="•"/>
            </a:pPr>
            <a:r>
              <a:rPr lang="en-US" sz="1300" dirty="0">
                <a:solidFill>
                  <a:srgbClr val="0B2545"/>
                </a:solidFill>
                <a:latin typeface="Public Sans" pitchFamily="34" charset="0"/>
                <a:ea typeface="Public Sans" pitchFamily="34" charset="-122"/>
                <a:cs typeface="Public Sans" pitchFamily="34" charset="-120"/>
              </a:rPr>
              <a:t>Kafka (Aiven, SASL/SSL)</a:t>
            </a:r>
            <a:endParaRPr lang="en-US" sz="1300" dirty="0"/>
          </a:p>
        </p:txBody>
      </p:sp>
      <p:sp>
        <p:nvSpPr>
          <p:cNvPr id="15" name="Shape 13"/>
          <p:cNvSpPr/>
          <p:nvPr/>
        </p:nvSpPr>
        <p:spPr>
          <a:xfrm>
            <a:off x="812800" y="2894874"/>
            <a:ext cx="3420533" cy="1671241"/>
          </a:xfrm>
          <a:prstGeom prst="roundRect">
            <a:avLst>
              <a:gd name="adj" fmla="val 6079"/>
            </a:avLst>
          </a:prstGeom>
          <a:solidFill>
            <a:srgbClr val="FEF3DD"/>
          </a:solidFill>
          <a:ln/>
        </p:spPr>
      </p:sp>
      <p:sp>
        <p:nvSpPr>
          <p:cNvPr id="16" name="Shape 14"/>
          <p:cNvSpPr/>
          <p:nvPr/>
        </p:nvSpPr>
        <p:spPr>
          <a:xfrm>
            <a:off x="812800" y="2894874"/>
            <a:ext cx="3420533" cy="1671241"/>
          </a:xfrm>
          <a:custGeom>
            <a:avLst/>
            <a:gdLst/>
            <a:ahLst/>
            <a:cxnLst/>
            <a:rect l="l" t="t" r="r" b="b"/>
            <a:pathLst>
              <a:path w="3420533" h="1671241">
                <a:moveTo>
                  <a:pt x="0" y="101600"/>
                </a:moveTo>
                <a:lnTo>
                  <a:pt x="0" y="101600"/>
                </a:lnTo>
                <a:arcTo hR="101600" wR="101600" stAng="10800000" swAng="5400000"/>
                <a:lnTo>
                  <a:pt x="3318933" y="0"/>
                </a:lnTo>
                <a:arcTo hR="101600" wR="101600" stAng="16200000" swAng="5400000"/>
                <a:lnTo>
                  <a:pt x="3420533" y="101600"/>
                </a:lnTo>
                <a:arcTo hR="63500" wR="101600" stAng="0" swAng="-5400000"/>
                <a:lnTo>
                  <a:pt x="101600" y="38100"/>
                </a:lnTo>
                <a:arcTo hR="63500" wR="101600" stAng="16200000" swAng="-5400000"/>
                <a:close/>
              </a:path>
            </a:pathLst>
          </a:custGeom>
          <a:solidFill>
            <a:srgbClr val="F5A623"/>
          </a:solidFill>
          <a:ln/>
        </p:spPr>
      </p:sp>
      <p:sp>
        <p:nvSpPr>
          <p:cNvPr id="17" name="Text 15"/>
          <p:cNvSpPr/>
          <p:nvPr/>
        </p:nvSpPr>
        <p:spPr>
          <a:xfrm>
            <a:off x="1016000" y="3110774"/>
            <a:ext cx="310455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545"/>
                </a:solidFill>
                <a:latin typeface="Public Sans" pitchFamily="34" charset="0"/>
                <a:ea typeface="Public Sans" pitchFamily="34" charset="-122"/>
                <a:cs typeface="Public Sans" pitchFamily="34" charset="-120"/>
              </a:rPr>
              <a:t>AI models</a:t>
            </a:r>
            <a:endParaRPr lang="en-US" sz="1600" dirty="0"/>
          </a:p>
        </p:txBody>
      </p:sp>
      <p:sp>
        <p:nvSpPr>
          <p:cNvPr id="18" name="Text 16"/>
          <p:cNvSpPr/>
          <p:nvPr/>
        </p:nvSpPr>
        <p:spPr>
          <a:xfrm>
            <a:off x="1114044" y="3430786"/>
            <a:ext cx="2998893" cy="982927"/>
          </a:xfrm>
          <a:prstGeom prst="rect">
            <a:avLst/>
          </a:prstGeom>
          <a:noFill/>
          <a:ln/>
        </p:spPr>
        <p:txBody>
          <a:bodyPr wrap="square" lIns="0" tIns="0" rIns="0" bIns="0" rtlCol="0" anchor="t">
            <a:normAutofit/>
          </a:bodyPr>
          <a:lstStyle/>
          <a:p>
            <a:pPr algn="l" marL="155956" indent="-155956">
              <a:lnSpc>
                <a:spcPts val="1885"/>
              </a:lnSpc>
              <a:buSzPct val="100000"/>
              <a:buChar char="•"/>
            </a:pPr>
            <a:r>
              <a:rPr lang="en-US" sz="1300" dirty="0">
                <a:solidFill>
                  <a:srgbClr val="0B2545"/>
                </a:solidFill>
                <a:latin typeface="Public Sans" pitchFamily="34" charset="0"/>
                <a:ea typeface="Public Sans" pitchFamily="34" charset="-122"/>
                <a:cs typeface="Public Sans" pitchFamily="34" charset="-120"/>
              </a:rPr>
              <a:t>Gemini embedding-001 (768 dimensions)</a:t>
            </a:r>
            <a:endParaRPr lang="en-US" sz="1300" dirty="0"/>
          </a:p>
          <a:p>
            <a:pPr algn="l" marL="155956" indent="-155956">
              <a:lnSpc>
                <a:spcPts val="1885"/>
              </a:lnSpc>
              <a:buSzPct val="100000"/>
              <a:buChar char="•"/>
            </a:pPr>
            <a:r>
              <a:rPr lang="en-US" sz="1300" dirty="0">
                <a:solidFill>
                  <a:srgbClr val="0B2545"/>
                </a:solidFill>
                <a:latin typeface="Public Sans" pitchFamily="34" charset="0"/>
                <a:ea typeface="Public Sans" pitchFamily="34" charset="-122"/>
                <a:cs typeface="Public Sans" pitchFamily="34" charset="-120"/>
              </a:rPr>
              <a:t>Gemini 2.5 Flash planner</a:t>
            </a:r>
            <a:endParaRPr lang="en-US" sz="1300" dirty="0"/>
          </a:p>
          <a:p>
            <a:pPr algn="l" marL="155956" indent="-155956">
              <a:lnSpc>
                <a:spcPts val="1885"/>
              </a:lnSpc>
              <a:buSzPct val="100000"/>
              <a:buChar char="•"/>
            </a:pPr>
            <a:r>
              <a:rPr lang="en-US" sz="1300" dirty="0">
                <a:solidFill>
                  <a:srgbClr val="0B2545"/>
                </a:solidFill>
                <a:latin typeface="Public Sans" pitchFamily="34" charset="0"/>
                <a:ea typeface="Public Sans" pitchFamily="34" charset="-122"/>
                <a:cs typeface="Public Sans" pitchFamily="34" charset="-120"/>
              </a:rPr>
              <a:t>google-genai SDK</a:t>
            </a:r>
            <a:endParaRPr lang="en-US" sz="1300" dirty="0"/>
          </a:p>
        </p:txBody>
      </p:sp>
      <p:sp>
        <p:nvSpPr>
          <p:cNvPr id="19" name="Shape 17"/>
          <p:cNvSpPr/>
          <p:nvPr/>
        </p:nvSpPr>
        <p:spPr>
          <a:xfrm>
            <a:off x="4385733" y="2894874"/>
            <a:ext cx="3420533" cy="1671241"/>
          </a:xfrm>
          <a:prstGeom prst="roundRect">
            <a:avLst>
              <a:gd name="adj" fmla="val 6079"/>
            </a:avLst>
          </a:prstGeom>
          <a:solidFill>
            <a:srgbClr val="FEF3DD"/>
          </a:solidFill>
          <a:ln/>
        </p:spPr>
      </p:sp>
      <p:sp>
        <p:nvSpPr>
          <p:cNvPr id="20" name="Shape 18"/>
          <p:cNvSpPr/>
          <p:nvPr/>
        </p:nvSpPr>
        <p:spPr>
          <a:xfrm>
            <a:off x="4385733" y="2894874"/>
            <a:ext cx="3420533" cy="1671241"/>
          </a:xfrm>
          <a:custGeom>
            <a:avLst/>
            <a:gdLst/>
            <a:ahLst/>
            <a:cxnLst/>
            <a:rect l="l" t="t" r="r" b="b"/>
            <a:pathLst>
              <a:path w="3420533" h="1671241">
                <a:moveTo>
                  <a:pt x="0" y="101600"/>
                </a:moveTo>
                <a:lnTo>
                  <a:pt x="0" y="101600"/>
                </a:lnTo>
                <a:arcTo hR="101600" wR="101600" stAng="10800000" swAng="5400000"/>
                <a:lnTo>
                  <a:pt x="3318933" y="0"/>
                </a:lnTo>
                <a:arcTo hR="101600" wR="101600" stAng="16200000" swAng="5400000"/>
                <a:lnTo>
                  <a:pt x="3420533" y="101600"/>
                </a:lnTo>
                <a:arcTo hR="63500" wR="101600" stAng="0" swAng="-5400000"/>
                <a:lnTo>
                  <a:pt x="101600" y="38100"/>
                </a:lnTo>
                <a:arcTo hR="63500" wR="101600" stAng="16200000" swAng="-5400000"/>
                <a:close/>
              </a:path>
            </a:pathLst>
          </a:custGeom>
          <a:solidFill>
            <a:srgbClr val="F5A623"/>
          </a:solidFill>
          <a:ln/>
        </p:spPr>
      </p:sp>
      <p:sp>
        <p:nvSpPr>
          <p:cNvPr id="21" name="Text 19"/>
          <p:cNvSpPr/>
          <p:nvPr/>
        </p:nvSpPr>
        <p:spPr>
          <a:xfrm>
            <a:off x="4588933" y="3110774"/>
            <a:ext cx="310455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545"/>
                </a:solidFill>
                <a:latin typeface="Public Sans" pitchFamily="34" charset="0"/>
                <a:ea typeface="Public Sans" pitchFamily="34" charset="-122"/>
                <a:cs typeface="Public Sans" pitchFamily="34" charset="-120"/>
              </a:rPr>
              <a:t>Agents and chat</a:t>
            </a:r>
            <a:endParaRPr lang="en-US" sz="1600" dirty="0"/>
          </a:p>
        </p:txBody>
      </p:sp>
      <p:sp>
        <p:nvSpPr>
          <p:cNvPr id="22" name="Text 20"/>
          <p:cNvSpPr/>
          <p:nvPr/>
        </p:nvSpPr>
        <p:spPr>
          <a:xfrm>
            <a:off x="4686977" y="3430786"/>
            <a:ext cx="2998893" cy="982927"/>
          </a:xfrm>
          <a:prstGeom prst="rect">
            <a:avLst/>
          </a:prstGeom>
          <a:noFill/>
          <a:ln/>
        </p:spPr>
        <p:txBody>
          <a:bodyPr wrap="square" lIns="0" tIns="0" rIns="0" bIns="0" rtlCol="0" anchor="t">
            <a:normAutofit/>
          </a:bodyPr>
          <a:lstStyle/>
          <a:p>
            <a:pPr algn="l" marL="155956" indent="-155956">
              <a:lnSpc>
                <a:spcPts val="1885"/>
              </a:lnSpc>
              <a:buSzPct val="100000"/>
              <a:buChar char="•"/>
            </a:pPr>
            <a:r>
              <a:rPr lang="en-US" sz="1300" dirty="0">
                <a:solidFill>
                  <a:srgbClr val="0B2545"/>
                </a:solidFill>
                <a:latin typeface="Public Sans" pitchFamily="34" charset="0"/>
                <a:ea typeface="Public Sans" pitchFamily="34" charset="-122"/>
                <a:cs typeface="Public Sans" pitchFamily="34" charset="-120"/>
              </a:rPr>
              <a:t>LangGraph chat agent, Gemini Flash</a:t>
            </a:r>
            <a:endParaRPr lang="en-US" sz="1300" dirty="0"/>
          </a:p>
          <a:p>
            <a:pPr algn="l" marL="155956" indent="-155956">
              <a:lnSpc>
                <a:spcPts val="1885"/>
              </a:lnSpc>
              <a:buSzPct val="100000"/>
              <a:buChar char="•"/>
            </a:pPr>
            <a:r>
              <a:rPr lang="en-US" sz="1300" dirty="0">
                <a:solidFill>
                  <a:srgbClr val="0B2545"/>
                </a:solidFill>
                <a:latin typeface="Public Sans" pitchFamily="34" charset="0"/>
                <a:ea typeface="Public Sans" pitchFamily="34" charset="-122"/>
                <a:cs typeface="Public Sans" pitchFamily="34" charset="-120"/>
              </a:rPr>
              <a:t>MCP server with 60 tools</a:t>
            </a:r>
            <a:endParaRPr lang="en-US" sz="1300" dirty="0"/>
          </a:p>
          <a:p>
            <a:pPr algn="l" marL="155956" indent="-155956">
              <a:lnSpc>
                <a:spcPts val="1885"/>
              </a:lnSpc>
              <a:buSzPct val="100000"/>
              <a:buChar char="•"/>
            </a:pPr>
            <a:r>
              <a:rPr lang="en-US" sz="1300" dirty="0">
                <a:solidFill>
                  <a:srgbClr val="0B2545"/>
                </a:solidFill>
                <a:latin typeface="Public Sans" pitchFamily="34" charset="0"/>
                <a:ea typeface="Public Sans" pitchFamily="34" charset="-122"/>
                <a:cs typeface="Public Sans" pitchFamily="34" charset="-120"/>
              </a:rPr>
              <a:t>Chat history in its own schema</a:t>
            </a:r>
            <a:endParaRPr lang="en-US" sz="1300" dirty="0"/>
          </a:p>
        </p:txBody>
      </p:sp>
      <p:sp>
        <p:nvSpPr>
          <p:cNvPr id="23" name="Shape 21"/>
          <p:cNvSpPr/>
          <p:nvPr/>
        </p:nvSpPr>
        <p:spPr>
          <a:xfrm>
            <a:off x="7958667" y="2894874"/>
            <a:ext cx="3420533" cy="1671241"/>
          </a:xfrm>
          <a:prstGeom prst="roundRect">
            <a:avLst>
              <a:gd name="adj" fmla="val 6079"/>
            </a:avLst>
          </a:prstGeom>
          <a:solidFill>
            <a:srgbClr val="FFFFFF"/>
          </a:solidFill>
          <a:ln/>
        </p:spPr>
      </p:sp>
      <p:sp>
        <p:nvSpPr>
          <p:cNvPr id="24" name="Shape 22"/>
          <p:cNvSpPr/>
          <p:nvPr/>
        </p:nvSpPr>
        <p:spPr>
          <a:xfrm>
            <a:off x="7958667" y="2894874"/>
            <a:ext cx="3420533" cy="1671241"/>
          </a:xfrm>
          <a:custGeom>
            <a:avLst/>
            <a:gdLst/>
            <a:ahLst/>
            <a:cxnLst/>
            <a:rect l="l" t="t" r="r" b="b"/>
            <a:pathLst>
              <a:path w="3420533" h="1671241">
                <a:moveTo>
                  <a:pt x="0" y="101600"/>
                </a:moveTo>
                <a:lnTo>
                  <a:pt x="0" y="101600"/>
                </a:lnTo>
                <a:arcTo hR="101600" wR="101600" stAng="10800000" swAng="5400000"/>
                <a:lnTo>
                  <a:pt x="3318933" y="0"/>
                </a:lnTo>
                <a:arcTo hR="101600" wR="101600" stAng="16200000" swAng="5400000"/>
                <a:lnTo>
                  <a:pt x="3420533" y="101600"/>
                </a:lnTo>
                <a:arcTo hR="63500" wR="101600" stAng="0" swAng="-5400000"/>
                <a:lnTo>
                  <a:pt x="101600" y="38100"/>
                </a:lnTo>
                <a:arcTo hR="63500" wR="101600" stAng="16200000" swAng="-5400000"/>
                <a:close/>
              </a:path>
            </a:pathLst>
          </a:custGeom>
          <a:solidFill>
            <a:srgbClr val="5B6B7C"/>
          </a:solidFill>
          <a:ln/>
        </p:spPr>
      </p:sp>
      <p:sp>
        <p:nvSpPr>
          <p:cNvPr id="25" name="Text 23"/>
          <p:cNvSpPr/>
          <p:nvPr/>
        </p:nvSpPr>
        <p:spPr>
          <a:xfrm>
            <a:off x="8161867" y="3110774"/>
            <a:ext cx="310455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5B6B7C"/>
                </a:solidFill>
                <a:latin typeface="Public Sans" pitchFamily="34" charset="0"/>
                <a:ea typeface="Public Sans" pitchFamily="34" charset="-122"/>
                <a:cs typeface="Public Sans" pitchFamily="34" charset="-120"/>
              </a:rPr>
              <a:t>Pipeline</a:t>
            </a:r>
            <a:endParaRPr lang="en-US" sz="1600" dirty="0"/>
          </a:p>
        </p:txBody>
      </p:sp>
      <p:sp>
        <p:nvSpPr>
          <p:cNvPr id="26" name="Text 24"/>
          <p:cNvSpPr/>
          <p:nvPr/>
        </p:nvSpPr>
        <p:spPr>
          <a:xfrm>
            <a:off x="8259911" y="3430786"/>
            <a:ext cx="2998893" cy="504164"/>
          </a:xfrm>
          <a:prstGeom prst="rect">
            <a:avLst/>
          </a:prstGeom>
          <a:noFill/>
          <a:ln/>
        </p:spPr>
        <p:txBody>
          <a:bodyPr wrap="square" lIns="0" tIns="0" rIns="0" bIns="0" rtlCol="0" anchor="t">
            <a:normAutofit/>
          </a:bodyPr>
          <a:lstStyle/>
          <a:p>
            <a:pPr algn="l" marL="155956" indent="-155956">
              <a:lnSpc>
                <a:spcPts val="1885"/>
              </a:lnSpc>
              <a:buSzPct val="100000"/>
              <a:buChar char="•"/>
            </a:pPr>
            <a:r>
              <a:rPr lang="en-US" sz="1300" dirty="0">
                <a:solidFill>
                  <a:srgbClr val="0B2545"/>
                </a:solidFill>
                <a:latin typeface="Public Sans" pitchFamily="34" charset="0"/>
                <a:ea typeface="Public Sans" pitchFamily="34" charset="-122"/>
                <a:cs typeface="Public Sans" pitchFamily="34" charset="-120"/>
              </a:rPr>
              <a:t>Scan ingestor: openpyxl, psycopg 3</a:t>
            </a:r>
            <a:endParaRPr lang="en-US" sz="1300" dirty="0"/>
          </a:p>
          <a:p>
            <a:pPr algn="l" marL="155956" indent="-155956">
              <a:lnSpc>
                <a:spcPts val="1885"/>
              </a:lnSpc>
              <a:buSzPct val="100000"/>
              <a:buChar char="•"/>
            </a:pPr>
            <a:r>
              <a:rPr lang="en-US" sz="1300" dirty="0">
                <a:solidFill>
                  <a:srgbClr val="0B2545"/>
                </a:solidFill>
                <a:latin typeface="Public Sans" pitchFamily="34" charset="0"/>
                <a:ea typeface="Public Sans" pitchFamily="34" charset="-122"/>
                <a:cs typeface="Public Sans" pitchFamily="34" charset="-120"/>
              </a:rPr>
              <a:t>confluent-kafka client</a:t>
            </a:r>
            <a:endParaRPr lang="en-US" sz="1300" dirty="0"/>
          </a:p>
        </p:txBody>
      </p:sp>
      <p:sp>
        <p:nvSpPr>
          <p:cNvPr id="27" name="Text 25"/>
          <p:cNvSpPr/>
          <p:nvPr/>
        </p:nvSpPr>
        <p:spPr>
          <a:xfrm>
            <a:off x="812800" y="4769315"/>
            <a:ext cx="1088339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6B7C"/>
                </a:solidFill>
                <a:latin typeface="Public Sans" pitchFamily="34" charset="0"/>
                <a:ea typeface="Public Sans" pitchFamily="34" charset="-122"/>
                <a:cs typeface="Public Sans" pitchFamily="34" charset="-120"/>
              </a:rPr>
              <a:t>Packaging: Docker and Docker Compose. Testing: pytest against real PostgreSQL, Vitest, end-to-end smoke script.</a:t>
            </a:r>
            <a:endParaRPr lang="en-US" sz="1300" dirty="0"/>
          </a:p>
        </p:txBody>
      </p:sp>
      <p:sp>
        <p:nvSpPr>
          <p:cNvPr id="28" name="Text 26"/>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Bulwark | Innova Solutions</a:t>
            </a:r>
            <a:endParaRPr lang="en-US" sz="1200" dirty="0"/>
          </a:p>
        </p:txBody>
      </p:sp>
      <p:sp>
        <p:nvSpPr>
          <p:cNvPr id="29" name="Text 2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9FD"/>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2545"/>
                </a:solidFill>
                <a:latin typeface="Source Serif 4" pitchFamily="18" charset="0"/>
                <a:ea typeface="Source Serif 4" pitchFamily="18" charset="-122"/>
                <a:cs typeface="Source Serif 4" pitchFamily="18" charset="-120"/>
              </a:rPr>
              <a:t>Roles and access</a:t>
            </a:r>
            <a:endParaRPr lang="en-US" sz="3200" dirty="0"/>
          </a:p>
        </p:txBody>
      </p:sp>
      <p:sp>
        <p:nvSpPr>
          <p:cNvPr id="3" name="Shape 1"/>
          <p:cNvSpPr/>
          <p:nvPr/>
        </p:nvSpPr>
        <p:spPr>
          <a:xfrm>
            <a:off x="812800" y="1310618"/>
            <a:ext cx="2011627" cy="1605095"/>
          </a:xfrm>
          <a:prstGeom prst="roundRect">
            <a:avLst>
              <a:gd name="adj" fmla="val 6330"/>
            </a:avLst>
          </a:prstGeom>
          <a:solidFill>
            <a:srgbClr val="FFFFFF"/>
          </a:solidFill>
          <a:ln/>
        </p:spPr>
      </p:sp>
      <p:sp>
        <p:nvSpPr>
          <p:cNvPr id="4" name="Shape 2"/>
          <p:cNvSpPr/>
          <p:nvPr/>
        </p:nvSpPr>
        <p:spPr>
          <a:xfrm>
            <a:off x="812800" y="1310618"/>
            <a:ext cx="2011627" cy="1605095"/>
          </a:xfrm>
          <a:custGeom>
            <a:avLst/>
            <a:gdLst/>
            <a:ahLst/>
            <a:cxnLst/>
            <a:rect l="l" t="t" r="r" b="b"/>
            <a:pathLst>
              <a:path w="2011627" h="1605095">
                <a:moveTo>
                  <a:pt x="0" y="101600"/>
                </a:moveTo>
                <a:lnTo>
                  <a:pt x="0" y="101600"/>
                </a:lnTo>
                <a:arcTo hR="101600" wR="101600" stAng="10800000" swAng="5400000"/>
                <a:lnTo>
                  <a:pt x="1910027" y="0"/>
                </a:lnTo>
                <a:arcTo hR="101600" wR="101600" stAng="16200000" swAng="5400000"/>
                <a:lnTo>
                  <a:pt x="2011627" y="101600"/>
                </a:lnTo>
                <a:arcTo hR="63500" wR="101600" stAng="0" swAng="-5400000"/>
                <a:lnTo>
                  <a:pt x="101600" y="38100"/>
                </a:lnTo>
                <a:arcTo hR="63500" wR="101600" stAng="16200000" swAng="-5400000"/>
                <a:close/>
              </a:path>
            </a:pathLst>
          </a:custGeom>
          <a:solidFill>
            <a:srgbClr val="0072CE"/>
          </a:solidFill>
          <a:ln/>
        </p:spPr>
      </p:sp>
      <p:sp>
        <p:nvSpPr>
          <p:cNvPr id="5" name="Text 3"/>
          <p:cNvSpPr/>
          <p:nvPr/>
        </p:nvSpPr>
        <p:spPr>
          <a:xfrm>
            <a:off x="965200" y="1526518"/>
            <a:ext cx="1758032"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072CE"/>
                </a:solidFill>
                <a:latin typeface="Public Sans" pitchFamily="34" charset="0"/>
                <a:ea typeface="Public Sans" pitchFamily="34" charset="-122"/>
                <a:cs typeface="Public Sans" pitchFamily="34" charset="-120"/>
              </a:rPr>
              <a:t>ANALYST</a:t>
            </a:r>
            <a:endParaRPr lang="en-US" sz="1600" dirty="0"/>
          </a:p>
        </p:txBody>
      </p:sp>
      <p:sp>
        <p:nvSpPr>
          <p:cNvPr id="6" name="Text 4"/>
          <p:cNvSpPr/>
          <p:nvPr/>
        </p:nvSpPr>
        <p:spPr>
          <a:xfrm>
            <a:off x="965200" y="1846529"/>
            <a:ext cx="1758032" cy="91678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B6B7C"/>
                </a:solidFill>
                <a:latin typeface="Public Sans" pitchFamily="34" charset="0"/>
                <a:ea typeface="Public Sans" pitchFamily="34" charset="-122"/>
                <a:cs typeface="Public Sans" pitchFamily="34" charset="-120"/>
              </a:rPr>
              <a:t>Creates and edits vulnerabilities, incidents and solutions</a:t>
            </a:r>
            <a:endParaRPr lang="en-US" sz="1300" dirty="0"/>
          </a:p>
        </p:txBody>
      </p:sp>
      <p:sp>
        <p:nvSpPr>
          <p:cNvPr id="7" name="Shape 5"/>
          <p:cNvSpPr/>
          <p:nvPr/>
        </p:nvSpPr>
        <p:spPr>
          <a:xfrm>
            <a:off x="2951427" y="1310618"/>
            <a:ext cx="2011693" cy="1605095"/>
          </a:xfrm>
          <a:prstGeom prst="roundRect">
            <a:avLst>
              <a:gd name="adj" fmla="val 6330"/>
            </a:avLst>
          </a:prstGeom>
          <a:solidFill>
            <a:srgbClr val="FFFFFF"/>
          </a:solidFill>
          <a:ln/>
        </p:spPr>
      </p:sp>
      <p:sp>
        <p:nvSpPr>
          <p:cNvPr id="8" name="Shape 6"/>
          <p:cNvSpPr/>
          <p:nvPr/>
        </p:nvSpPr>
        <p:spPr>
          <a:xfrm>
            <a:off x="2951427" y="1310618"/>
            <a:ext cx="2011693" cy="1605095"/>
          </a:xfrm>
          <a:custGeom>
            <a:avLst/>
            <a:gdLst/>
            <a:ahLst/>
            <a:cxnLst/>
            <a:rect l="l" t="t" r="r" b="b"/>
            <a:pathLst>
              <a:path w="2011693" h="1605095">
                <a:moveTo>
                  <a:pt x="0" y="101600"/>
                </a:moveTo>
                <a:lnTo>
                  <a:pt x="0" y="101600"/>
                </a:lnTo>
                <a:arcTo hR="101600" wR="101600" stAng="10800000" swAng="5400000"/>
                <a:lnTo>
                  <a:pt x="1910093" y="0"/>
                </a:lnTo>
                <a:arcTo hR="101600" wR="101600" stAng="16200000" swAng="5400000"/>
                <a:lnTo>
                  <a:pt x="2011693" y="101600"/>
                </a:lnTo>
                <a:arcTo hR="63500" wR="101600" stAng="0" swAng="-5400000"/>
                <a:lnTo>
                  <a:pt x="101600" y="38100"/>
                </a:lnTo>
                <a:arcTo hR="63500" wR="101600" stAng="16200000" swAng="-5400000"/>
                <a:close/>
              </a:path>
            </a:pathLst>
          </a:custGeom>
          <a:solidFill>
            <a:srgbClr val="0072CE"/>
          </a:solidFill>
          <a:ln/>
        </p:spPr>
      </p:sp>
      <p:sp>
        <p:nvSpPr>
          <p:cNvPr id="9" name="Text 7"/>
          <p:cNvSpPr/>
          <p:nvPr/>
        </p:nvSpPr>
        <p:spPr>
          <a:xfrm>
            <a:off x="3103827" y="1526518"/>
            <a:ext cx="175810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072CE"/>
                </a:solidFill>
                <a:latin typeface="Public Sans" pitchFamily="34" charset="0"/>
                <a:ea typeface="Public Sans" pitchFamily="34" charset="-122"/>
                <a:cs typeface="Public Sans" pitchFamily="34" charset="-120"/>
              </a:rPr>
              <a:t>OPERATOR</a:t>
            </a:r>
            <a:endParaRPr lang="en-US" sz="1600" dirty="0"/>
          </a:p>
        </p:txBody>
      </p:sp>
      <p:sp>
        <p:nvSpPr>
          <p:cNvPr id="10" name="Text 8"/>
          <p:cNvSpPr/>
          <p:nvPr/>
        </p:nvSpPr>
        <p:spPr>
          <a:xfrm>
            <a:off x="3103827" y="1846529"/>
            <a:ext cx="175810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B6B7C"/>
                </a:solidFill>
                <a:latin typeface="Public Sans" pitchFamily="34" charset="0"/>
                <a:ea typeface="Public Sans" pitchFamily="34" charset="-122"/>
                <a:cs typeface="Public Sans" pitchFamily="34" charset="-120"/>
              </a:rPr>
              <a:t>Runs execution jobs</a:t>
            </a:r>
            <a:endParaRPr lang="en-US" sz="1300" dirty="0"/>
          </a:p>
        </p:txBody>
      </p:sp>
      <p:sp>
        <p:nvSpPr>
          <p:cNvPr id="11" name="Shape 9"/>
          <p:cNvSpPr/>
          <p:nvPr/>
        </p:nvSpPr>
        <p:spPr>
          <a:xfrm>
            <a:off x="5090120" y="1310618"/>
            <a:ext cx="2011693" cy="1605095"/>
          </a:xfrm>
          <a:prstGeom prst="roundRect">
            <a:avLst>
              <a:gd name="adj" fmla="val 6330"/>
            </a:avLst>
          </a:prstGeom>
          <a:solidFill>
            <a:srgbClr val="FFFFFF"/>
          </a:solidFill>
          <a:ln/>
        </p:spPr>
      </p:sp>
      <p:sp>
        <p:nvSpPr>
          <p:cNvPr id="12" name="Shape 10"/>
          <p:cNvSpPr/>
          <p:nvPr/>
        </p:nvSpPr>
        <p:spPr>
          <a:xfrm>
            <a:off x="5090120" y="1310618"/>
            <a:ext cx="2011693" cy="1605095"/>
          </a:xfrm>
          <a:custGeom>
            <a:avLst/>
            <a:gdLst/>
            <a:ahLst/>
            <a:cxnLst/>
            <a:rect l="l" t="t" r="r" b="b"/>
            <a:pathLst>
              <a:path w="2011693" h="1605095">
                <a:moveTo>
                  <a:pt x="0" y="101600"/>
                </a:moveTo>
                <a:lnTo>
                  <a:pt x="0" y="101600"/>
                </a:lnTo>
                <a:arcTo hR="101600" wR="101600" stAng="10800000" swAng="5400000"/>
                <a:lnTo>
                  <a:pt x="1910093" y="0"/>
                </a:lnTo>
                <a:arcTo hR="101600" wR="101600" stAng="16200000" swAng="5400000"/>
                <a:lnTo>
                  <a:pt x="2011693" y="101600"/>
                </a:lnTo>
                <a:arcTo hR="63500" wR="101600" stAng="0" swAng="-5400000"/>
                <a:lnTo>
                  <a:pt x="101600" y="38100"/>
                </a:lnTo>
                <a:arcTo hR="63500" wR="101600" stAng="16200000" swAng="-5400000"/>
                <a:close/>
              </a:path>
            </a:pathLst>
          </a:custGeom>
          <a:solidFill>
            <a:srgbClr val="0072CE"/>
          </a:solidFill>
          <a:ln/>
        </p:spPr>
      </p:sp>
      <p:sp>
        <p:nvSpPr>
          <p:cNvPr id="13" name="Text 11"/>
          <p:cNvSpPr/>
          <p:nvPr/>
        </p:nvSpPr>
        <p:spPr>
          <a:xfrm>
            <a:off x="5242520" y="1526518"/>
            <a:ext cx="175810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072CE"/>
                </a:solidFill>
                <a:latin typeface="Public Sans" pitchFamily="34" charset="0"/>
                <a:ea typeface="Public Sans" pitchFamily="34" charset="-122"/>
                <a:cs typeface="Public Sans" pitchFamily="34" charset="-120"/>
              </a:rPr>
              <a:t>APPROVER</a:t>
            </a:r>
            <a:endParaRPr lang="en-US" sz="1600" dirty="0"/>
          </a:p>
        </p:txBody>
      </p:sp>
      <p:sp>
        <p:nvSpPr>
          <p:cNvPr id="14" name="Text 12"/>
          <p:cNvSpPr/>
          <p:nvPr/>
        </p:nvSpPr>
        <p:spPr>
          <a:xfrm>
            <a:off x="5242520" y="1846529"/>
            <a:ext cx="175810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B6B7C"/>
                </a:solidFill>
                <a:latin typeface="Public Sans" pitchFamily="34" charset="0"/>
                <a:ea typeface="Public Sans" pitchFamily="34" charset="-122"/>
                <a:cs typeface="Public Sans" pitchFamily="34" charset="-120"/>
              </a:rPr>
              <a:t>Decides incident and solution approvals</a:t>
            </a:r>
            <a:endParaRPr lang="en-US" sz="1300" dirty="0"/>
          </a:p>
        </p:txBody>
      </p:sp>
      <p:sp>
        <p:nvSpPr>
          <p:cNvPr id="15" name="Shape 13"/>
          <p:cNvSpPr/>
          <p:nvPr/>
        </p:nvSpPr>
        <p:spPr>
          <a:xfrm>
            <a:off x="7228814" y="1310618"/>
            <a:ext cx="2011693" cy="1605095"/>
          </a:xfrm>
          <a:prstGeom prst="roundRect">
            <a:avLst>
              <a:gd name="adj" fmla="val 6330"/>
            </a:avLst>
          </a:prstGeom>
          <a:solidFill>
            <a:srgbClr val="FFFFFF"/>
          </a:solidFill>
          <a:ln/>
        </p:spPr>
      </p:sp>
      <p:sp>
        <p:nvSpPr>
          <p:cNvPr id="16" name="Shape 14"/>
          <p:cNvSpPr/>
          <p:nvPr/>
        </p:nvSpPr>
        <p:spPr>
          <a:xfrm>
            <a:off x="7228814" y="1310618"/>
            <a:ext cx="2011693" cy="1605095"/>
          </a:xfrm>
          <a:custGeom>
            <a:avLst/>
            <a:gdLst/>
            <a:ahLst/>
            <a:cxnLst/>
            <a:rect l="l" t="t" r="r" b="b"/>
            <a:pathLst>
              <a:path w="2011693" h="1605095">
                <a:moveTo>
                  <a:pt x="0" y="101600"/>
                </a:moveTo>
                <a:lnTo>
                  <a:pt x="0" y="101600"/>
                </a:lnTo>
                <a:arcTo hR="101600" wR="101600" stAng="10800000" swAng="5400000"/>
                <a:lnTo>
                  <a:pt x="1910093" y="0"/>
                </a:lnTo>
                <a:arcTo hR="101600" wR="101600" stAng="16200000" swAng="5400000"/>
                <a:lnTo>
                  <a:pt x="2011693" y="101600"/>
                </a:lnTo>
                <a:arcTo hR="63500" wR="101600" stAng="0" swAng="-5400000"/>
                <a:lnTo>
                  <a:pt x="101600" y="38100"/>
                </a:lnTo>
                <a:arcTo hR="63500" wR="101600" stAng="16200000" swAng="-5400000"/>
                <a:close/>
              </a:path>
            </a:pathLst>
          </a:custGeom>
          <a:solidFill>
            <a:srgbClr val="0072CE"/>
          </a:solidFill>
          <a:ln/>
        </p:spPr>
      </p:sp>
      <p:sp>
        <p:nvSpPr>
          <p:cNvPr id="17" name="Text 15"/>
          <p:cNvSpPr/>
          <p:nvPr/>
        </p:nvSpPr>
        <p:spPr>
          <a:xfrm>
            <a:off x="7381214" y="1526518"/>
            <a:ext cx="175810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072CE"/>
                </a:solidFill>
                <a:latin typeface="Public Sans" pitchFamily="34" charset="0"/>
                <a:ea typeface="Public Sans" pitchFamily="34" charset="-122"/>
                <a:cs typeface="Public Sans" pitchFamily="34" charset="-120"/>
              </a:rPr>
              <a:t>ADMIN</a:t>
            </a:r>
            <a:endParaRPr lang="en-US" sz="1600" dirty="0"/>
          </a:p>
        </p:txBody>
      </p:sp>
      <p:sp>
        <p:nvSpPr>
          <p:cNvPr id="18" name="Text 16"/>
          <p:cNvSpPr/>
          <p:nvPr/>
        </p:nvSpPr>
        <p:spPr>
          <a:xfrm>
            <a:off x="7381214" y="1846529"/>
            <a:ext cx="175810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B6B7C"/>
                </a:solidFill>
                <a:latin typeface="Public Sans" pitchFamily="34" charset="0"/>
                <a:ea typeface="Public Sans" pitchFamily="34" charset="-122"/>
                <a:cs typeface="Public Sans" pitchFamily="34" charset="-120"/>
              </a:rPr>
              <a:t>Everything, including users</a:t>
            </a:r>
            <a:endParaRPr lang="en-US" sz="1300" dirty="0"/>
          </a:p>
        </p:txBody>
      </p:sp>
      <p:sp>
        <p:nvSpPr>
          <p:cNvPr id="19" name="Shape 17"/>
          <p:cNvSpPr/>
          <p:nvPr/>
        </p:nvSpPr>
        <p:spPr>
          <a:xfrm>
            <a:off x="9367507" y="1310618"/>
            <a:ext cx="2011693" cy="1605095"/>
          </a:xfrm>
          <a:prstGeom prst="roundRect">
            <a:avLst>
              <a:gd name="adj" fmla="val 6330"/>
            </a:avLst>
          </a:prstGeom>
          <a:solidFill>
            <a:srgbClr val="FFFFFF"/>
          </a:solidFill>
          <a:ln/>
        </p:spPr>
      </p:sp>
      <p:sp>
        <p:nvSpPr>
          <p:cNvPr id="20" name="Shape 18"/>
          <p:cNvSpPr/>
          <p:nvPr/>
        </p:nvSpPr>
        <p:spPr>
          <a:xfrm>
            <a:off x="9367507" y="1310618"/>
            <a:ext cx="2011693" cy="1605095"/>
          </a:xfrm>
          <a:custGeom>
            <a:avLst/>
            <a:gdLst/>
            <a:ahLst/>
            <a:cxnLst/>
            <a:rect l="l" t="t" r="r" b="b"/>
            <a:pathLst>
              <a:path w="2011693" h="1605095">
                <a:moveTo>
                  <a:pt x="0" y="101600"/>
                </a:moveTo>
                <a:lnTo>
                  <a:pt x="0" y="101600"/>
                </a:lnTo>
                <a:arcTo hR="101600" wR="101600" stAng="10800000" swAng="5400000"/>
                <a:lnTo>
                  <a:pt x="1910093" y="0"/>
                </a:lnTo>
                <a:arcTo hR="101600" wR="101600" stAng="16200000" swAng="5400000"/>
                <a:lnTo>
                  <a:pt x="2011693" y="101600"/>
                </a:lnTo>
                <a:arcTo hR="63500" wR="101600" stAng="0" swAng="-5400000"/>
                <a:lnTo>
                  <a:pt x="101600" y="38100"/>
                </a:lnTo>
                <a:arcTo hR="63500" wR="101600" stAng="16200000" swAng="-5400000"/>
                <a:close/>
              </a:path>
            </a:pathLst>
          </a:custGeom>
          <a:solidFill>
            <a:srgbClr val="5B6B7C"/>
          </a:solidFill>
          <a:ln/>
        </p:spPr>
      </p:sp>
      <p:sp>
        <p:nvSpPr>
          <p:cNvPr id="21" name="Text 19"/>
          <p:cNvSpPr/>
          <p:nvPr/>
        </p:nvSpPr>
        <p:spPr>
          <a:xfrm>
            <a:off x="9519907" y="1526518"/>
            <a:ext cx="175810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5B6B7C"/>
                </a:solidFill>
                <a:latin typeface="Public Sans" pitchFamily="34" charset="0"/>
                <a:ea typeface="Public Sans" pitchFamily="34" charset="-122"/>
                <a:cs typeface="Public Sans" pitchFamily="34" charset="-120"/>
              </a:rPr>
              <a:t>VIEWER</a:t>
            </a:r>
            <a:endParaRPr lang="en-US" sz="1600" dirty="0"/>
          </a:p>
        </p:txBody>
      </p:sp>
      <p:sp>
        <p:nvSpPr>
          <p:cNvPr id="22" name="Text 20"/>
          <p:cNvSpPr/>
          <p:nvPr/>
        </p:nvSpPr>
        <p:spPr>
          <a:xfrm>
            <a:off x="9519907" y="1846529"/>
            <a:ext cx="175810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B6B7C"/>
                </a:solidFill>
                <a:latin typeface="Public Sans" pitchFamily="34" charset="0"/>
                <a:ea typeface="Public Sans" pitchFamily="34" charset="-122"/>
                <a:cs typeface="Public Sans" pitchFamily="34" charset="-120"/>
              </a:rPr>
              <a:t>Read-only</a:t>
            </a:r>
            <a:endParaRPr lang="en-US" sz="1300" dirty="0"/>
          </a:p>
        </p:txBody>
      </p:sp>
      <p:sp>
        <p:nvSpPr>
          <p:cNvPr id="23" name="Shape 21"/>
          <p:cNvSpPr/>
          <p:nvPr/>
        </p:nvSpPr>
        <p:spPr>
          <a:xfrm>
            <a:off x="812800" y="3169710"/>
            <a:ext cx="5181600" cy="1125141"/>
          </a:xfrm>
          <a:prstGeom prst="roundRect">
            <a:avLst>
              <a:gd name="adj" fmla="val 9030"/>
            </a:avLst>
          </a:prstGeom>
          <a:solidFill>
            <a:srgbClr val="E6F2FC"/>
          </a:solidFill>
          <a:ln/>
        </p:spPr>
      </p:sp>
      <p:sp>
        <p:nvSpPr>
          <p:cNvPr id="24" name="Text 22"/>
          <p:cNvSpPr/>
          <p:nvPr/>
        </p:nvSpPr>
        <p:spPr>
          <a:xfrm>
            <a:off x="1041400" y="3347510"/>
            <a:ext cx="4866132"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545"/>
                </a:solidFill>
                <a:latin typeface="Public Sans" pitchFamily="34" charset="0"/>
                <a:ea typeface="Public Sans" pitchFamily="34" charset="-122"/>
                <a:cs typeface="Public Sans" pitchFamily="34" charset="-120"/>
              </a:rPr>
              <a:t>Separation of duty</a:t>
            </a:r>
            <a:endParaRPr lang="en-US" sz="1600" dirty="0"/>
          </a:p>
        </p:txBody>
      </p:sp>
      <p:sp>
        <p:nvSpPr>
          <p:cNvPr id="25" name="Text 23"/>
          <p:cNvSpPr/>
          <p:nvPr/>
        </p:nvSpPr>
        <p:spPr>
          <a:xfrm>
            <a:off x="1041400" y="3654822"/>
            <a:ext cx="4866132"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B2545"/>
                </a:solidFill>
                <a:latin typeface="Public Sans" pitchFamily="34" charset="0"/>
                <a:ea typeface="Public Sans" pitchFamily="34" charset="-122"/>
                <a:cs typeface="Public Sans" pitchFamily="34" charset="-120"/>
              </a:rPr>
              <a:t>Nobody can decide their own submission. The API checks it on every approval.</a:t>
            </a:r>
            <a:endParaRPr lang="en-US" sz="1300" dirty="0"/>
          </a:p>
        </p:txBody>
      </p:sp>
      <p:sp>
        <p:nvSpPr>
          <p:cNvPr id="26" name="Shape 24"/>
          <p:cNvSpPr/>
          <p:nvPr/>
        </p:nvSpPr>
        <p:spPr>
          <a:xfrm>
            <a:off x="6146800" y="3169710"/>
            <a:ext cx="5232400" cy="1125141"/>
          </a:xfrm>
          <a:prstGeom prst="roundRect">
            <a:avLst>
              <a:gd name="adj" fmla="val 9030"/>
            </a:avLst>
          </a:prstGeom>
          <a:solidFill>
            <a:srgbClr val="FEF3DD"/>
          </a:solidFill>
          <a:ln/>
        </p:spPr>
      </p:sp>
      <p:sp>
        <p:nvSpPr>
          <p:cNvPr id="27" name="Shape 25"/>
          <p:cNvSpPr/>
          <p:nvPr/>
        </p:nvSpPr>
        <p:spPr>
          <a:xfrm>
            <a:off x="6146800" y="3169710"/>
            <a:ext cx="5232400" cy="1125141"/>
          </a:xfrm>
          <a:custGeom>
            <a:avLst/>
            <a:gdLst/>
            <a:ahLst/>
            <a:cxnLst/>
            <a:rect l="l" t="t" r="r" b="b"/>
            <a:pathLst>
              <a:path w="5232400" h="1125141">
                <a:moveTo>
                  <a:pt x="101600" y="1125141"/>
                </a:moveTo>
                <a:lnTo>
                  <a:pt x="101600" y="1125141"/>
                </a:lnTo>
                <a:arcTo hR="101600" wR="101600" stAng="5400000" swAng="5400000"/>
                <a:lnTo>
                  <a:pt x="0" y="101600"/>
                </a:lnTo>
                <a:arcTo hR="101600" wR="101600" stAng="10800000" swAng="5400000"/>
                <a:lnTo>
                  <a:pt x="101600" y="0"/>
                </a:lnTo>
                <a:arcTo hR="101600" wR="50800" stAng="16200000" swAng="-5400000"/>
                <a:lnTo>
                  <a:pt x="50800" y="1023541"/>
                </a:lnTo>
                <a:arcTo hR="101600" wR="50800" stAng="10800000" swAng="-5400000"/>
                <a:close/>
              </a:path>
            </a:pathLst>
          </a:custGeom>
          <a:solidFill>
            <a:srgbClr val="F5A623"/>
          </a:solidFill>
          <a:ln/>
        </p:spPr>
      </p:sp>
      <p:sp>
        <p:nvSpPr>
          <p:cNvPr id="28" name="Text 26"/>
          <p:cNvSpPr/>
          <p:nvPr/>
        </p:nvSpPr>
        <p:spPr>
          <a:xfrm>
            <a:off x="6426200" y="3347510"/>
            <a:ext cx="4866132"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545"/>
                </a:solidFill>
                <a:latin typeface="Public Sans" pitchFamily="34" charset="0"/>
                <a:ea typeface="Public Sans" pitchFamily="34" charset="-122"/>
                <a:cs typeface="Public Sans" pitchFamily="34" charset="-120"/>
              </a:rPr>
              <a:t>The chat assistant has no extra rights</a:t>
            </a:r>
            <a:endParaRPr lang="en-US" sz="1600" dirty="0"/>
          </a:p>
        </p:txBody>
      </p:sp>
      <p:sp>
        <p:nvSpPr>
          <p:cNvPr id="29" name="Text 27"/>
          <p:cNvSpPr/>
          <p:nvPr/>
        </p:nvSpPr>
        <p:spPr>
          <a:xfrm>
            <a:off x="6426200" y="3654822"/>
            <a:ext cx="4866132"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B2545"/>
                </a:solidFill>
                <a:latin typeface="Public Sans" pitchFamily="34" charset="0"/>
                <a:ea typeface="Public Sans" pitchFamily="34" charset="-122"/>
                <a:cs typeface="Public Sans" pitchFamily="34" charset="-120"/>
              </a:rPr>
              <a:t>It acts with the signed-in person’s own role, so a viewer’s chat stays read-only.</a:t>
            </a:r>
            <a:endParaRPr lang="en-US" sz="1300" dirty="0"/>
          </a:p>
        </p:txBody>
      </p:sp>
      <p:sp>
        <p:nvSpPr>
          <p:cNvPr id="30" name="Text 28"/>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Bulwark | Innova Solutions</a:t>
            </a:r>
            <a:endParaRPr lang="en-US" sz="1200" dirty="0"/>
          </a:p>
        </p:txBody>
      </p:sp>
      <p:sp>
        <p:nvSpPr>
          <p:cNvPr id="31" name="Text 2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9FD"/>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2545"/>
                </a:solidFill>
                <a:latin typeface="Source Serif 4" pitchFamily="18" charset="0"/>
                <a:ea typeface="Source Serif 4" pitchFamily="18" charset="-122"/>
                <a:cs typeface="Source Serif 4" pitchFamily="18" charset="-120"/>
              </a:rPr>
              <a:t>From scan to incident</a:t>
            </a:r>
            <a:endParaRPr lang="en-US" sz="3200" dirty="0"/>
          </a:p>
        </p:txBody>
      </p:sp>
      <p:sp>
        <p:nvSpPr>
          <p:cNvPr id="3" name="Shape 1"/>
          <p:cNvSpPr/>
          <p:nvPr/>
        </p:nvSpPr>
        <p:spPr>
          <a:xfrm>
            <a:off x="812800" y="1259818"/>
            <a:ext cx="2032000" cy="955014"/>
          </a:xfrm>
          <a:prstGeom prst="roundRect">
            <a:avLst>
              <a:gd name="adj" fmla="val 9309"/>
            </a:avLst>
          </a:prstGeom>
          <a:solidFill>
            <a:srgbClr val="FFFFFF"/>
          </a:solidFill>
          <a:ln/>
        </p:spPr>
      </p:sp>
      <p:sp>
        <p:nvSpPr>
          <p:cNvPr id="4" name="Shape 2"/>
          <p:cNvSpPr/>
          <p:nvPr/>
        </p:nvSpPr>
        <p:spPr>
          <a:xfrm>
            <a:off x="812800" y="1259818"/>
            <a:ext cx="2032000" cy="955014"/>
          </a:xfrm>
          <a:custGeom>
            <a:avLst/>
            <a:gdLst/>
            <a:ahLst/>
            <a:cxnLst/>
            <a:rect l="l" t="t" r="r" b="b"/>
            <a:pathLst>
              <a:path w="2032000" h="955014">
                <a:moveTo>
                  <a:pt x="0" y="88900"/>
                </a:moveTo>
                <a:lnTo>
                  <a:pt x="0" y="88900"/>
                </a:lnTo>
                <a:arcTo hR="88900" wR="88900" stAng="10800000" swAng="5400000"/>
                <a:lnTo>
                  <a:pt x="1943100" y="0"/>
                </a:lnTo>
                <a:arcTo hR="88900" wR="88900" stAng="16200000" swAng="5400000"/>
                <a:lnTo>
                  <a:pt x="2032000" y="88900"/>
                </a:lnTo>
                <a:arcTo hR="50800" wR="88900" stAng="0" swAng="-5400000"/>
                <a:lnTo>
                  <a:pt x="88900" y="38100"/>
                </a:lnTo>
                <a:arcTo hR="50800" wR="88900" stAng="16200000" swAng="-5400000"/>
                <a:close/>
              </a:path>
            </a:pathLst>
          </a:custGeom>
          <a:solidFill>
            <a:srgbClr val="5B6B7C"/>
          </a:solidFill>
          <a:ln/>
        </p:spPr>
      </p:sp>
      <p:sp>
        <p:nvSpPr>
          <p:cNvPr id="5" name="Text 3"/>
          <p:cNvSpPr/>
          <p:nvPr/>
        </p:nvSpPr>
        <p:spPr>
          <a:xfrm>
            <a:off x="952500" y="1424918"/>
            <a:ext cx="180517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2545"/>
                </a:solidFill>
                <a:latin typeface="Public Sans" pitchFamily="34" charset="0"/>
                <a:ea typeface="Public Sans" pitchFamily="34" charset="-122"/>
                <a:cs typeface="Public Sans" pitchFamily="34" charset="-120"/>
              </a:rPr>
              <a:t>Workbook</a:t>
            </a:r>
            <a:endParaRPr lang="en-US" sz="1500" dirty="0"/>
          </a:p>
        </p:txBody>
      </p:sp>
      <p:sp>
        <p:nvSpPr>
          <p:cNvPr id="6" name="Text 4"/>
          <p:cNvSpPr/>
          <p:nvPr/>
        </p:nvSpPr>
        <p:spPr>
          <a:xfrm>
            <a:off x="952500" y="1691618"/>
            <a:ext cx="1805178"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B7C"/>
                </a:solidFill>
                <a:latin typeface="Public Sans" pitchFamily="34" charset="0"/>
                <a:ea typeface="Public Sans" pitchFamily="34" charset="-122"/>
                <a:cs typeface="Public Sans" pitchFamily="34" charset="-120"/>
              </a:rPr>
              <a:t>Scan, Vulnerabilities, Assets sheets</a:t>
            </a:r>
            <a:endParaRPr lang="en-US" sz="1200" dirty="0"/>
          </a:p>
        </p:txBody>
      </p:sp>
      <p:sp>
        <p:nvSpPr>
          <p:cNvPr id="7" name="Shape 5"/>
          <p:cNvSpPr/>
          <p:nvPr/>
        </p:nvSpPr>
        <p:spPr>
          <a:xfrm>
            <a:off x="2946400" y="1259818"/>
            <a:ext cx="2032000" cy="955014"/>
          </a:xfrm>
          <a:prstGeom prst="roundRect">
            <a:avLst>
              <a:gd name="adj" fmla="val 9309"/>
            </a:avLst>
          </a:prstGeom>
          <a:solidFill>
            <a:srgbClr val="FFFFFF"/>
          </a:solidFill>
          <a:ln/>
        </p:spPr>
      </p:sp>
      <p:sp>
        <p:nvSpPr>
          <p:cNvPr id="8" name="Shape 6"/>
          <p:cNvSpPr/>
          <p:nvPr/>
        </p:nvSpPr>
        <p:spPr>
          <a:xfrm>
            <a:off x="2946400" y="1259818"/>
            <a:ext cx="2032000" cy="955014"/>
          </a:xfrm>
          <a:custGeom>
            <a:avLst/>
            <a:gdLst/>
            <a:ahLst/>
            <a:cxnLst/>
            <a:rect l="l" t="t" r="r" b="b"/>
            <a:pathLst>
              <a:path w="2032000" h="955014">
                <a:moveTo>
                  <a:pt x="0" y="88900"/>
                </a:moveTo>
                <a:lnTo>
                  <a:pt x="0" y="88900"/>
                </a:lnTo>
                <a:arcTo hR="88900" wR="88900" stAng="10800000" swAng="5400000"/>
                <a:lnTo>
                  <a:pt x="1943100" y="0"/>
                </a:lnTo>
                <a:arcTo hR="88900" wR="88900" stAng="16200000" swAng="5400000"/>
                <a:lnTo>
                  <a:pt x="2032000" y="88900"/>
                </a:lnTo>
                <a:arcTo hR="50800" wR="88900" stAng="0" swAng="-5400000"/>
                <a:lnTo>
                  <a:pt x="88900" y="38100"/>
                </a:lnTo>
                <a:arcTo hR="50800" wR="88900" stAng="16200000" swAng="-5400000"/>
                <a:close/>
              </a:path>
            </a:pathLst>
          </a:custGeom>
          <a:solidFill>
            <a:srgbClr val="0072CE"/>
          </a:solidFill>
          <a:ln/>
        </p:spPr>
      </p:sp>
      <p:sp>
        <p:nvSpPr>
          <p:cNvPr id="9" name="Text 7"/>
          <p:cNvSpPr/>
          <p:nvPr/>
        </p:nvSpPr>
        <p:spPr>
          <a:xfrm>
            <a:off x="3086100" y="1424918"/>
            <a:ext cx="180517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2545"/>
                </a:solidFill>
                <a:latin typeface="Public Sans" pitchFamily="34" charset="0"/>
                <a:ea typeface="Public Sans" pitchFamily="34" charset="-122"/>
                <a:cs typeface="Public Sans" pitchFamily="34" charset="-120"/>
              </a:rPr>
              <a:t>Validate</a:t>
            </a:r>
            <a:endParaRPr lang="en-US" sz="1500" dirty="0"/>
          </a:p>
        </p:txBody>
      </p:sp>
      <p:sp>
        <p:nvSpPr>
          <p:cNvPr id="10" name="Text 8"/>
          <p:cNvSpPr/>
          <p:nvPr/>
        </p:nvSpPr>
        <p:spPr>
          <a:xfrm>
            <a:off x="3086100" y="1691618"/>
            <a:ext cx="1805178"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B7C"/>
                </a:solidFill>
                <a:latin typeface="Public Sans" pitchFamily="34" charset="0"/>
                <a:ea typeface="Public Sans" pitchFamily="34" charset="-122"/>
                <a:cs typeface="Public Sans" pitchFamily="34" charset="-120"/>
              </a:rPr>
              <a:t>Rejected if over 20% of rows are bad</a:t>
            </a:r>
            <a:endParaRPr lang="en-US" sz="1200" dirty="0"/>
          </a:p>
        </p:txBody>
      </p:sp>
      <p:sp>
        <p:nvSpPr>
          <p:cNvPr id="11" name="Shape 9"/>
          <p:cNvSpPr/>
          <p:nvPr/>
        </p:nvSpPr>
        <p:spPr>
          <a:xfrm>
            <a:off x="5080000" y="1259818"/>
            <a:ext cx="2032000" cy="955014"/>
          </a:xfrm>
          <a:prstGeom prst="roundRect">
            <a:avLst>
              <a:gd name="adj" fmla="val 9309"/>
            </a:avLst>
          </a:prstGeom>
          <a:solidFill>
            <a:srgbClr val="FFFFFF"/>
          </a:solidFill>
          <a:ln/>
        </p:spPr>
      </p:sp>
      <p:sp>
        <p:nvSpPr>
          <p:cNvPr id="12" name="Shape 10"/>
          <p:cNvSpPr/>
          <p:nvPr/>
        </p:nvSpPr>
        <p:spPr>
          <a:xfrm>
            <a:off x="5080000" y="1259818"/>
            <a:ext cx="2032000" cy="955014"/>
          </a:xfrm>
          <a:custGeom>
            <a:avLst/>
            <a:gdLst/>
            <a:ahLst/>
            <a:cxnLst/>
            <a:rect l="l" t="t" r="r" b="b"/>
            <a:pathLst>
              <a:path w="2032000" h="955014">
                <a:moveTo>
                  <a:pt x="0" y="88900"/>
                </a:moveTo>
                <a:lnTo>
                  <a:pt x="0" y="88900"/>
                </a:lnTo>
                <a:arcTo hR="88900" wR="88900" stAng="10800000" swAng="5400000"/>
                <a:lnTo>
                  <a:pt x="1943100" y="0"/>
                </a:lnTo>
                <a:arcTo hR="88900" wR="88900" stAng="16200000" swAng="5400000"/>
                <a:lnTo>
                  <a:pt x="2032000" y="88900"/>
                </a:lnTo>
                <a:arcTo hR="50800" wR="88900" stAng="0" swAng="-5400000"/>
                <a:lnTo>
                  <a:pt x="88900" y="38100"/>
                </a:lnTo>
                <a:arcTo hR="50800" wR="88900" stAng="16200000" swAng="-5400000"/>
                <a:close/>
              </a:path>
            </a:pathLst>
          </a:custGeom>
          <a:solidFill>
            <a:srgbClr val="0072CE"/>
          </a:solidFill>
          <a:ln/>
        </p:spPr>
      </p:sp>
      <p:sp>
        <p:nvSpPr>
          <p:cNvPr id="13" name="Text 11"/>
          <p:cNvSpPr/>
          <p:nvPr/>
        </p:nvSpPr>
        <p:spPr>
          <a:xfrm>
            <a:off x="5219700" y="1424918"/>
            <a:ext cx="180517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2545"/>
                </a:solidFill>
                <a:latin typeface="Public Sans" pitchFamily="34" charset="0"/>
                <a:ea typeface="Public Sans" pitchFamily="34" charset="-122"/>
                <a:cs typeface="Public Sans" pitchFamily="34" charset="-120"/>
              </a:rPr>
              <a:t>Load</a:t>
            </a:r>
            <a:endParaRPr lang="en-US" sz="1500" dirty="0"/>
          </a:p>
        </p:txBody>
      </p:sp>
      <p:sp>
        <p:nvSpPr>
          <p:cNvPr id="14" name="Text 12"/>
          <p:cNvSpPr/>
          <p:nvPr/>
        </p:nvSpPr>
        <p:spPr>
          <a:xfrm>
            <a:off x="5219700" y="1691618"/>
            <a:ext cx="1805178"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B7C"/>
                </a:solidFill>
                <a:latin typeface="Public Sans" pitchFamily="34" charset="0"/>
                <a:ea typeface="Public Sans" pitchFamily="34" charset="-122"/>
                <a:cs typeface="Public Sans" pitchFamily="34" charset="-120"/>
              </a:rPr>
              <a:t>Vulnerabilities, assets and links</a:t>
            </a:r>
            <a:endParaRPr lang="en-US" sz="1200" dirty="0"/>
          </a:p>
        </p:txBody>
      </p:sp>
      <p:sp>
        <p:nvSpPr>
          <p:cNvPr id="15" name="Shape 13"/>
          <p:cNvSpPr/>
          <p:nvPr/>
        </p:nvSpPr>
        <p:spPr>
          <a:xfrm>
            <a:off x="7213600" y="1259818"/>
            <a:ext cx="2032000" cy="955014"/>
          </a:xfrm>
          <a:prstGeom prst="roundRect">
            <a:avLst>
              <a:gd name="adj" fmla="val 9309"/>
            </a:avLst>
          </a:prstGeom>
          <a:solidFill>
            <a:srgbClr val="FFFFFF"/>
          </a:solidFill>
          <a:ln/>
        </p:spPr>
      </p:sp>
      <p:sp>
        <p:nvSpPr>
          <p:cNvPr id="16" name="Shape 14"/>
          <p:cNvSpPr/>
          <p:nvPr/>
        </p:nvSpPr>
        <p:spPr>
          <a:xfrm>
            <a:off x="7213600" y="1259818"/>
            <a:ext cx="2032000" cy="955014"/>
          </a:xfrm>
          <a:custGeom>
            <a:avLst/>
            <a:gdLst/>
            <a:ahLst/>
            <a:cxnLst/>
            <a:rect l="l" t="t" r="r" b="b"/>
            <a:pathLst>
              <a:path w="2032000" h="955014">
                <a:moveTo>
                  <a:pt x="0" y="88900"/>
                </a:moveTo>
                <a:lnTo>
                  <a:pt x="0" y="88900"/>
                </a:lnTo>
                <a:arcTo hR="88900" wR="88900" stAng="10800000" swAng="5400000"/>
                <a:lnTo>
                  <a:pt x="1943100" y="0"/>
                </a:lnTo>
                <a:arcTo hR="88900" wR="88900" stAng="16200000" swAng="5400000"/>
                <a:lnTo>
                  <a:pt x="2032000" y="88900"/>
                </a:lnTo>
                <a:arcTo hR="50800" wR="88900" stAng="0" swAng="-5400000"/>
                <a:lnTo>
                  <a:pt x="88900" y="38100"/>
                </a:lnTo>
                <a:arcTo hR="50800" wR="88900" stAng="16200000" swAng="-5400000"/>
                <a:close/>
              </a:path>
            </a:pathLst>
          </a:custGeom>
          <a:solidFill>
            <a:srgbClr val="0072CE"/>
          </a:solidFill>
          <a:ln/>
        </p:spPr>
      </p:sp>
      <p:sp>
        <p:nvSpPr>
          <p:cNvPr id="17" name="Text 15"/>
          <p:cNvSpPr/>
          <p:nvPr/>
        </p:nvSpPr>
        <p:spPr>
          <a:xfrm>
            <a:off x="7353300" y="1424918"/>
            <a:ext cx="180517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2545"/>
                </a:solidFill>
                <a:latin typeface="Public Sans" pitchFamily="34" charset="0"/>
                <a:ea typeface="Public Sans" pitchFamily="34" charset="-122"/>
                <a:cs typeface="Public Sans" pitchFamily="34" charset="-120"/>
              </a:rPr>
              <a:t>Incidents</a:t>
            </a:r>
            <a:endParaRPr lang="en-US" sz="1500" dirty="0"/>
          </a:p>
        </p:txBody>
      </p:sp>
      <p:sp>
        <p:nvSpPr>
          <p:cNvPr id="18" name="Text 16"/>
          <p:cNvSpPr/>
          <p:nvPr/>
        </p:nvSpPr>
        <p:spPr>
          <a:xfrm>
            <a:off x="7353300" y="1691618"/>
            <a:ext cx="1805178"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B7C"/>
                </a:solidFill>
                <a:latin typeface="Public Sans" pitchFamily="34" charset="0"/>
                <a:ea typeface="Public Sans" pitchFamily="34" charset="-122"/>
                <a:cs typeface="Public Sans" pitchFamily="34" charset="-120"/>
              </a:rPr>
              <a:t>One per vulnerability, status OPEN</a:t>
            </a:r>
            <a:endParaRPr lang="en-US" sz="1200" dirty="0"/>
          </a:p>
        </p:txBody>
      </p:sp>
      <p:sp>
        <p:nvSpPr>
          <p:cNvPr id="19" name="Shape 17"/>
          <p:cNvSpPr/>
          <p:nvPr/>
        </p:nvSpPr>
        <p:spPr>
          <a:xfrm>
            <a:off x="9347200" y="1259818"/>
            <a:ext cx="2032000" cy="955014"/>
          </a:xfrm>
          <a:prstGeom prst="roundRect">
            <a:avLst>
              <a:gd name="adj" fmla="val 9309"/>
            </a:avLst>
          </a:prstGeom>
          <a:solidFill>
            <a:srgbClr val="0B2545"/>
          </a:solidFill>
          <a:ln/>
        </p:spPr>
      </p:sp>
      <p:sp>
        <p:nvSpPr>
          <p:cNvPr id="20" name="Shape 18"/>
          <p:cNvSpPr/>
          <p:nvPr/>
        </p:nvSpPr>
        <p:spPr>
          <a:xfrm>
            <a:off x="9347200" y="1259818"/>
            <a:ext cx="2032000" cy="955014"/>
          </a:xfrm>
          <a:custGeom>
            <a:avLst/>
            <a:gdLst/>
            <a:ahLst/>
            <a:cxnLst/>
            <a:rect l="l" t="t" r="r" b="b"/>
            <a:pathLst>
              <a:path w="2032000" h="955014">
                <a:moveTo>
                  <a:pt x="0" y="88900"/>
                </a:moveTo>
                <a:lnTo>
                  <a:pt x="0" y="88900"/>
                </a:lnTo>
                <a:arcTo hR="88900" wR="88900" stAng="10800000" swAng="5400000"/>
                <a:lnTo>
                  <a:pt x="1943100" y="0"/>
                </a:lnTo>
                <a:arcTo hR="88900" wR="88900" stAng="16200000" swAng="5400000"/>
                <a:lnTo>
                  <a:pt x="2032000" y="88900"/>
                </a:lnTo>
                <a:arcTo hR="50800" wR="88900" stAng="0" swAng="-5400000"/>
                <a:lnTo>
                  <a:pt x="88900" y="38100"/>
                </a:lnTo>
                <a:arcTo hR="50800" wR="88900" stAng="16200000" swAng="-5400000"/>
                <a:close/>
              </a:path>
            </a:pathLst>
          </a:custGeom>
          <a:solidFill>
            <a:srgbClr val="F5A623"/>
          </a:solidFill>
          <a:ln/>
        </p:spPr>
      </p:sp>
      <p:sp>
        <p:nvSpPr>
          <p:cNvPr id="21" name="Text 19"/>
          <p:cNvSpPr/>
          <p:nvPr/>
        </p:nvSpPr>
        <p:spPr>
          <a:xfrm>
            <a:off x="9486900" y="1424918"/>
            <a:ext cx="180517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FFFFF"/>
                </a:solidFill>
                <a:latin typeface="Public Sans" pitchFamily="34" charset="0"/>
                <a:ea typeface="Public Sans" pitchFamily="34" charset="-122"/>
                <a:cs typeface="Public Sans" pitchFamily="34" charset="-120"/>
              </a:rPr>
              <a:t>Publish</a:t>
            </a:r>
            <a:endParaRPr lang="en-US" sz="1500" dirty="0"/>
          </a:p>
        </p:txBody>
      </p:sp>
      <p:sp>
        <p:nvSpPr>
          <p:cNvPr id="22" name="Text 20"/>
          <p:cNvSpPr/>
          <p:nvPr/>
        </p:nvSpPr>
        <p:spPr>
          <a:xfrm>
            <a:off x="9486900" y="1691618"/>
            <a:ext cx="1805178"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DF2"/>
                </a:solidFill>
                <a:latin typeface="Public Sans" pitchFamily="34" charset="0"/>
                <a:ea typeface="Public Sans" pitchFamily="34" charset="-122"/>
                <a:cs typeface="Public Sans" pitchFamily="34" charset="-120"/>
              </a:rPr>
              <a:t>Events to Kafka wake the AI agents</a:t>
            </a:r>
            <a:endParaRPr lang="en-US" sz="1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825500" y="2430729"/>
          <a:ext cx="10553700" cy="1796521"/>
        </p:xfrm>
        <a:graphic>
          <a:graphicData uri="http://schemas.openxmlformats.org/drawingml/2006/table">
            <a:tbl>
              <a:tblPr/>
              <a:tblGrid>
                <a:gridCol w="4432554"/>
                <a:gridCol w="3377184"/>
                <a:gridCol w="2743962"/>
              </a:tblGrid>
              <a:tr h="359304">
                <a:tc>
                  <a:txBody>
                    <a:bodyPr/>
                    <a:lstStyle/>
                    <a:p>
                      <a:pPr indent="0" marL="0">
                        <a:lnSpc>
                          <a:spcPts val="1820"/>
                        </a:lnSpc>
                        <a:buNone/>
                      </a:pPr>
                      <a:r>
                        <a:rPr lang="en-US" sz="1300" b="1" dirty="0">
                          <a:solidFill>
                            <a:srgbClr val="0B2545"/>
                          </a:solidFill>
                          <a:latin typeface="Public Sans" pitchFamily="34" charset="0"/>
                          <a:ea typeface="Public Sans" pitchFamily="34" charset="-122"/>
                          <a:cs typeface="Public Sans" pitchFamily="34" charset="-120"/>
                        </a:rPr>
                        <a:t>Situation</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7CA"/>
                      </a:solidFill>
                      <a:prstDash val="solid"/>
                      <a:round/>
                      <a:headEnd type="none" w="med" len="med"/>
                      <a:tailEnd type="none" w="med" len="med"/>
                    </a:lnL>
                    <a:lnR w="12700" cap="flat" cmpd="sng" algn="ctr">
                      <a:solidFill>
                        <a:srgbClr val="B5B9BB"/>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B5B9BB"/>
                      </a:solidFill>
                      <a:prstDash val="solid"/>
                      <a:round/>
                      <a:headEnd type="none" w="med" len="med"/>
                      <a:tailEnd type="none" w="med" len="med"/>
                    </a:lnB>
                    <a:solidFill>
                      <a:srgbClr val="E3E7EA"/>
                    </a:solidFill>
                  </a:tcPr>
                </a:tc>
                <a:tc>
                  <a:txBody>
                    <a:bodyPr/>
                    <a:lstStyle/>
                    <a:p>
                      <a:pPr indent="0" marL="0">
                        <a:lnSpc>
                          <a:spcPts val="1820"/>
                        </a:lnSpc>
                        <a:buNone/>
                      </a:pPr>
                      <a:r>
                        <a:rPr lang="en-US" sz="1300" b="1" dirty="0">
                          <a:solidFill>
                            <a:srgbClr val="0B2545"/>
                          </a:solidFill>
                          <a:latin typeface="Public Sans" pitchFamily="34" charset="0"/>
                          <a:ea typeface="Public Sans" pitchFamily="34" charset="-122"/>
                          <a:cs typeface="Public Sans" pitchFamily="34" charset="-120"/>
                        </a:rPr>
                        <a:t>Result</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5B9BB"/>
                      </a:solidFill>
                      <a:prstDash val="solid"/>
                      <a:round/>
                      <a:headEnd type="none" w="med" len="med"/>
                      <a:tailEnd type="none" w="med" len="med"/>
                    </a:lnL>
                    <a:lnR w="12700" cap="flat" cmpd="sng" algn="ctr">
                      <a:solidFill>
                        <a:srgbClr val="B5B9BB"/>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B5B9BB"/>
                      </a:solidFill>
                      <a:prstDash val="solid"/>
                      <a:round/>
                      <a:headEnd type="none" w="med" len="med"/>
                      <a:tailEnd type="none" w="med" len="med"/>
                    </a:lnB>
                    <a:solidFill>
                      <a:srgbClr val="E3E7EA"/>
                    </a:solidFill>
                  </a:tcPr>
                </a:tc>
                <a:tc>
                  <a:txBody>
                    <a:bodyPr/>
                    <a:lstStyle/>
                    <a:p>
                      <a:pPr indent="0" marL="0">
                        <a:lnSpc>
                          <a:spcPts val="1820"/>
                        </a:lnSpc>
                        <a:buNone/>
                      </a:pPr>
                      <a:r>
                        <a:rPr lang="en-US" sz="1300" b="1" dirty="0">
                          <a:solidFill>
                            <a:srgbClr val="0B2545"/>
                          </a:solidFill>
                          <a:latin typeface="Public Sans" pitchFamily="34" charset="0"/>
                          <a:ea typeface="Public Sans" pitchFamily="34" charset="-122"/>
                          <a:cs typeface="Public Sans" pitchFamily="34" charset="-120"/>
                        </a:rPr>
                        <a:t>Kafka event</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5B9BB"/>
                      </a:solidFill>
                      <a:prstDash val="solid"/>
                      <a:round/>
                      <a:headEnd type="none" w="med" len="med"/>
                      <a:tailEnd type="none" w="med" len="med"/>
                    </a:lnL>
                    <a:lnR w="12700" cap="flat" cmpd="sng" algn="ctr">
                      <a:solidFill>
                        <a:srgbClr val="B5B9BB"/>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B5B9BB"/>
                      </a:solidFill>
                      <a:prstDash val="solid"/>
                      <a:round/>
                      <a:headEnd type="none" w="med" len="med"/>
                      <a:tailEnd type="none" w="med" len="med"/>
                    </a:lnB>
                    <a:solidFill>
                      <a:srgbClr val="E3E7EA"/>
                    </a:solidFill>
                  </a:tcPr>
                </a:tc>
              </a:tr>
              <a:tr h="359304">
                <a:tc>
                  <a:txBody>
                    <a:bodyPr/>
                    <a:lstStyle/>
                    <a:p>
                      <a:pPr indent="0" marL="0">
                        <a:lnSpc>
                          <a:spcPts val="1820"/>
                        </a:lnSpc>
                        <a:buNone/>
                      </a:pPr>
                      <a:r>
                        <a:rPr lang="en-US" sz="1300" dirty="0">
                          <a:solidFill>
                            <a:srgbClr val="0B2545"/>
                          </a:solidFill>
                          <a:latin typeface="Public Sans" pitchFamily="34" charset="0"/>
                          <a:ea typeface="Public Sans" pitchFamily="34" charset="-122"/>
                          <a:cs typeface="Public Sans" pitchFamily="34" charset="-120"/>
                        </a:rPr>
                        <a:t>No open incident yet</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B5B9BB"/>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820"/>
                        </a:lnSpc>
                        <a:buNone/>
                      </a:pPr>
                      <a:r>
                        <a:rPr lang="en-US" sz="1300" dirty="0">
                          <a:solidFill>
                            <a:srgbClr val="0B2545"/>
                          </a:solidFill>
                          <a:latin typeface="Public Sans" pitchFamily="34" charset="0"/>
                          <a:ea typeface="Public Sans" pitchFamily="34" charset="-122"/>
                          <a:cs typeface="Public Sans" pitchFamily="34" charset="-120"/>
                        </a:rPr>
                        <a:t>New incident, OPEN</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B5B9BB"/>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820"/>
                        </a:lnSpc>
                        <a:buNone/>
                      </a:pPr>
                      <a:r>
                        <a:rPr lang="en-US" sz="1300" dirty="0">
                          <a:solidFill>
                            <a:srgbClr val="0B2545"/>
                          </a:solidFill>
                          <a:latin typeface="Public Sans" pitchFamily="34" charset="0"/>
                          <a:ea typeface="Public Sans" pitchFamily="34" charset="-122"/>
                          <a:cs typeface="Public Sans" pitchFamily="34" charset="-120"/>
                        </a:rPr>
                        <a:t>incident.created</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B5B9BB"/>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r>
              <a:tr h="359304">
                <a:tc>
                  <a:txBody>
                    <a:bodyPr/>
                    <a:lstStyle/>
                    <a:p>
                      <a:pPr indent="0" marL="0">
                        <a:lnSpc>
                          <a:spcPts val="1820"/>
                        </a:lnSpc>
                        <a:buNone/>
                      </a:pPr>
                      <a:r>
                        <a:rPr lang="en-US" sz="1300" dirty="0">
                          <a:solidFill>
                            <a:srgbClr val="0B2545"/>
                          </a:solidFill>
                          <a:latin typeface="Public Sans" pitchFamily="34" charset="0"/>
                          <a:ea typeface="Public Sans" pitchFamily="34" charset="-122"/>
                          <a:cs typeface="Public Sans" pitchFamily="34" charset="-120"/>
                        </a:rPr>
                        <a:t>Earlier one RESOLVED or CLOSED</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820"/>
                        </a:lnSpc>
                        <a:buNone/>
                      </a:pPr>
                      <a:r>
                        <a:rPr lang="en-US" sz="1300" dirty="0">
                          <a:solidFill>
                            <a:srgbClr val="0B2545"/>
                          </a:solidFill>
                          <a:latin typeface="Public Sans" pitchFamily="34" charset="0"/>
                          <a:ea typeface="Public Sans" pitchFamily="34" charset="-122"/>
                          <a:cs typeface="Public Sans" pitchFamily="34" charset="-120"/>
                        </a:rPr>
                        <a:t>New incident, marked reopened</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820"/>
                        </a:lnSpc>
                        <a:buNone/>
                      </a:pPr>
                      <a:r>
                        <a:rPr lang="en-US" sz="1300" dirty="0">
                          <a:solidFill>
                            <a:srgbClr val="0B2545"/>
                          </a:solidFill>
                          <a:latin typeface="Public Sans" pitchFamily="34" charset="0"/>
                          <a:ea typeface="Public Sans" pitchFamily="34" charset="-122"/>
                          <a:cs typeface="Public Sans" pitchFamily="34" charset="-120"/>
                        </a:rPr>
                        <a:t>incident.created</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r>
              <a:tr h="359304">
                <a:tc>
                  <a:txBody>
                    <a:bodyPr/>
                    <a:lstStyle/>
                    <a:p>
                      <a:pPr indent="0" marL="0">
                        <a:lnSpc>
                          <a:spcPts val="1820"/>
                        </a:lnSpc>
                        <a:buNone/>
                      </a:pPr>
                      <a:r>
                        <a:rPr lang="en-US" sz="1300" dirty="0">
                          <a:solidFill>
                            <a:srgbClr val="0B2545"/>
                          </a:solidFill>
                          <a:latin typeface="Public Sans" pitchFamily="34" charset="0"/>
                          <a:ea typeface="Public Sans" pitchFamily="34" charset="-122"/>
                          <a:cs typeface="Public Sans" pitchFamily="34" charset="-120"/>
                        </a:rPr>
                        <a:t>Still OPEN or REJECTED, new assets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820"/>
                        </a:lnSpc>
                        <a:buNone/>
                      </a:pPr>
                      <a:r>
                        <a:rPr lang="en-US" sz="1300" dirty="0">
                          <a:solidFill>
                            <a:srgbClr val="0B2545"/>
                          </a:solidFill>
                          <a:latin typeface="Public Sans" pitchFamily="34" charset="0"/>
                          <a:ea typeface="Public Sans" pitchFamily="34" charset="-122"/>
                          <a:cs typeface="Public Sans" pitchFamily="34" charset="-120"/>
                        </a:rPr>
                        <a:t>Assets added, severity updated</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820"/>
                        </a:lnSpc>
                        <a:buNone/>
                      </a:pPr>
                      <a:r>
                        <a:rPr lang="en-US" sz="1300" dirty="0">
                          <a:solidFill>
                            <a:srgbClr val="0B2545"/>
                          </a:solidFill>
                          <a:latin typeface="Public Sans" pitchFamily="34" charset="0"/>
                          <a:ea typeface="Public Sans" pitchFamily="34" charset="-122"/>
                          <a:cs typeface="Public Sans" pitchFamily="34" charset="-120"/>
                        </a:rPr>
                        <a:t>incident.updated</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r>
              <a:tr h="359304">
                <a:tc>
                  <a:txBody>
                    <a:bodyPr/>
                    <a:lstStyle/>
                    <a:p>
                      <a:pPr indent="0" marL="0">
                        <a:lnSpc>
                          <a:spcPts val="1820"/>
                        </a:lnSpc>
                        <a:buNone/>
                      </a:pPr>
                      <a:r>
                        <a:rPr lang="en-US" sz="1300" dirty="0">
                          <a:solidFill>
                            <a:srgbClr val="0B2545"/>
                          </a:solidFill>
                          <a:latin typeface="Public Sans" pitchFamily="34" charset="0"/>
                          <a:ea typeface="Public Sans" pitchFamily="34" charset="-122"/>
                          <a:cs typeface="Public Sans" pitchFamily="34" charset="-120"/>
                        </a:rPr>
                        <a:t>Already in approval or later</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820"/>
                        </a:lnSpc>
                        <a:buNone/>
                      </a:pPr>
                      <a:r>
                        <a:rPr lang="en-US" sz="1300" dirty="0">
                          <a:solidFill>
                            <a:srgbClr val="0B2545"/>
                          </a:solidFill>
                          <a:latin typeface="Public Sans" pitchFamily="34" charset="0"/>
                          <a:ea typeface="Public Sans" pitchFamily="34" charset="-122"/>
                          <a:cs typeface="Public Sans" pitchFamily="34" charset="-120"/>
                        </a:rPr>
                        <a:t>Not changed, warning shown</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820"/>
                        </a:lnSpc>
                        <a:buNone/>
                      </a:pPr>
                      <a:r>
                        <a:rPr lang="en-US" sz="1300" dirty="0">
                          <a:solidFill>
                            <a:srgbClr val="0B2545"/>
                          </a:solidFill>
                          <a:latin typeface="Public Sans" pitchFamily="34" charset="0"/>
                          <a:ea typeface="Public Sans" pitchFamily="34" charset="-122"/>
                          <a:cs typeface="Public Sans" pitchFamily="34" charset="-120"/>
                        </a:rPr>
                        <a:t>none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r>
            </a:tbl>
          </a:graphicData>
        </a:graphic>
      </p:graphicFrame>
      <p:sp>
        <p:nvSpPr>
          <p:cNvPr id="24" name="Text 21"/>
          <p:cNvSpPr/>
          <p:nvPr/>
        </p:nvSpPr>
        <p:spPr>
          <a:xfrm>
            <a:off x="812800" y="443045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5B6B7C"/>
                </a:solidFill>
                <a:latin typeface="Public Sans" pitchFamily="34" charset="0"/>
                <a:ea typeface="Public Sans" pitchFamily="34" charset="-122"/>
                <a:cs typeface="Public Sans" pitchFamily="34" charset="-120"/>
              </a:rPr>
              <a:t>Sample run SCAN-20261025-001: 100 rows, 100 valid, 0 rejected.</a:t>
            </a:r>
            <a:endParaRPr lang="en-US" sz="1200" dirty="0"/>
          </a:p>
        </p:txBody>
      </p:sp>
      <p:sp>
        <p:nvSpPr>
          <p:cNvPr id="25" name="Text 22"/>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Bulwark | Innova Solutions</a:t>
            </a:r>
            <a:endParaRPr lang="en-US" sz="1200" dirty="0"/>
          </a:p>
        </p:txBody>
      </p:sp>
      <p:sp>
        <p:nvSpPr>
          <p:cNvPr id="26" name="Text 2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9FD"/>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2545"/>
                </a:solidFill>
                <a:latin typeface="Source Serif 4" pitchFamily="18" charset="0"/>
                <a:ea typeface="Source Serif 4" pitchFamily="18" charset="-122"/>
                <a:cs typeface="Source Serif 4" pitchFamily="18" charset="-120"/>
              </a:rPr>
              <a:t>Kafka event flow</a:t>
            </a:r>
            <a:endParaRPr lang="en-US" sz="3200" dirty="0"/>
          </a:p>
        </p:txBody>
      </p:sp>
      <p:sp>
        <p:nvSpPr>
          <p:cNvPr id="3" name="Shape 1"/>
          <p:cNvSpPr/>
          <p:nvPr/>
        </p:nvSpPr>
        <p:spPr>
          <a:xfrm>
            <a:off x="812800" y="1285218"/>
            <a:ext cx="3420533" cy="2489068"/>
          </a:xfrm>
          <a:prstGeom prst="roundRect">
            <a:avLst>
              <a:gd name="adj" fmla="val 4082"/>
            </a:avLst>
          </a:prstGeom>
          <a:solidFill>
            <a:srgbClr val="FFFFFF"/>
          </a:solidFill>
          <a:ln/>
        </p:spPr>
      </p:sp>
      <p:sp>
        <p:nvSpPr>
          <p:cNvPr id="4" name="Shape 2"/>
          <p:cNvSpPr/>
          <p:nvPr/>
        </p:nvSpPr>
        <p:spPr>
          <a:xfrm>
            <a:off x="812800" y="1285218"/>
            <a:ext cx="3420533" cy="2489068"/>
          </a:xfrm>
          <a:custGeom>
            <a:avLst/>
            <a:gdLst/>
            <a:ahLst/>
            <a:cxnLst/>
            <a:rect l="l" t="t" r="r" b="b"/>
            <a:pathLst>
              <a:path w="3420533" h="2489068">
                <a:moveTo>
                  <a:pt x="0" y="101600"/>
                </a:moveTo>
                <a:lnTo>
                  <a:pt x="0" y="101600"/>
                </a:lnTo>
                <a:arcTo hR="101600" wR="101600" stAng="10800000" swAng="5400000"/>
                <a:lnTo>
                  <a:pt x="3318933" y="0"/>
                </a:lnTo>
                <a:arcTo hR="101600" wR="101600" stAng="16200000" swAng="5400000"/>
                <a:lnTo>
                  <a:pt x="3420533" y="101600"/>
                </a:lnTo>
                <a:arcTo hR="63500" wR="101600" stAng="0" swAng="-5400000"/>
                <a:lnTo>
                  <a:pt x="101600" y="38100"/>
                </a:lnTo>
                <a:arcTo hR="63500" wR="101600" stAng="16200000" swAng="-5400000"/>
                <a:close/>
              </a:path>
            </a:pathLst>
          </a:custGeom>
          <a:solidFill>
            <a:srgbClr val="0072CE"/>
          </a:solidFill>
          <a:ln/>
        </p:spPr>
      </p:sp>
      <p:sp>
        <p:nvSpPr>
          <p:cNvPr id="5" name="Text 3"/>
          <p:cNvSpPr/>
          <p:nvPr/>
        </p:nvSpPr>
        <p:spPr>
          <a:xfrm>
            <a:off x="1016000" y="1526518"/>
            <a:ext cx="3104557"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072CE"/>
                </a:solidFill>
                <a:latin typeface="Public Sans" pitchFamily="34" charset="0"/>
                <a:ea typeface="Public Sans" pitchFamily="34" charset="-122"/>
                <a:cs typeface="Public Sans" pitchFamily="34" charset="-120"/>
              </a:rPr>
              <a:t>Topics</a:t>
            </a:r>
            <a:endParaRPr lang="en-US" sz="1700" dirty="0"/>
          </a:p>
        </p:txBody>
      </p:sp>
      <p:sp>
        <p:nvSpPr>
          <p:cNvPr id="6" name="Text 4"/>
          <p:cNvSpPr/>
          <p:nvPr/>
        </p:nvSpPr>
        <p:spPr>
          <a:xfrm>
            <a:off x="1016000" y="1874441"/>
            <a:ext cx="3104557" cy="693936"/>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0B2545"/>
                </a:solidFill>
                <a:latin typeface="Public Sans" pitchFamily="34" charset="0"/>
                <a:ea typeface="Public Sans" pitchFamily="34" charset="-122"/>
                <a:cs typeface="Public Sans" pitchFamily="34" charset="-120"/>
              </a:rPr>
              <a:t>bulwark.incidents</a:t>
            </a:r>
            <a:endParaRPr lang="en-US" sz="1300" dirty="0"/>
          </a:p>
          <a:p>
            <a:pPr algn="l" indent="0" marL="0">
              <a:lnSpc>
                <a:spcPts val="1755"/>
              </a:lnSpc>
              <a:buNone/>
            </a:pPr>
            <a:r>
              <a:rPr lang="en-US" sz="1300" dirty="0">
                <a:solidFill>
                  <a:srgbClr val="0B2545"/>
                </a:solidFill>
                <a:latin typeface="Public Sans" pitchFamily="34" charset="0"/>
                <a:ea typeface="Public Sans" pitchFamily="34" charset="-122"/>
                <a:cs typeface="Public Sans" pitchFamily="34" charset="-120"/>
              </a:rPr>
              <a:t>created and updated events, keyed by incident id</a:t>
            </a:r>
            <a:endParaRPr lang="en-US" sz="1300" dirty="0"/>
          </a:p>
        </p:txBody>
      </p:sp>
      <p:sp>
        <p:nvSpPr>
          <p:cNvPr id="7" name="Text 5"/>
          <p:cNvSpPr/>
          <p:nvPr/>
        </p:nvSpPr>
        <p:spPr>
          <a:xfrm>
            <a:off x="1016000" y="2631877"/>
            <a:ext cx="3104557" cy="693936"/>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0B2545"/>
                </a:solidFill>
                <a:latin typeface="Public Sans" pitchFamily="34" charset="0"/>
                <a:ea typeface="Public Sans" pitchFamily="34" charset="-122"/>
                <a:cs typeface="Public Sans" pitchFamily="34" charset="-120"/>
              </a:rPr>
              <a:t>bulwark.scans.completed</a:t>
            </a:r>
            <a:endParaRPr lang="en-US" sz="1300" dirty="0"/>
          </a:p>
          <a:p>
            <a:pPr algn="l" indent="0" marL="0">
              <a:lnSpc>
                <a:spcPts val="1755"/>
              </a:lnSpc>
              <a:buNone/>
            </a:pPr>
            <a:r>
              <a:rPr lang="en-US" sz="1300" dirty="0">
                <a:solidFill>
                  <a:srgbClr val="0B2545"/>
                </a:solidFill>
                <a:latin typeface="Public Sans" pitchFamily="34" charset="0"/>
                <a:ea typeface="Public Sans" pitchFamily="34" charset="-122"/>
                <a:cs typeface="Public Sans" pitchFamily="34" charset="-120"/>
              </a:rPr>
              <a:t>one summary per scan, sent after every incident event is acknowledged</a:t>
            </a:r>
            <a:endParaRPr lang="en-US" sz="1300" dirty="0"/>
          </a:p>
        </p:txBody>
      </p:sp>
      <p:sp>
        <p:nvSpPr>
          <p:cNvPr id="8" name="Shape 6"/>
          <p:cNvSpPr/>
          <p:nvPr/>
        </p:nvSpPr>
        <p:spPr>
          <a:xfrm>
            <a:off x="4385733" y="1285218"/>
            <a:ext cx="3420533" cy="2489068"/>
          </a:xfrm>
          <a:prstGeom prst="roundRect">
            <a:avLst>
              <a:gd name="adj" fmla="val 4082"/>
            </a:avLst>
          </a:prstGeom>
          <a:solidFill>
            <a:srgbClr val="FFFFFF"/>
          </a:solidFill>
          <a:ln/>
        </p:spPr>
      </p:sp>
      <p:sp>
        <p:nvSpPr>
          <p:cNvPr id="9" name="Shape 7"/>
          <p:cNvSpPr/>
          <p:nvPr/>
        </p:nvSpPr>
        <p:spPr>
          <a:xfrm>
            <a:off x="4385733" y="1285218"/>
            <a:ext cx="3420533" cy="2489068"/>
          </a:xfrm>
          <a:custGeom>
            <a:avLst/>
            <a:gdLst/>
            <a:ahLst/>
            <a:cxnLst/>
            <a:rect l="l" t="t" r="r" b="b"/>
            <a:pathLst>
              <a:path w="3420533" h="2489068">
                <a:moveTo>
                  <a:pt x="0" y="101600"/>
                </a:moveTo>
                <a:lnTo>
                  <a:pt x="0" y="101600"/>
                </a:lnTo>
                <a:arcTo hR="101600" wR="101600" stAng="10800000" swAng="5400000"/>
                <a:lnTo>
                  <a:pt x="3318933" y="0"/>
                </a:lnTo>
                <a:arcTo hR="101600" wR="101600" stAng="16200000" swAng="5400000"/>
                <a:lnTo>
                  <a:pt x="3420533" y="101600"/>
                </a:lnTo>
                <a:arcTo hR="63500" wR="101600" stAng="0" swAng="-5400000"/>
                <a:lnTo>
                  <a:pt x="101600" y="38100"/>
                </a:lnTo>
                <a:arcTo hR="63500" wR="101600" stAng="16200000" swAng="-5400000"/>
                <a:close/>
              </a:path>
            </a:pathLst>
          </a:custGeom>
          <a:solidFill>
            <a:srgbClr val="0072CE"/>
          </a:solidFill>
          <a:ln/>
        </p:spPr>
      </p:sp>
      <p:sp>
        <p:nvSpPr>
          <p:cNvPr id="10" name="Text 8"/>
          <p:cNvSpPr/>
          <p:nvPr/>
        </p:nvSpPr>
        <p:spPr>
          <a:xfrm>
            <a:off x="4588933" y="1526518"/>
            <a:ext cx="3104557"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072CE"/>
                </a:solidFill>
                <a:latin typeface="Public Sans" pitchFamily="34" charset="0"/>
                <a:ea typeface="Public Sans" pitchFamily="34" charset="-122"/>
                <a:cs typeface="Public Sans" pitchFamily="34" charset="-120"/>
              </a:rPr>
              <a:t>Event types</a:t>
            </a:r>
            <a:endParaRPr lang="en-US" sz="1700" dirty="0"/>
          </a:p>
        </p:txBody>
      </p:sp>
      <p:sp>
        <p:nvSpPr>
          <p:cNvPr id="11" name="Text 9"/>
          <p:cNvSpPr/>
          <p:nvPr/>
        </p:nvSpPr>
        <p:spPr>
          <a:xfrm>
            <a:off x="4686977" y="1874441"/>
            <a:ext cx="2998893" cy="1016000"/>
          </a:xfrm>
          <a:prstGeom prst="rect">
            <a:avLst/>
          </a:prstGeom>
          <a:noFill/>
          <a:ln/>
        </p:spPr>
        <p:txBody>
          <a:bodyPr wrap="square" lIns="0" tIns="0" rIns="0" bIns="0" rtlCol="0" anchor="t">
            <a:normAutofit/>
          </a:bodyPr>
          <a:lstStyle/>
          <a:p>
            <a:pPr algn="l" marL="155956" indent="-155956">
              <a:lnSpc>
                <a:spcPts val="1950"/>
              </a:lnSpc>
              <a:buSzPct val="100000"/>
              <a:buChar char="•"/>
            </a:pPr>
            <a:r>
              <a:rPr lang="en-US" sz="1300" dirty="0">
                <a:solidFill>
                  <a:srgbClr val="0B2545"/>
                </a:solidFill>
                <a:latin typeface="Public Sans" pitchFamily="34" charset="0"/>
                <a:ea typeface="Public Sans" pitchFamily="34" charset="-122"/>
                <a:cs typeface="Public Sans" pitchFamily="34" charset="-120"/>
              </a:rPr>
              <a:t>incident.created</a:t>
            </a:r>
            <a:endParaRPr lang="en-US" sz="1300" dirty="0"/>
          </a:p>
          <a:p>
            <a:pPr algn="l" marL="155956" indent="-155956">
              <a:lnSpc>
                <a:spcPts val="1950"/>
              </a:lnSpc>
              <a:buSzPct val="100000"/>
              <a:buChar char="•"/>
            </a:pPr>
            <a:r>
              <a:rPr lang="en-US" sz="1300" dirty="0">
                <a:solidFill>
                  <a:srgbClr val="0B2545"/>
                </a:solidFill>
                <a:latin typeface="Public Sans" pitchFamily="34" charset="0"/>
                <a:ea typeface="Public Sans" pitchFamily="34" charset="-122"/>
                <a:cs typeface="Public Sans" pitchFamily="34" charset="-120"/>
              </a:rPr>
              <a:t>incident.updated</a:t>
            </a:r>
            <a:endParaRPr lang="en-US" sz="1300" dirty="0"/>
          </a:p>
          <a:p>
            <a:pPr algn="l" marL="155956" indent="-155956">
              <a:lnSpc>
                <a:spcPts val="1950"/>
              </a:lnSpc>
              <a:buSzPct val="100000"/>
              <a:buChar char="•"/>
            </a:pPr>
            <a:r>
              <a:rPr lang="en-US" sz="1300" dirty="0">
                <a:solidFill>
                  <a:srgbClr val="0B2545"/>
                </a:solidFill>
                <a:latin typeface="Public Sans" pitchFamily="34" charset="0"/>
                <a:ea typeface="Public Sans" pitchFamily="34" charset="-122"/>
                <a:cs typeface="Public Sans" pitchFamily="34" charset="-120"/>
              </a:rPr>
              <a:t>incident.unchanged (optional)</a:t>
            </a:r>
            <a:endParaRPr lang="en-US" sz="1300" dirty="0"/>
          </a:p>
          <a:p>
            <a:pPr algn="l" marL="155956" indent="-155956">
              <a:lnSpc>
                <a:spcPts val="1950"/>
              </a:lnSpc>
              <a:buSzPct val="100000"/>
              <a:buChar char="•"/>
            </a:pPr>
            <a:r>
              <a:rPr lang="en-US" sz="1300" dirty="0">
                <a:solidFill>
                  <a:srgbClr val="0B2545"/>
                </a:solidFill>
                <a:latin typeface="Public Sans" pitchFamily="34" charset="0"/>
                <a:ea typeface="Public Sans" pitchFamily="34" charset="-122"/>
                <a:cs typeface="Public Sans" pitchFamily="34" charset="-120"/>
              </a:rPr>
              <a:t>scan.completed</a:t>
            </a:r>
            <a:endParaRPr lang="en-US" sz="1300" dirty="0"/>
          </a:p>
        </p:txBody>
      </p:sp>
      <p:sp>
        <p:nvSpPr>
          <p:cNvPr id="12" name="Text 10"/>
          <p:cNvSpPr/>
          <p:nvPr/>
        </p:nvSpPr>
        <p:spPr>
          <a:xfrm>
            <a:off x="4588933" y="2953941"/>
            <a:ext cx="3104557"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B6B7C"/>
                </a:solidFill>
                <a:latin typeface="Public Sans" pitchFamily="34" charset="0"/>
                <a:ea typeface="Public Sans" pitchFamily="34" charset="-122"/>
                <a:cs typeface="Public Sans" pitchFamily="34" charset="-120"/>
              </a:rPr>
              <a:t>Each event carries the incident, vulnerability, detection and impacted assets.</a:t>
            </a:r>
            <a:endParaRPr lang="en-US" sz="1200" dirty="0"/>
          </a:p>
        </p:txBody>
      </p:sp>
      <p:sp>
        <p:nvSpPr>
          <p:cNvPr id="13" name="Shape 11"/>
          <p:cNvSpPr/>
          <p:nvPr/>
        </p:nvSpPr>
        <p:spPr>
          <a:xfrm>
            <a:off x="7958667" y="1285218"/>
            <a:ext cx="3420533" cy="2489068"/>
          </a:xfrm>
          <a:prstGeom prst="roundRect">
            <a:avLst>
              <a:gd name="adj" fmla="val 4082"/>
            </a:avLst>
          </a:prstGeom>
          <a:solidFill>
            <a:srgbClr val="FFFFFF"/>
          </a:solidFill>
          <a:ln/>
        </p:spPr>
      </p:sp>
      <p:sp>
        <p:nvSpPr>
          <p:cNvPr id="14" name="Shape 12"/>
          <p:cNvSpPr/>
          <p:nvPr/>
        </p:nvSpPr>
        <p:spPr>
          <a:xfrm>
            <a:off x="7958667" y="1285218"/>
            <a:ext cx="3420533" cy="2489068"/>
          </a:xfrm>
          <a:custGeom>
            <a:avLst/>
            <a:gdLst/>
            <a:ahLst/>
            <a:cxnLst/>
            <a:rect l="l" t="t" r="r" b="b"/>
            <a:pathLst>
              <a:path w="3420533" h="2489068">
                <a:moveTo>
                  <a:pt x="0" y="101600"/>
                </a:moveTo>
                <a:lnTo>
                  <a:pt x="0" y="101600"/>
                </a:lnTo>
                <a:arcTo hR="101600" wR="101600" stAng="10800000" swAng="5400000"/>
                <a:lnTo>
                  <a:pt x="3318933" y="0"/>
                </a:lnTo>
                <a:arcTo hR="101600" wR="101600" stAng="16200000" swAng="5400000"/>
                <a:lnTo>
                  <a:pt x="3420533" y="101600"/>
                </a:lnTo>
                <a:arcTo hR="63500" wR="101600" stAng="0" swAng="-5400000"/>
                <a:lnTo>
                  <a:pt x="101600" y="38100"/>
                </a:lnTo>
                <a:arcTo hR="63500" wR="101600" stAng="16200000" swAng="-5400000"/>
                <a:close/>
              </a:path>
            </a:pathLst>
          </a:custGeom>
          <a:solidFill>
            <a:srgbClr val="0072CE"/>
          </a:solidFill>
          <a:ln/>
        </p:spPr>
      </p:sp>
      <p:sp>
        <p:nvSpPr>
          <p:cNvPr id="15" name="Text 13"/>
          <p:cNvSpPr/>
          <p:nvPr/>
        </p:nvSpPr>
        <p:spPr>
          <a:xfrm>
            <a:off x="8161867" y="1526518"/>
            <a:ext cx="3104557"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072CE"/>
                </a:solidFill>
                <a:latin typeface="Public Sans" pitchFamily="34" charset="0"/>
                <a:ea typeface="Public Sans" pitchFamily="34" charset="-122"/>
                <a:cs typeface="Public Sans" pitchFamily="34" charset="-120"/>
              </a:rPr>
              <a:t>Delivery guarantees</a:t>
            </a:r>
            <a:endParaRPr lang="en-US" sz="1700" dirty="0"/>
          </a:p>
        </p:txBody>
      </p:sp>
      <p:sp>
        <p:nvSpPr>
          <p:cNvPr id="16" name="Text 14"/>
          <p:cNvSpPr/>
          <p:nvPr/>
        </p:nvSpPr>
        <p:spPr>
          <a:xfrm>
            <a:off x="8259911" y="1874441"/>
            <a:ext cx="2998893" cy="1412081"/>
          </a:xfrm>
          <a:prstGeom prst="rect">
            <a:avLst/>
          </a:prstGeom>
          <a:noFill/>
          <a:ln/>
        </p:spPr>
        <p:txBody>
          <a:bodyPr wrap="square" lIns="0" tIns="0" rIns="0" bIns="0" rtlCol="0" anchor="t">
            <a:normAutofit/>
          </a:bodyPr>
          <a:lstStyle/>
          <a:p>
            <a:pPr algn="l" marL="155956" indent="-155956">
              <a:lnSpc>
                <a:spcPts val="1820"/>
              </a:lnSpc>
              <a:buSzPct val="100000"/>
              <a:buChar char="•"/>
            </a:pPr>
            <a:r>
              <a:rPr lang="en-US" sz="1300" dirty="0">
                <a:solidFill>
                  <a:srgbClr val="0B2545"/>
                </a:solidFill>
                <a:latin typeface="Public Sans" pitchFamily="34" charset="0"/>
                <a:ea typeface="Public Sans" pitchFamily="34" charset="-122"/>
                <a:cs typeface="Public Sans" pitchFamily="34" charset="-120"/>
              </a:rPr>
              <a:t>Idempotent producer, acks=all</a:t>
            </a:r>
            <a:endParaRPr lang="en-US" sz="1300" dirty="0"/>
          </a:p>
          <a:p>
            <a:pPr algn="l" marL="155956" indent="-155956">
              <a:lnSpc>
                <a:spcPts val="1820"/>
              </a:lnSpc>
              <a:buSzPct val="100000"/>
              <a:buChar char="•"/>
            </a:pPr>
            <a:r>
              <a:rPr lang="en-US" sz="1300" dirty="0">
                <a:solidFill>
                  <a:srgbClr val="0B2545"/>
                </a:solidFill>
                <a:latin typeface="Public Sans" pitchFamily="34" charset="0"/>
                <a:ea typeface="Public Sans" pitchFamily="34" charset="-122"/>
                <a:cs typeface="Public Sans" pitchFamily="34" charset="-120"/>
              </a:rPr>
              <a:t>Kafka down: the file stays and the next run re-sends</a:t>
            </a:r>
            <a:endParaRPr lang="en-US" sz="1300" dirty="0"/>
          </a:p>
          <a:p>
            <a:pPr algn="l" marL="155956" indent="-155956">
              <a:lnSpc>
                <a:spcPts val="1820"/>
              </a:lnSpc>
              <a:buSzPct val="100000"/>
              <a:buChar char="•"/>
            </a:pPr>
            <a:r>
              <a:rPr lang="en-US" sz="1300" dirty="0">
                <a:solidFill>
                  <a:srgbClr val="0B2545"/>
                </a:solidFill>
                <a:latin typeface="Public Sans" pitchFamily="34" charset="0"/>
                <a:ea typeface="Public Sans" pitchFamily="34" charset="-122"/>
                <a:cs typeface="Public Sans" pitchFamily="34" charset="-120"/>
              </a:rPr>
              <a:t>At-least-once; consumers skip repeats by event_id</a:t>
            </a:r>
            <a:endParaRPr lang="en-US" sz="1300" dirty="0"/>
          </a:p>
          <a:p>
            <a:pPr algn="l" marL="155956" indent="-155956">
              <a:lnSpc>
                <a:spcPts val="1820"/>
              </a:lnSpc>
              <a:buSzPct val="100000"/>
              <a:buChar char="•"/>
            </a:pPr>
            <a:r>
              <a:rPr lang="en-US" sz="1300" dirty="0">
                <a:solidFill>
                  <a:srgbClr val="0B2545"/>
                </a:solidFill>
                <a:latin typeface="Public Sans" pitchFamily="34" charset="0"/>
                <a:ea typeface="Public Sans" pitchFamily="34" charset="-122"/>
                <a:cs typeface="Public Sans" pitchFamily="34" charset="-120"/>
              </a:rPr>
              <a:t>One ingestor at a time</a:t>
            </a:r>
            <a:endParaRPr lang="en-US" sz="1300" dirty="0"/>
          </a:p>
        </p:txBody>
      </p:sp>
      <p:sp>
        <p:nvSpPr>
          <p:cNvPr id="17" name="Text 15"/>
          <p:cNvSpPr/>
          <p:nvPr/>
        </p:nvSpPr>
        <p:spPr>
          <a:xfrm>
            <a:off x="812800" y="4002881"/>
            <a:ext cx="10566400" cy="802614"/>
          </a:xfrm>
          <a:prstGeom prst="roundRect">
            <a:avLst>
              <a:gd name="adj" fmla="val 12659"/>
            </a:avLst>
          </a:prstGeom>
          <a:solidFill>
            <a:srgbClr val="FEF3DD"/>
          </a:solidFill>
          <a:ln/>
        </p:spPr>
        <p:txBody>
          <a:bodyPr wrap="square" lIns="249642" tIns="122642" rIns="0" bIns="97242" rtlCol="0" anchor="t">
            <a:normAutofit/>
          </a:bodyPr>
          <a:lstStyle/>
          <a:p>
            <a:pPr algn="l" indent="0" marL="0">
              <a:lnSpc>
                <a:spcPts val="1960"/>
              </a:lnSpc>
              <a:buNone/>
            </a:pPr>
            <a:r>
              <a:rPr lang="en-US" sz="1400" b="1" dirty="0">
                <a:solidFill>
                  <a:srgbClr val="0B2545"/>
                </a:solidFill>
                <a:latin typeface="Public Sans" pitchFamily="34" charset="0"/>
                <a:ea typeface="Public Sans" pitchFamily="34" charset="-122"/>
                <a:cs typeface="Public Sans" pitchFamily="34" charset="-120"/>
              </a:rPr>
              <a:t>Who listens:</a:t>
            </a:r>
            <a:r>
              <a:rPr lang="en-US" sz="1400" dirty="0">
                <a:solidFill>
                  <a:srgbClr val="0B2545"/>
                </a:solidFill>
                <a:latin typeface="Public Sans" pitchFamily="34" charset="0"/>
                <a:ea typeface="Public Sans" pitchFamily="34" charset="-122"/>
                <a:cs typeface="Public Sans" pitchFamily="34" charset="-120"/>
              </a:rPr>
              <a:t> the recommender agents consume </a:t>
            </a:r>
            <a:r>
              <a:rPr lang="en-US" sz="1400" b="1" dirty="0">
                <a:solidFill>
                  <a:srgbClr val="0B2545"/>
                </a:solidFill>
                <a:latin typeface="Public Sans" pitchFamily="34" charset="0"/>
                <a:ea typeface="Public Sans" pitchFamily="34" charset="-122"/>
                <a:cs typeface="Public Sans" pitchFamily="34" charset="-120"/>
              </a:rPr>
              <a:t>bulwark.incidents</a:t>
            </a:r>
            <a:r>
              <a:rPr lang="en-US" sz="1400" dirty="0">
                <a:solidFill>
                  <a:srgbClr val="0B2545"/>
                </a:solidFill>
                <a:latin typeface="Public Sans" pitchFamily="34" charset="0"/>
                <a:ea typeface="Public Sans" pitchFamily="34" charset="-122"/>
                <a:cs typeface="Public Sans" pitchFamily="34" charset="-120"/>
              </a:rPr>
              <a:t>, so every new incident gets suggestions without anyone asking.</a:t>
            </a:r>
            <a:endParaRPr lang="en-US" sz="1400" dirty="0"/>
          </a:p>
        </p:txBody>
      </p:sp>
      <p:sp>
        <p:nvSpPr>
          <p:cNvPr id="18" name="Shape 16"/>
          <p:cNvSpPr/>
          <p:nvPr/>
        </p:nvSpPr>
        <p:spPr>
          <a:xfrm>
            <a:off x="812800" y="4002881"/>
            <a:ext cx="10566400" cy="802614"/>
          </a:xfrm>
          <a:custGeom>
            <a:avLst/>
            <a:gdLst/>
            <a:ahLst/>
            <a:cxnLst/>
            <a:rect l="l" t="t" r="r" b="b"/>
            <a:pathLst>
              <a:path w="10566400" h="802614">
                <a:moveTo>
                  <a:pt x="101600" y="802614"/>
                </a:moveTo>
                <a:lnTo>
                  <a:pt x="101600" y="802614"/>
                </a:lnTo>
                <a:arcTo hR="101600" wR="101600" stAng="5400000" swAng="5400000"/>
                <a:lnTo>
                  <a:pt x="0" y="101600"/>
                </a:lnTo>
                <a:arcTo hR="101600" wR="101600" stAng="10800000" swAng="5400000"/>
                <a:lnTo>
                  <a:pt x="101600" y="0"/>
                </a:lnTo>
                <a:arcTo hR="101600" wR="50800" stAng="16200000" swAng="-5400000"/>
                <a:lnTo>
                  <a:pt x="50800" y="701014"/>
                </a:lnTo>
                <a:arcTo hR="101600" wR="50800" stAng="10800000" swAng="-5400000"/>
                <a:close/>
              </a:path>
            </a:pathLst>
          </a:custGeom>
          <a:solidFill>
            <a:srgbClr val="F5A623"/>
          </a:solidFill>
          <a:ln/>
        </p:spPr>
      </p:sp>
      <p:sp>
        <p:nvSpPr>
          <p:cNvPr id="19" name="Text 17"/>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Bulwark | Innova Solutions</a:t>
            </a:r>
            <a:endParaRPr lang="en-US" sz="1200" dirty="0"/>
          </a:p>
        </p:txBody>
      </p:sp>
      <p:sp>
        <p:nvSpPr>
          <p:cNvPr id="20" name="Text 1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9FD"/>
        </a:solidFill>
      </p:bgPr>
    </p:bg>
    <p:spTree>
      <p:nvGrpSpPr>
        <p:cNvPr id="1" name=""/>
        <p:cNvGrpSpPr/>
        <p:nvPr/>
      </p:nvGrpSpPr>
      <p:grpSpPr>
        <a:xfrm>
          <a:off x="0" y="0"/>
          <a:ext cx="0" cy="0"/>
          <a:chOff x="0" y="0"/>
          <a:chExt cx="0" cy="0"/>
        </a:xfrm>
      </p:grpSpPr>
      <p:sp>
        <p:nvSpPr>
          <p:cNvPr id="2" name="Text 0"/>
          <p:cNvSpPr/>
          <p:nvPr/>
        </p:nvSpPr>
        <p:spPr>
          <a:xfrm>
            <a:off x="812800" y="6096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B26A00"/>
                </a:solidFill>
                <a:latin typeface="Public Sans" pitchFamily="34" charset="0"/>
                <a:ea typeface="Public Sans" pitchFamily="34" charset="-122"/>
                <a:cs typeface="Public Sans" pitchFamily="34" charset="-120"/>
              </a:rPr>
              <a:t>AI AGENT 1</a:t>
            </a:r>
            <a:endParaRPr lang="en-US" sz="1300" dirty="0"/>
          </a:p>
        </p:txBody>
      </p:sp>
      <p:sp>
        <p:nvSpPr>
          <p:cNvPr id="3" name="Text 1"/>
          <p:cNvSpPr/>
          <p:nvPr>
            <p:ph type="title"/>
          </p:nvPr>
        </p:nvSpPr>
        <p:spPr>
          <a:xfrm>
            <a:off x="812800" y="891518"/>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2545"/>
                </a:solidFill>
                <a:latin typeface="Source Serif 4" pitchFamily="18" charset="0"/>
                <a:ea typeface="Source Serif 4" pitchFamily="18" charset="-122"/>
                <a:cs typeface="Source Serif 4" pitchFamily="18" charset="-120"/>
              </a:rPr>
              <a:t>Finding similar incidents</a:t>
            </a:r>
            <a:endParaRPr lang="en-US" sz="3200" dirty="0"/>
          </a:p>
        </p:txBody>
      </p:sp>
      <p:sp>
        <p:nvSpPr>
          <p:cNvPr id="4" name="Shape 2"/>
          <p:cNvSpPr/>
          <p:nvPr/>
        </p:nvSpPr>
        <p:spPr>
          <a:xfrm>
            <a:off x="812800" y="1541729"/>
            <a:ext cx="2032000" cy="939734"/>
          </a:xfrm>
          <a:prstGeom prst="roundRect">
            <a:avLst>
              <a:gd name="adj" fmla="val 9460"/>
            </a:avLst>
          </a:prstGeom>
          <a:solidFill>
            <a:srgbClr val="FFFFFF"/>
          </a:solidFill>
          <a:ln/>
        </p:spPr>
      </p:sp>
      <p:sp>
        <p:nvSpPr>
          <p:cNvPr id="5" name="Shape 3"/>
          <p:cNvSpPr/>
          <p:nvPr/>
        </p:nvSpPr>
        <p:spPr>
          <a:xfrm>
            <a:off x="812800" y="1541729"/>
            <a:ext cx="2032000" cy="939734"/>
          </a:xfrm>
          <a:custGeom>
            <a:avLst/>
            <a:gdLst/>
            <a:ahLst/>
            <a:cxnLst/>
            <a:rect l="l" t="t" r="r" b="b"/>
            <a:pathLst>
              <a:path w="2032000" h="939734">
                <a:moveTo>
                  <a:pt x="0" y="88900"/>
                </a:moveTo>
                <a:lnTo>
                  <a:pt x="0" y="88900"/>
                </a:lnTo>
                <a:arcTo hR="88900" wR="88900" stAng="10800000" swAng="5400000"/>
                <a:lnTo>
                  <a:pt x="1943100" y="0"/>
                </a:lnTo>
                <a:arcTo hR="88900" wR="88900" stAng="16200000" swAng="5400000"/>
                <a:lnTo>
                  <a:pt x="2032000" y="88900"/>
                </a:lnTo>
                <a:arcTo hR="50800" wR="88900" stAng="0" swAng="-5400000"/>
                <a:lnTo>
                  <a:pt x="88900" y="38100"/>
                </a:lnTo>
                <a:arcTo hR="50800" wR="88900" stAng="16200000" swAng="-5400000"/>
                <a:close/>
              </a:path>
            </a:pathLst>
          </a:custGeom>
          <a:solidFill>
            <a:srgbClr val="0072CE"/>
          </a:solidFill>
          <a:ln/>
        </p:spPr>
      </p:sp>
      <p:sp>
        <p:nvSpPr>
          <p:cNvPr id="6" name="Text 4"/>
          <p:cNvSpPr/>
          <p:nvPr/>
        </p:nvSpPr>
        <p:spPr>
          <a:xfrm>
            <a:off x="952500" y="1706829"/>
            <a:ext cx="180517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B2545"/>
                </a:solidFill>
                <a:latin typeface="Public Sans" pitchFamily="34" charset="0"/>
                <a:ea typeface="Public Sans" pitchFamily="34" charset="-122"/>
                <a:cs typeface="Public Sans" pitchFamily="34" charset="-120"/>
              </a:rPr>
              <a:t>1. Listen</a:t>
            </a:r>
            <a:endParaRPr lang="en-US" sz="1400" dirty="0"/>
          </a:p>
        </p:txBody>
      </p:sp>
      <p:sp>
        <p:nvSpPr>
          <p:cNvPr id="7" name="Text 5"/>
          <p:cNvSpPr/>
          <p:nvPr/>
        </p:nvSpPr>
        <p:spPr>
          <a:xfrm>
            <a:off x="952500" y="1958249"/>
            <a:ext cx="1805178"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B7C"/>
                </a:solidFill>
                <a:latin typeface="Public Sans" pitchFamily="34" charset="0"/>
                <a:ea typeface="Public Sans" pitchFamily="34" charset="-122"/>
                <a:cs typeface="Public Sans" pitchFamily="34" charset="-120"/>
              </a:rPr>
              <a:t>New or updated incident arrives from Kafka</a:t>
            </a:r>
            <a:endParaRPr lang="en-US" sz="1200" dirty="0"/>
          </a:p>
        </p:txBody>
      </p:sp>
      <p:sp>
        <p:nvSpPr>
          <p:cNvPr id="8" name="Shape 6"/>
          <p:cNvSpPr/>
          <p:nvPr/>
        </p:nvSpPr>
        <p:spPr>
          <a:xfrm>
            <a:off x="2946400" y="1541729"/>
            <a:ext cx="2032000" cy="939734"/>
          </a:xfrm>
          <a:prstGeom prst="roundRect">
            <a:avLst>
              <a:gd name="adj" fmla="val 9460"/>
            </a:avLst>
          </a:prstGeom>
          <a:solidFill>
            <a:srgbClr val="FFFFFF"/>
          </a:solidFill>
          <a:ln/>
        </p:spPr>
      </p:sp>
      <p:sp>
        <p:nvSpPr>
          <p:cNvPr id="9" name="Shape 7"/>
          <p:cNvSpPr/>
          <p:nvPr/>
        </p:nvSpPr>
        <p:spPr>
          <a:xfrm>
            <a:off x="2946400" y="1541729"/>
            <a:ext cx="2032000" cy="939734"/>
          </a:xfrm>
          <a:custGeom>
            <a:avLst/>
            <a:gdLst/>
            <a:ahLst/>
            <a:cxnLst/>
            <a:rect l="l" t="t" r="r" b="b"/>
            <a:pathLst>
              <a:path w="2032000" h="939734">
                <a:moveTo>
                  <a:pt x="0" y="88900"/>
                </a:moveTo>
                <a:lnTo>
                  <a:pt x="0" y="88900"/>
                </a:lnTo>
                <a:arcTo hR="88900" wR="88900" stAng="10800000" swAng="5400000"/>
                <a:lnTo>
                  <a:pt x="1943100" y="0"/>
                </a:lnTo>
                <a:arcTo hR="88900" wR="88900" stAng="16200000" swAng="5400000"/>
                <a:lnTo>
                  <a:pt x="2032000" y="88900"/>
                </a:lnTo>
                <a:arcTo hR="50800" wR="88900" stAng="0" swAng="-5400000"/>
                <a:lnTo>
                  <a:pt x="88900" y="38100"/>
                </a:lnTo>
                <a:arcTo hR="50800" wR="88900" stAng="16200000" swAng="-5400000"/>
                <a:close/>
              </a:path>
            </a:pathLst>
          </a:custGeom>
          <a:solidFill>
            <a:srgbClr val="0072CE"/>
          </a:solidFill>
          <a:ln/>
        </p:spPr>
      </p:sp>
      <p:sp>
        <p:nvSpPr>
          <p:cNvPr id="10" name="Text 8"/>
          <p:cNvSpPr/>
          <p:nvPr/>
        </p:nvSpPr>
        <p:spPr>
          <a:xfrm>
            <a:off x="3086100" y="1706829"/>
            <a:ext cx="180517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B2545"/>
                </a:solidFill>
                <a:latin typeface="Public Sans" pitchFamily="34" charset="0"/>
                <a:ea typeface="Public Sans" pitchFamily="34" charset="-122"/>
                <a:cs typeface="Public Sans" pitchFamily="34" charset="-120"/>
              </a:rPr>
              <a:t>2. Embed</a:t>
            </a:r>
            <a:endParaRPr lang="en-US" sz="1400" dirty="0"/>
          </a:p>
        </p:txBody>
      </p:sp>
      <p:sp>
        <p:nvSpPr>
          <p:cNvPr id="11" name="Text 9"/>
          <p:cNvSpPr/>
          <p:nvPr/>
        </p:nvSpPr>
        <p:spPr>
          <a:xfrm>
            <a:off x="3086100" y="1958249"/>
            <a:ext cx="1805178"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B7C"/>
                </a:solidFill>
                <a:latin typeface="Public Sans" pitchFamily="34" charset="0"/>
                <a:ea typeface="Public Sans" pitchFamily="34" charset="-122"/>
                <a:cs typeface="Public Sans" pitchFamily="34" charset="-120"/>
              </a:rPr>
              <a:t>Gemini turns the text into 768 numbers</a:t>
            </a:r>
            <a:endParaRPr lang="en-US" sz="1200" dirty="0"/>
          </a:p>
        </p:txBody>
      </p:sp>
      <p:sp>
        <p:nvSpPr>
          <p:cNvPr id="12" name="Shape 10"/>
          <p:cNvSpPr/>
          <p:nvPr/>
        </p:nvSpPr>
        <p:spPr>
          <a:xfrm>
            <a:off x="5080000" y="1541729"/>
            <a:ext cx="2032000" cy="939734"/>
          </a:xfrm>
          <a:prstGeom prst="roundRect">
            <a:avLst>
              <a:gd name="adj" fmla="val 9460"/>
            </a:avLst>
          </a:prstGeom>
          <a:solidFill>
            <a:srgbClr val="FFFFFF"/>
          </a:solidFill>
          <a:ln/>
        </p:spPr>
      </p:sp>
      <p:sp>
        <p:nvSpPr>
          <p:cNvPr id="13" name="Shape 11"/>
          <p:cNvSpPr/>
          <p:nvPr/>
        </p:nvSpPr>
        <p:spPr>
          <a:xfrm>
            <a:off x="5080000" y="1541729"/>
            <a:ext cx="2032000" cy="939734"/>
          </a:xfrm>
          <a:custGeom>
            <a:avLst/>
            <a:gdLst/>
            <a:ahLst/>
            <a:cxnLst/>
            <a:rect l="l" t="t" r="r" b="b"/>
            <a:pathLst>
              <a:path w="2032000" h="939734">
                <a:moveTo>
                  <a:pt x="0" y="88900"/>
                </a:moveTo>
                <a:lnTo>
                  <a:pt x="0" y="88900"/>
                </a:lnTo>
                <a:arcTo hR="88900" wR="88900" stAng="10800000" swAng="5400000"/>
                <a:lnTo>
                  <a:pt x="1943100" y="0"/>
                </a:lnTo>
                <a:arcTo hR="88900" wR="88900" stAng="16200000" swAng="5400000"/>
                <a:lnTo>
                  <a:pt x="2032000" y="88900"/>
                </a:lnTo>
                <a:arcTo hR="50800" wR="88900" stAng="0" swAng="-5400000"/>
                <a:lnTo>
                  <a:pt x="88900" y="38100"/>
                </a:lnTo>
                <a:arcTo hR="50800" wR="88900" stAng="16200000" swAng="-5400000"/>
                <a:close/>
              </a:path>
            </a:pathLst>
          </a:custGeom>
          <a:solidFill>
            <a:srgbClr val="0072CE"/>
          </a:solidFill>
          <a:ln/>
        </p:spPr>
      </p:sp>
      <p:sp>
        <p:nvSpPr>
          <p:cNvPr id="14" name="Text 12"/>
          <p:cNvSpPr/>
          <p:nvPr/>
        </p:nvSpPr>
        <p:spPr>
          <a:xfrm>
            <a:off x="5219700" y="1706829"/>
            <a:ext cx="180517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B2545"/>
                </a:solidFill>
                <a:latin typeface="Public Sans" pitchFamily="34" charset="0"/>
                <a:ea typeface="Public Sans" pitchFamily="34" charset="-122"/>
                <a:cs typeface="Public Sans" pitchFamily="34" charset="-120"/>
              </a:rPr>
              <a:t>3. Search</a:t>
            </a:r>
            <a:endParaRPr lang="en-US" sz="1400" dirty="0"/>
          </a:p>
        </p:txBody>
      </p:sp>
      <p:sp>
        <p:nvSpPr>
          <p:cNvPr id="15" name="Text 13"/>
          <p:cNvSpPr/>
          <p:nvPr/>
        </p:nvSpPr>
        <p:spPr>
          <a:xfrm>
            <a:off x="5219700" y="1958249"/>
            <a:ext cx="1805178"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B7C"/>
                </a:solidFill>
                <a:latin typeface="Public Sans" pitchFamily="34" charset="0"/>
                <a:ea typeface="Public Sans" pitchFamily="34" charset="-122"/>
                <a:cs typeface="Public Sans" pitchFamily="34" charset="-120"/>
              </a:rPr>
              <a:t>Nearest neighbours in pgvector, HNSW index</a:t>
            </a:r>
            <a:endParaRPr lang="en-US" sz="1200" dirty="0"/>
          </a:p>
        </p:txBody>
      </p:sp>
      <p:sp>
        <p:nvSpPr>
          <p:cNvPr id="16" name="Shape 14"/>
          <p:cNvSpPr/>
          <p:nvPr/>
        </p:nvSpPr>
        <p:spPr>
          <a:xfrm>
            <a:off x="7213600" y="1541729"/>
            <a:ext cx="2032000" cy="939734"/>
          </a:xfrm>
          <a:prstGeom prst="roundRect">
            <a:avLst>
              <a:gd name="adj" fmla="val 9460"/>
            </a:avLst>
          </a:prstGeom>
          <a:solidFill>
            <a:srgbClr val="FFFFFF"/>
          </a:solidFill>
          <a:ln/>
        </p:spPr>
      </p:sp>
      <p:sp>
        <p:nvSpPr>
          <p:cNvPr id="17" name="Shape 15"/>
          <p:cNvSpPr/>
          <p:nvPr/>
        </p:nvSpPr>
        <p:spPr>
          <a:xfrm>
            <a:off x="7213600" y="1541729"/>
            <a:ext cx="2032000" cy="939734"/>
          </a:xfrm>
          <a:custGeom>
            <a:avLst/>
            <a:gdLst/>
            <a:ahLst/>
            <a:cxnLst/>
            <a:rect l="l" t="t" r="r" b="b"/>
            <a:pathLst>
              <a:path w="2032000" h="939734">
                <a:moveTo>
                  <a:pt x="0" y="88900"/>
                </a:moveTo>
                <a:lnTo>
                  <a:pt x="0" y="88900"/>
                </a:lnTo>
                <a:arcTo hR="88900" wR="88900" stAng="10800000" swAng="5400000"/>
                <a:lnTo>
                  <a:pt x="1943100" y="0"/>
                </a:lnTo>
                <a:arcTo hR="88900" wR="88900" stAng="16200000" swAng="5400000"/>
                <a:lnTo>
                  <a:pt x="2032000" y="88900"/>
                </a:lnTo>
                <a:arcTo hR="50800" wR="88900" stAng="0" swAng="-5400000"/>
                <a:lnTo>
                  <a:pt x="88900" y="38100"/>
                </a:lnTo>
                <a:arcTo hR="50800" wR="88900" stAng="16200000" swAng="-5400000"/>
                <a:close/>
              </a:path>
            </a:pathLst>
          </a:custGeom>
          <a:solidFill>
            <a:srgbClr val="0072CE"/>
          </a:solidFill>
          <a:ln/>
        </p:spPr>
      </p:sp>
      <p:sp>
        <p:nvSpPr>
          <p:cNvPr id="18" name="Text 16"/>
          <p:cNvSpPr/>
          <p:nvPr/>
        </p:nvSpPr>
        <p:spPr>
          <a:xfrm>
            <a:off x="7353300" y="1706829"/>
            <a:ext cx="180517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B2545"/>
                </a:solidFill>
                <a:latin typeface="Public Sans" pitchFamily="34" charset="0"/>
                <a:ea typeface="Public Sans" pitchFamily="34" charset="-122"/>
                <a:cs typeface="Public Sans" pitchFamily="34" charset="-120"/>
              </a:rPr>
              <a:t>4. Filter</a:t>
            </a:r>
            <a:endParaRPr lang="en-US" sz="1400" dirty="0"/>
          </a:p>
        </p:txBody>
      </p:sp>
      <p:sp>
        <p:nvSpPr>
          <p:cNvPr id="19" name="Text 17"/>
          <p:cNvSpPr/>
          <p:nvPr/>
        </p:nvSpPr>
        <p:spPr>
          <a:xfrm>
            <a:off x="7353300" y="1958249"/>
            <a:ext cx="1805178"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B7C"/>
                </a:solidFill>
                <a:latin typeface="Public Sans" pitchFamily="34" charset="0"/>
                <a:ea typeface="Public Sans" pitchFamily="34" charset="-122"/>
                <a:cs typeface="Public Sans" pitchFamily="34" charset="-120"/>
              </a:rPr>
              <a:t>Has a plan, APPROVED to CLOSED, good score</a:t>
            </a:r>
            <a:endParaRPr lang="en-US" sz="1200" dirty="0"/>
          </a:p>
        </p:txBody>
      </p:sp>
      <p:sp>
        <p:nvSpPr>
          <p:cNvPr id="20" name="Shape 18"/>
          <p:cNvSpPr/>
          <p:nvPr/>
        </p:nvSpPr>
        <p:spPr>
          <a:xfrm>
            <a:off x="9347200" y="1541729"/>
            <a:ext cx="2032000" cy="939734"/>
          </a:xfrm>
          <a:prstGeom prst="roundRect">
            <a:avLst>
              <a:gd name="adj" fmla="val 9460"/>
            </a:avLst>
          </a:prstGeom>
          <a:solidFill>
            <a:srgbClr val="FFFFFF"/>
          </a:solidFill>
          <a:ln/>
        </p:spPr>
      </p:sp>
      <p:sp>
        <p:nvSpPr>
          <p:cNvPr id="21" name="Shape 19"/>
          <p:cNvSpPr/>
          <p:nvPr/>
        </p:nvSpPr>
        <p:spPr>
          <a:xfrm>
            <a:off x="9347200" y="1541729"/>
            <a:ext cx="2032000" cy="939734"/>
          </a:xfrm>
          <a:custGeom>
            <a:avLst/>
            <a:gdLst/>
            <a:ahLst/>
            <a:cxnLst/>
            <a:rect l="l" t="t" r="r" b="b"/>
            <a:pathLst>
              <a:path w="2032000" h="939734">
                <a:moveTo>
                  <a:pt x="0" y="88900"/>
                </a:moveTo>
                <a:lnTo>
                  <a:pt x="0" y="88900"/>
                </a:lnTo>
                <a:arcTo hR="88900" wR="88900" stAng="10800000" swAng="5400000"/>
                <a:lnTo>
                  <a:pt x="1943100" y="0"/>
                </a:lnTo>
                <a:arcTo hR="88900" wR="88900" stAng="16200000" swAng="5400000"/>
                <a:lnTo>
                  <a:pt x="2032000" y="88900"/>
                </a:lnTo>
                <a:arcTo hR="50800" wR="88900" stAng="0" swAng="-5400000"/>
                <a:lnTo>
                  <a:pt x="88900" y="38100"/>
                </a:lnTo>
                <a:arcTo hR="50800" wR="88900" stAng="16200000" swAng="-5400000"/>
                <a:close/>
              </a:path>
            </a:pathLst>
          </a:custGeom>
          <a:solidFill>
            <a:srgbClr val="0072CE"/>
          </a:solidFill>
          <a:ln/>
        </p:spPr>
      </p:sp>
      <p:sp>
        <p:nvSpPr>
          <p:cNvPr id="22" name="Text 20"/>
          <p:cNvSpPr/>
          <p:nvPr/>
        </p:nvSpPr>
        <p:spPr>
          <a:xfrm>
            <a:off x="9486900" y="1706829"/>
            <a:ext cx="180517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B2545"/>
                </a:solidFill>
                <a:latin typeface="Public Sans" pitchFamily="34" charset="0"/>
                <a:ea typeface="Public Sans" pitchFamily="34" charset="-122"/>
                <a:cs typeface="Public Sans" pitchFamily="34" charset="-120"/>
              </a:rPr>
              <a:t>5. Store</a:t>
            </a:r>
            <a:endParaRPr lang="en-US" sz="1400" dirty="0"/>
          </a:p>
        </p:txBody>
      </p:sp>
      <p:sp>
        <p:nvSpPr>
          <p:cNvPr id="23" name="Text 21"/>
          <p:cNvSpPr/>
          <p:nvPr/>
        </p:nvSpPr>
        <p:spPr>
          <a:xfrm>
            <a:off x="9486900" y="1958249"/>
            <a:ext cx="1805178"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B7C"/>
                </a:solidFill>
                <a:latin typeface="Public Sans" pitchFamily="34" charset="0"/>
                <a:ea typeface="Public Sans" pitchFamily="34" charset="-122"/>
                <a:cs typeface="Public Sans" pitchFamily="34" charset="-120"/>
              </a:rPr>
              <a:t>Match, score and rank saved on the incident</a:t>
            </a:r>
            <a:endParaRPr lang="en-US" sz="1200" dirty="0"/>
          </a:p>
        </p:txBody>
      </p:sp>
      <p:sp>
        <p:nvSpPr>
          <p:cNvPr id="24" name="Shape 22"/>
          <p:cNvSpPr/>
          <p:nvPr/>
        </p:nvSpPr>
        <p:spPr>
          <a:xfrm>
            <a:off x="812800" y="2684661"/>
            <a:ext cx="5207000" cy="1201341"/>
          </a:xfrm>
          <a:prstGeom prst="roundRect">
            <a:avLst>
              <a:gd name="adj" fmla="val 8457"/>
            </a:avLst>
          </a:prstGeom>
          <a:solidFill>
            <a:srgbClr val="0072CE"/>
          </a:solidFill>
          <a:ln/>
        </p:spPr>
      </p:sp>
      <p:sp>
        <p:nvSpPr>
          <p:cNvPr id="25" name="Text 23"/>
          <p:cNvSpPr/>
          <p:nvPr/>
        </p:nvSpPr>
        <p:spPr>
          <a:xfrm>
            <a:off x="1041400" y="2875161"/>
            <a:ext cx="4892294"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FFFFF"/>
                </a:solidFill>
                <a:latin typeface="Public Sans" pitchFamily="34" charset="0"/>
                <a:ea typeface="Public Sans" pitchFamily="34" charset="-122"/>
                <a:cs typeface="Public Sans" pitchFamily="34" charset="-120"/>
              </a:rPr>
              <a:t>Why it matters</a:t>
            </a:r>
            <a:endParaRPr lang="en-US" sz="1700" dirty="0"/>
          </a:p>
        </p:txBody>
      </p:sp>
      <p:sp>
        <p:nvSpPr>
          <p:cNvPr id="26" name="Text 24"/>
          <p:cNvSpPr/>
          <p:nvPr/>
        </p:nvSpPr>
        <p:spPr>
          <a:xfrm>
            <a:off x="1041400" y="3197690"/>
            <a:ext cx="4892294"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Public Sans" pitchFamily="34" charset="0"/>
                <a:ea typeface="Public Sans" pitchFamily="34" charset="-122"/>
                <a:cs typeface="Public Sans" pitchFamily="34" charset="-120"/>
              </a:rPr>
              <a:t>A proven fix from a past incident becomes the starting point for the new one.</a:t>
            </a:r>
            <a:endParaRPr lang="en-US" sz="1400" dirty="0"/>
          </a:p>
        </p:txBody>
      </p:sp>
      <p:sp>
        <p:nvSpPr>
          <p:cNvPr id="27" name="Shape 25"/>
          <p:cNvSpPr/>
          <p:nvPr/>
        </p:nvSpPr>
        <p:spPr>
          <a:xfrm>
            <a:off x="6172200" y="2684661"/>
            <a:ext cx="5207000" cy="1201341"/>
          </a:xfrm>
          <a:prstGeom prst="roundRect">
            <a:avLst>
              <a:gd name="adj" fmla="val 8457"/>
            </a:avLst>
          </a:prstGeom>
          <a:solidFill>
            <a:srgbClr val="FFFFFF"/>
          </a:solidFill>
          <a:ln/>
        </p:spPr>
      </p:sp>
      <p:sp>
        <p:nvSpPr>
          <p:cNvPr id="28" name="Text 26"/>
          <p:cNvSpPr/>
          <p:nvPr/>
        </p:nvSpPr>
        <p:spPr>
          <a:xfrm>
            <a:off x="6400800" y="2875161"/>
            <a:ext cx="4892294"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B2545"/>
                </a:solidFill>
                <a:latin typeface="Public Sans" pitchFamily="34" charset="0"/>
                <a:ea typeface="Public Sans" pitchFamily="34" charset="-122"/>
                <a:cs typeface="Public Sans" pitchFamily="34" charset="-120"/>
              </a:rPr>
              <a:t>Reliable by design</a:t>
            </a:r>
            <a:endParaRPr lang="en-US" sz="1700" dirty="0"/>
          </a:p>
        </p:txBody>
      </p:sp>
      <p:sp>
        <p:nvSpPr>
          <p:cNvPr id="29" name="Text 27"/>
          <p:cNvSpPr/>
          <p:nvPr/>
        </p:nvSpPr>
        <p:spPr>
          <a:xfrm>
            <a:off x="6400800" y="3197690"/>
            <a:ext cx="4892294"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B7C"/>
                </a:solidFill>
                <a:latin typeface="Public Sans" pitchFamily="34" charset="0"/>
                <a:ea typeface="Public Sans" pitchFamily="34" charset="-122"/>
                <a:cs typeface="Public Sans" pitchFamily="34" charset="-120"/>
              </a:rPr>
              <a:t>Progress is saved only after matches are stored. Bad messages go to a dead-letter list. Duplicates are skipped.</a:t>
            </a:r>
            <a:endParaRPr lang="en-US" sz="1400" dirty="0"/>
          </a:p>
        </p:txBody>
      </p:sp>
      <p:sp>
        <p:nvSpPr>
          <p:cNvPr id="30" name="Text 28"/>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Bulwark | Innova Solutions</a:t>
            </a:r>
            <a:endParaRPr lang="en-US" sz="1200" dirty="0"/>
          </a:p>
        </p:txBody>
      </p:sp>
      <p:sp>
        <p:nvSpPr>
          <p:cNvPr id="31" name="Text 2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9FD"/>
        </a:solidFill>
      </p:bgPr>
    </p:bg>
    <p:spTree>
      <p:nvGrpSpPr>
        <p:cNvPr id="1" name=""/>
        <p:cNvGrpSpPr/>
        <p:nvPr/>
      </p:nvGrpSpPr>
      <p:grpSpPr>
        <a:xfrm>
          <a:off x="0" y="0"/>
          <a:ext cx="0" cy="0"/>
          <a:chOff x="0" y="0"/>
          <a:chExt cx="0" cy="0"/>
        </a:xfrm>
      </p:grpSpPr>
      <p:sp>
        <p:nvSpPr>
          <p:cNvPr id="2" name="Text 0"/>
          <p:cNvSpPr/>
          <p:nvPr/>
        </p:nvSpPr>
        <p:spPr>
          <a:xfrm>
            <a:off x="812800" y="6096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B26A00"/>
                </a:solidFill>
                <a:latin typeface="Public Sans" pitchFamily="34" charset="0"/>
                <a:ea typeface="Public Sans" pitchFamily="34" charset="-122"/>
                <a:cs typeface="Public Sans" pitchFamily="34" charset="-120"/>
              </a:rPr>
              <a:t>AI AGENT 2</a:t>
            </a:r>
            <a:endParaRPr lang="en-US" sz="1300" dirty="0"/>
          </a:p>
        </p:txBody>
      </p:sp>
      <p:sp>
        <p:nvSpPr>
          <p:cNvPr id="3" name="Text 1"/>
          <p:cNvSpPr/>
          <p:nvPr>
            <p:ph type="title"/>
          </p:nvPr>
        </p:nvSpPr>
        <p:spPr>
          <a:xfrm>
            <a:off x="812800" y="891518"/>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2545"/>
                </a:solidFill>
                <a:latin typeface="Source Serif 4" pitchFamily="18" charset="0"/>
                <a:ea typeface="Source Serif 4" pitchFamily="18" charset="-122"/>
                <a:cs typeface="Source Serif 4" pitchFamily="18" charset="-120"/>
              </a:rPr>
              <a:t>AI-built solution plan</a:t>
            </a:r>
            <a:endParaRPr lang="en-US" sz="3200" dirty="0"/>
          </a:p>
        </p:txBody>
      </p:sp>
      <p:sp>
        <p:nvSpPr>
          <p:cNvPr id="4" name="Shape 2"/>
          <p:cNvSpPr/>
          <p:nvPr/>
        </p:nvSpPr>
        <p:spPr>
          <a:xfrm>
            <a:off x="812800" y="1541729"/>
            <a:ext cx="3420533" cy="2175404"/>
          </a:xfrm>
          <a:prstGeom prst="roundRect">
            <a:avLst>
              <a:gd name="adj" fmla="val 4670"/>
            </a:avLst>
          </a:prstGeom>
          <a:solidFill>
            <a:srgbClr val="FFFFFF"/>
          </a:solidFill>
          <a:ln/>
        </p:spPr>
      </p:sp>
      <p:sp>
        <p:nvSpPr>
          <p:cNvPr id="5" name="Shape 3"/>
          <p:cNvSpPr/>
          <p:nvPr/>
        </p:nvSpPr>
        <p:spPr>
          <a:xfrm>
            <a:off x="812800" y="1541729"/>
            <a:ext cx="3420533" cy="2175404"/>
          </a:xfrm>
          <a:custGeom>
            <a:avLst/>
            <a:gdLst/>
            <a:ahLst/>
            <a:cxnLst/>
            <a:rect l="l" t="t" r="r" b="b"/>
            <a:pathLst>
              <a:path w="3420533" h="2175404">
                <a:moveTo>
                  <a:pt x="0" y="101600"/>
                </a:moveTo>
                <a:lnTo>
                  <a:pt x="0" y="101600"/>
                </a:lnTo>
                <a:arcTo hR="101600" wR="101600" stAng="10800000" swAng="5400000"/>
                <a:lnTo>
                  <a:pt x="3318933" y="0"/>
                </a:lnTo>
                <a:arcTo hR="101600" wR="101600" stAng="16200000" swAng="5400000"/>
                <a:lnTo>
                  <a:pt x="3420533" y="101600"/>
                </a:lnTo>
                <a:arcTo hR="63500" wR="101600" stAng="0" swAng="-5400000"/>
                <a:lnTo>
                  <a:pt x="101600" y="38100"/>
                </a:lnTo>
                <a:arcTo hR="63500" wR="101600" stAng="16200000" swAng="-5400000"/>
                <a:close/>
              </a:path>
            </a:pathLst>
          </a:custGeom>
          <a:solidFill>
            <a:srgbClr val="0072CE"/>
          </a:solidFill>
          <a:ln/>
        </p:spPr>
      </p:sp>
      <p:sp>
        <p:nvSpPr>
          <p:cNvPr id="6" name="Text 4"/>
          <p:cNvSpPr/>
          <p:nvPr/>
        </p:nvSpPr>
        <p:spPr>
          <a:xfrm>
            <a:off x="1028700" y="1770329"/>
            <a:ext cx="3078395"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072CE"/>
                </a:solidFill>
                <a:latin typeface="Public Sans" pitchFamily="34" charset="0"/>
                <a:ea typeface="Public Sans" pitchFamily="34" charset="-122"/>
                <a:cs typeface="Public Sans" pitchFamily="34" charset="-120"/>
              </a:rPr>
              <a:t>What it reads</a:t>
            </a:r>
            <a:endParaRPr lang="en-US" sz="1600" dirty="0"/>
          </a:p>
        </p:txBody>
      </p:sp>
      <p:sp>
        <p:nvSpPr>
          <p:cNvPr id="7" name="Text 5"/>
          <p:cNvSpPr/>
          <p:nvPr/>
        </p:nvSpPr>
        <p:spPr>
          <a:xfrm>
            <a:off x="1126744" y="2090341"/>
            <a:ext cx="2972731" cy="982927"/>
          </a:xfrm>
          <a:prstGeom prst="rect">
            <a:avLst/>
          </a:prstGeom>
          <a:noFill/>
          <a:ln/>
        </p:spPr>
        <p:txBody>
          <a:bodyPr wrap="square" lIns="0" tIns="0" rIns="0" bIns="0" rtlCol="0" anchor="t">
            <a:normAutofit/>
          </a:bodyPr>
          <a:lstStyle/>
          <a:p>
            <a:pPr algn="l" marL="155956" indent="-155956">
              <a:lnSpc>
                <a:spcPts val="1885"/>
              </a:lnSpc>
              <a:buSzPct val="100000"/>
              <a:buChar char="•"/>
            </a:pPr>
            <a:r>
              <a:rPr lang="en-US" sz="1300" dirty="0">
                <a:solidFill>
                  <a:srgbClr val="0B2545"/>
                </a:solidFill>
                <a:latin typeface="Public Sans" pitchFamily="34" charset="0"/>
                <a:ea typeface="Public Sans" pitchFamily="34" charset="-122"/>
                <a:cs typeface="Public Sans" pitchFamily="34" charset="-120"/>
              </a:rPr>
              <a:t>The incident: CVE, description, assets</a:t>
            </a:r>
            <a:endParaRPr lang="en-US" sz="1300" dirty="0"/>
          </a:p>
          <a:p>
            <a:pPr algn="l" marL="155956" indent="-155956">
              <a:lnSpc>
                <a:spcPts val="1885"/>
              </a:lnSpc>
              <a:buSzPct val="100000"/>
              <a:buChar char="•"/>
            </a:pPr>
            <a:r>
              <a:rPr lang="en-US" sz="1300" dirty="0">
                <a:solidFill>
                  <a:srgbClr val="0B2545"/>
                </a:solidFill>
                <a:latin typeface="Public Sans" pitchFamily="34" charset="0"/>
                <a:ea typeface="Public Sans" pitchFamily="34" charset="-122"/>
                <a:cs typeface="Public Sans" pitchFamily="34" charset="-120"/>
              </a:rPr>
              <a:t>The catalog of APPROVED fixes</a:t>
            </a:r>
            <a:endParaRPr lang="en-US" sz="1300" dirty="0"/>
          </a:p>
          <a:p>
            <a:pPr algn="l" marL="155956" indent="-155956">
              <a:lnSpc>
                <a:spcPts val="1885"/>
              </a:lnSpc>
              <a:buSzPct val="100000"/>
              <a:buChar char="•"/>
            </a:pPr>
            <a:r>
              <a:rPr lang="en-US" sz="1300" dirty="0">
                <a:solidFill>
                  <a:srgbClr val="0B2545"/>
                </a:solidFill>
                <a:latin typeface="Public Sans" pitchFamily="34" charset="0"/>
                <a:ea typeface="Public Sans" pitchFamily="34" charset="-122"/>
                <a:cs typeface="Public Sans" pitchFamily="34" charset="-120"/>
              </a:rPr>
              <a:t>Plans of the best similar incidents</a:t>
            </a:r>
            <a:endParaRPr lang="en-US" sz="1300" dirty="0"/>
          </a:p>
        </p:txBody>
      </p:sp>
      <p:sp>
        <p:nvSpPr>
          <p:cNvPr id="8" name="Shape 6"/>
          <p:cNvSpPr/>
          <p:nvPr/>
        </p:nvSpPr>
        <p:spPr>
          <a:xfrm>
            <a:off x="4385733" y="1541729"/>
            <a:ext cx="3420533" cy="2175404"/>
          </a:xfrm>
          <a:prstGeom prst="roundRect">
            <a:avLst>
              <a:gd name="adj" fmla="val 4670"/>
            </a:avLst>
          </a:prstGeom>
          <a:solidFill>
            <a:srgbClr val="0B2545"/>
          </a:solidFill>
          <a:ln/>
        </p:spPr>
      </p:sp>
      <p:sp>
        <p:nvSpPr>
          <p:cNvPr id="9" name="Shape 7"/>
          <p:cNvSpPr/>
          <p:nvPr/>
        </p:nvSpPr>
        <p:spPr>
          <a:xfrm>
            <a:off x="4385733" y="1541729"/>
            <a:ext cx="3420533" cy="2175404"/>
          </a:xfrm>
          <a:custGeom>
            <a:avLst/>
            <a:gdLst/>
            <a:ahLst/>
            <a:cxnLst/>
            <a:rect l="l" t="t" r="r" b="b"/>
            <a:pathLst>
              <a:path w="3420533" h="2175404">
                <a:moveTo>
                  <a:pt x="0" y="101600"/>
                </a:moveTo>
                <a:lnTo>
                  <a:pt x="0" y="101600"/>
                </a:lnTo>
                <a:arcTo hR="101600" wR="101600" stAng="10800000" swAng="5400000"/>
                <a:lnTo>
                  <a:pt x="3318933" y="0"/>
                </a:lnTo>
                <a:arcTo hR="101600" wR="101600" stAng="16200000" swAng="5400000"/>
                <a:lnTo>
                  <a:pt x="3420533" y="101600"/>
                </a:lnTo>
                <a:arcTo hR="63500" wR="101600" stAng="0" swAng="-5400000"/>
                <a:lnTo>
                  <a:pt x="101600" y="38100"/>
                </a:lnTo>
                <a:arcTo hR="63500" wR="101600" stAng="16200000" swAng="-5400000"/>
                <a:close/>
              </a:path>
            </a:pathLst>
          </a:custGeom>
          <a:solidFill>
            <a:srgbClr val="F5A623"/>
          </a:solidFill>
          <a:ln/>
        </p:spPr>
      </p:sp>
      <p:sp>
        <p:nvSpPr>
          <p:cNvPr id="10" name="Text 8"/>
          <p:cNvSpPr/>
          <p:nvPr/>
        </p:nvSpPr>
        <p:spPr>
          <a:xfrm>
            <a:off x="4601633" y="1770329"/>
            <a:ext cx="3078395"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FFFF"/>
                </a:solidFill>
                <a:latin typeface="Public Sans" pitchFamily="34" charset="0"/>
                <a:ea typeface="Public Sans" pitchFamily="34" charset="-122"/>
                <a:cs typeface="Public Sans" pitchFamily="34" charset="-120"/>
              </a:rPr>
              <a:t>Gemini 2.5 Flash</a:t>
            </a:r>
            <a:endParaRPr lang="en-US" sz="1600" dirty="0"/>
          </a:p>
        </p:txBody>
      </p:sp>
      <p:sp>
        <p:nvSpPr>
          <p:cNvPr id="11" name="Text 9"/>
          <p:cNvSpPr/>
          <p:nvPr/>
        </p:nvSpPr>
        <p:spPr>
          <a:xfrm>
            <a:off x="4699677" y="2090341"/>
            <a:ext cx="2972731" cy="1461691"/>
          </a:xfrm>
          <a:prstGeom prst="rect">
            <a:avLst/>
          </a:prstGeom>
          <a:noFill/>
          <a:ln/>
        </p:spPr>
        <p:txBody>
          <a:bodyPr wrap="square" lIns="0" tIns="0" rIns="0" bIns="0" rtlCol="0" anchor="t">
            <a:normAutofit/>
          </a:bodyPr>
          <a:lstStyle/>
          <a:p>
            <a:pPr algn="l" marL="155956" indent="-155956">
              <a:lnSpc>
                <a:spcPts val="1885"/>
              </a:lnSpc>
              <a:buSzPct val="100000"/>
              <a:buChar char="•"/>
            </a:pPr>
            <a:r>
              <a:rPr lang="en-US" sz="1300" dirty="0">
                <a:solidFill>
                  <a:srgbClr val="E3EEFA"/>
                </a:solidFill>
                <a:latin typeface="Public Sans" pitchFamily="34" charset="0"/>
                <a:ea typeface="Public Sans" pitchFamily="34" charset="-122"/>
                <a:cs typeface="Public Sans" pitchFamily="34" charset="-120"/>
              </a:rPr>
              <a:t>Answers in a fixed JSON shape</a:t>
            </a:r>
            <a:endParaRPr lang="en-US" sz="1300" dirty="0"/>
          </a:p>
          <a:p>
            <a:pPr algn="l" marL="155956" indent="-155956">
              <a:lnSpc>
                <a:spcPts val="1885"/>
              </a:lnSpc>
              <a:buSzPct val="100000"/>
              <a:buChar char="•"/>
            </a:pPr>
            <a:r>
              <a:rPr lang="en-US" sz="1300" dirty="0">
                <a:solidFill>
                  <a:srgbClr val="E3EEFA"/>
                </a:solidFill>
                <a:latin typeface="Public Sans" pitchFamily="34" charset="0"/>
                <a:ea typeface="Public Sans" pitchFamily="34" charset="-122"/>
                <a:cs typeface="Public Sans" pitchFamily="34" charset="-120"/>
              </a:rPr>
              <a:t>Invented or duplicate references are rejected</a:t>
            </a:r>
            <a:endParaRPr lang="en-US" sz="1300" dirty="0"/>
          </a:p>
          <a:p>
            <a:pPr algn="l" marL="155956" indent="-155956">
              <a:lnSpc>
                <a:spcPts val="1885"/>
              </a:lnSpc>
              <a:buSzPct val="100000"/>
              <a:buChar char="•"/>
            </a:pPr>
            <a:r>
              <a:rPr lang="en-US" sz="1300" dirty="0">
                <a:solidFill>
                  <a:srgbClr val="E3EEFA"/>
                </a:solidFill>
                <a:latin typeface="Public Sans" pitchFamily="34" charset="0"/>
                <a:ea typeface="Public Sans" pitchFamily="34" charset="-122"/>
                <a:cs typeface="Public Sans" pitchFamily="34" charset="-120"/>
              </a:rPr>
              <a:t>One retry, then the run is marked FAILED</a:t>
            </a:r>
            <a:endParaRPr lang="en-US" sz="1300" dirty="0"/>
          </a:p>
          <a:p>
            <a:pPr algn="l" marL="155956" indent="-155956">
              <a:lnSpc>
                <a:spcPts val="1885"/>
              </a:lnSpc>
              <a:buSzPct val="100000"/>
              <a:buChar char="•"/>
            </a:pPr>
            <a:r>
              <a:rPr lang="en-US" sz="1300" dirty="0">
                <a:solidFill>
                  <a:srgbClr val="E3EEFA"/>
                </a:solidFill>
                <a:latin typeface="Public Sans" pitchFamily="34" charset="0"/>
                <a:ea typeface="Public Sans" pitchFamily="34" charset="-122"/>
                <a:cs typeface="Public Sans" pitchFamily="34" charset="-120"/>
              </a:rPr>
              <a:t>Same input: earlier answer reused</a:t>
            </a:r>
            <a:endParaRPr lang="en-US" sz="1300" dirty="0"/>
          </a:p>
        </p:txBody>
      </p:sp>
      <p:sp>
        <p:nvSpPr>
          <p:cNvPr id="12" name="Shape 10"/>
          <p:cNvSpPr/>
          <p:nvPr/>
        </p:nvSpPr>
        <p:spPr>
          <a:xfrm>
            <a:off x="7958667" y="1541729"/>
            <a:ext cx="3420533" cy="2175404"/>
          </a:xfrm>
          <a:prstGeom prst="roundRect">
            <a:avLst>
              <a:gd name="adj" fmla="val 4670"/>
            </a:avLst>
          </a:prstGeom>
          <a:solidFill>
            <a:srgbClr val="FFFFFF"/>
          </a:solidFill>
          <a:ln/>
        </p:spPr>
      </p:sp>
      <p:sp>
        <p:nvSpPr>
          <p:cNvPr id="13" name="Shape 11"/>
          <p:cNvSpPr/>
          <p:nvPr/>
        </p:nvSpPr>
        <p:spPr>
          <a:xfrm>
            <a:off x="7958667" y="1541729"/>
            <a:ext cx="3420533" cy="2175404"/>
          </a:xfrm>
          <a:custGeom>
            <a:avLst/>
            <a:gdLst/>
            <a:ahLst/>
            <a:cxnLst/>
            <a:rect l="l" t="t" r="r" b="b"/>
            <a:pathLst>
              <a:path w="3420533" h="2175404">
                <a:moveTo>
                  <a:pt x="0" y="101600"/>
                </a:moveTo>
                <a:lnTo>
                  <a:pt x="0" y="101600"/>
                </a:lnTo>
                <a:arcTo hR="101600" wR="101600" stAng="10800000" swAng="5400000"/>
                <a:lnTo>
                  <a:pt x="3318933" y="0"/>
                </a:lnTo>
                <a:arcTo hR="101600" wR="101600" stAng="16200000" swAng="5400000"/>
                <a:lnTo>
                  <a:pt x="3420533" y="101600"/>
                </a:lnTo>
                <a:arcTo hR="63500" wR="101600" stAng="0" swAng="-5400000"/>
                <a:lnTo>
                  <a:pt x="101600" y="38100"/>
                </a:lnTo>
                <a:arcTo hR="63500" wR="101600" stAng="16200000" swAng="-5400000"/>
                <a:close/>
              </a:path>
            </a:pathLst>
          </a:custGeom>
          <a:solidFill>
            <a:srgbClr val="0072CE"/>
          </a:solidFill>
          <a:ln/>
        </p:spPr>
      </p:sp>
      <p:sp>
        <p:nvSpPr>
          <p:cNvPr id="14" name="Text 12"/>
          <p:cNvSpPr/>
          <p:nvPr/>
        </p:nvSpPr>
        <p:spPr>
          <a:xfrm>
            <a:off x="8174567" y="1770329"/>
            <a:ext cx="3078395"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072CE"/>
                </a:solidFill>
                <a:latin typeface="Public Sans" pitchFamily="34" charset="0"/>
                <a:ea typeface="Public Sans" pitchFamily="34" charset="-122"/>
                <a:cs typeface="Public Sans" pitchFamily="34" charset="-120"/>
              </a:rPr>
              <a:t>What it produces</a:t>
            </a:r>
            <a:endParaRPr lang="en-US" sz="1600" dirty="0"/>
          </a:p>
        </p:txBody>
      </p:sp>
      <p:sp>
        <p:nvSpPr>
          <p:cNvPr id="15" name="Text 13"/>
          <p:cNvSpPr/>
          <p:nvPr/>
        </p:nvSpPr>
        <p:spPr>
          <a:xfrm>
            <a:off x="8272611" y="2090341"/>
            <a:ext cx="2972731" cy="1222309"/>
          </a:xfrm>
          <a:prstGeom prst="rect">
            <a:avLst/>
          </a:prstGeom>
          <a:noFill/>
          <a:ln/>
        </p:spPr>
        <p:txBody>
          <a:bodyPr wrap="square" lIns="0" tIns="0" rIns="0" bIns="0" rtlCol="0" anchor="t">
            <a:normAutofit/>
          </a:bodyPr>
          <a:lstStyle/>
          <a:p>
            <a:pPr algn="l" marL="155956" indent="-155956">
              <a:lnSpc>
                <a:spcPts val="1885"/>
              </a:lnSpc>
              <a:buSzPct val="100000"/>
              <a:buChar char="•"/>
            </a:pPr>
            <a:r>
              <a:rPr lang="en-US" sz="1300" dirty="0">
                <a:solidFill>
                  <a:srgbClr val="0B2545"/>
                </a:solidFill>
                <a:latin typeface="Public Sans" pitchFamily="34" charset="0"/>
                <a:ea typeface="Public Sans" pitchFamily="34" charset="-122"/>
                <a:cs typeface="Public Sans" pitchFamily="34" charset="-120"/>
              </a:rPr>
              <a:t>An ordered plan from approved fixes</a:t>
            </a:r>
            <a:endParaRPr lang="en-US" sz="1300" dirty="0"/>
          </a:p>
          <a:p>
            <a:pPr algn="l" marL="155956" indent="-155956">
              <a:lnSpc>
                <a:spcPts val="1885"/>
              </a:lnSpc>
              <a:buSzPct val="100000"/>
              <a:buChar char="•"/>
            </a:pPr>
            <a:r>
              <a:rPr lang="en-US" sz="1300" dirty="0">
                <a:solidFill>
                  <a:srgbClr val="0B2545"/>
                </a:solidFill>
                <a:latin typeface="Public Sans" pitchFamily="34" charset="0"/>
                <a:ea typeface="Public Sans" pitchFamily="34" charset="-122"/>
                <a:cs typeface="Public Sans" pitchFamily="34" charset="-120"/>
              </a:rPr>
              <a:t>Drafts for fixes that are missing</a:t>
            </a:r>
            <a:endParaRPr lang="en-US" sz="1300" dirty="0"/>
          </a:p>
          <a:p>
            <a:pPr algn="l" marL="155956" indent="-155956">
              <a:lnSpc>
                <a:spcPts val="1885"/>
              </a:lnSpc>
              <a:buSzPct val="100000"/>
              <a:buChar char="•"/>
            </a:pPr>
            <a:r>
              <a:rPr lang="en-US" sz="1300" dirty="0">
                <a:solidFill>
                  <a:srgbClr val="0B2545"/>
                </a:solidFill>
                <a:latin typeface="Public Sans" pitchFamily="34" charset="0"/>
                <a:ea typeface="Public Sans" pitchFamily="34" charset="-122"/>
                <a:cs typeface="Public Sans" pitchFamily="34" charset="-120"/>
              </a:rPr>
              <a:t>FULL_PLAN, PARTIAL_PLAN or NO_MATCH</a:t>
            </a:r>
            <a:endParaRPr lang="en-US" sz="1300" dirty="0"/>
          </a:p>
        </p:txBody>
      </p:sp>
      <p:sp>
        <p:nvSpPr>
          <p:cNvPr id="16" name="Text 14"/>
          <p:cNvSpPr/>
          <p:nvPr/>
        </p:nvSpPr>
        <p:spPr>
          <a:xfrm>
            <a:off x="812800" y="3920331"/>
            <a:ext cx="10566400" cy="828014"/>
          </a:xfrm>
          <a:prstGeom prst="roundRect">
            <a:avLst>
              <a:gd name="adj" fmla="val 12270"/>
            </a:avLst>
          </a:prstGeom>
          <a:solidFill>
            <a:srgbClr val="FEF3DD"/>
          </a:solidFill>
          <a:ln/>
        </p:spPr>
        <p:txBody>
          <a:bodyPr wrap="square" lIns="249642" tIns="135342" rIns="0" bIns="109942" rtlCol="0" anchor="t">
            <a:normAutofit/>
          </a:bodyPr>
          <a:lstStyle/>
          <a:p>
            <a:pPr algn="l" indent="0" marL="0">
              <a:lnSpc>
                <a:spcPts val="1960"/>
              </a:lnSpc>
              <a:buNone/>
            </a:pPr>
            <a:r>
              <a:rPr lang="en-US" sz="1400" b="1" dirty="0">
                <a:solidFill>
                  <a:srgbClr val="0B2545"/>
                </a:solidFill>
                <a:latin typeface="Public Sans" pitchFamily="34" charset="0"/>
                <a:ea typeface="Public Sans" pitchFamily="34" charset="-122"/>
                <a:cs typeface="Public Sans" pitchFamily="34" charset="-120"/>
              </a:rPr>
              <a:t>A person stays in control.</a:t>
            </a:r>
            <a:r>
              <a:rPr lang="en-US" sz="1400" dirty="0">
                <a:solidFill>
                  <a:srgbClr val="0B2545"/>
                </a:solidFill>
                <a:latin typeface="Public Sans" pitchFamily="34" charset="0"/>
                <a:ea typeface="Public Sans" pitchFamily="34" charset="-122"/>
                <a:cs typeface="Public Sans" pitchFamily="34" charset="-120"/>
              </a:rPr>
              <a:t> Nothing is written to the plan automatically. The planner reviews the AI Suggested tab, applies or dismisses it, and the plan still needs approval.</a:t>
            </a:r>
            <a:endParaRPr lang="en-US" sz="1400" dirty="0"/>
          </a:p>
        </p:txBody>
      </p:sp>
      <p:sp>
        <p:nvSpPr>
          <p:cNvPr id="17" name="Shape 15"/>
          <p:cNvSpPr/>
          <p:nvPr/>
        </p:nvSpPr>
        <p:spPr>
          <a:xfrm>
            <a:off x="812800" y="3920331"/>
            <a:ext cx="10566400" cy="828014"/>
          </a:xfrm>
          <a:custGeom>
            <a:avLst/>
            <a:gdLst/>
            <a:ahLst/>
            <a:cxnLst/>
            <a:rect l="l" t="t" r="r" b="b"/>
            <a:pathLst>
              <a:path w="10566400" h="828014">
                <a:moveTo>
                  <a:pt x="101600" y="828014"/>
                </a:moveTo>
                <a:lnTo>
                  <a:pt x="101600" y="828014"/>
                </a:lnTo>
                <a:arcTo hR="101600" wR="101600" stAng="5400000" swAng="5400000"/>
                <a:lnTo>
                  <a:pt x="0" y="101600"/>
                </a:lnTo>
                <a:arcTo hR="101600" wR="101600" stAng="10800000" swAng="5400000"/>
                <a:lnTo>
                  <a:pt x="101600" y="0"/>
                </a:lnTo>
                <a:arcTo hR="101600" wR="50800" stAng="16200000" swAng="-5400000"/>
                <a:lnTo>
                  <a:pt x="50800" y="726414"/>
                </a:lnTo>
                <a:arcTo hR="101600" wR="50800" stAng="10800000" swAng="-5400000"/>
                <a:close/>
              </a:path>
            </a:pathLst>
          </a:custGeom>
          <a:solidFill>
            <a:srgbClr val="F5A623"/>
          </a:solidFill>
          <a:ln/>
        </p:spPr>
      </p:sp>
      <p:sp>
        <p:nvSpPr>
          <p:cNvPr id="18" name="Text 16"/>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Bulwark | Innova Solutions</a:t>
            </a:r>
            <a:endParaRPr lang="en-US" sz="1200" dirty="0"/>
          </a:p>
        </p:txBody>
      </p:sp>
      <p:sp>
        <p:nvSpPr>
          <p:cNvPr id="19" name="Text 1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9FD"/>
        </a:solidFill>
      </p:bgPr>
    </p:bg>
    <p:spTree>
      <p:nvGrpSpPr>
        <p:cNvPr id="1" name=""/>
        <p:cNvGrpSpPr/>
        <p:nvPr/>
      </p:nvGrpSpPr>
      <p:grpSpPr>
        <a:xfrm>
          <a:off x="0" y="0"/>
          <a:ext cx="0" cy="0"/>
          <a:chOff x="0" y="0"/>
          <a:chExt cx="0" cy="0"/>
        </a:xfrm>
      </p:grpSpPr>
      <p:sp>
        <p:nvSpPr>
          <p:cNvPr id="2" name="Text 0"/>
          <p:cNvSpPr/>
          <p:nvPr/>
        </p:nvSpPr>
        <p:spPr>
          <a:xfrm>
            <a:off x="812800" y="6096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B26A00"/>
                </a:solidFill>
                <a:latin typeface="Public Sans" pitchFamily="34" charset="0"/>
                <a:ea typeface="Public Sans" pitchFamily="34" charset="-122"/>
                <a:cs typeface="Public Sans" pitchFamily="34" charset="-120"/>
              </a:rPr>
              <a:t>AI AGENT 3</a:t>
            </a:r>
            <a:endParaRPr lang="en-US" sz="1300" dirty="0"/>
          </a:p>
        </p:txBody>
      </p:sp>
      <p:sp>
        <p:nvSpPr>
          <p:cNvPr id="3" name="Text 1"/>
          <p:cNvSpPr/>
          <p:nvPr>
            <p:ph type="title"/>
          </p:nvPr>
        </p:nvSpPr>
        <p:spPr>
          <a:xfrm>
            <a:off x="812800" y="891518"/>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2545"/>
                </a:solidFill>
                <a:latin typeface="Source Serif 4" pitchFamily="18" charset="0"/>
                <a:ea typeface="Source Serif 4" pitchFamily="18" charset="-122"/>
                <a:cs typeface="Source Serif 4" pitchFamily="18" charset="-120"/>
              </a:rPr>
              <a:t>The chat assistant</a:t>
            </a:r>
            <a:endParaRPr lang="en-US" sz="3200" dirty="0"/>
          </a:p>
        </p:txBody>
      </p:sp>
      <p:sp>
        <p:nvSpPr>
          <p:cNvPr id="4" name="Text 2"/>
          <p:cNvSpPr/>
          <p:nvPr/>
        </p:nvSpPr>
        <p:spPr>
          <a:xfrm>
            <a:off x="812800" y="1516329"/>
            <a:ext cx="58864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B7C"/>
                </a:solidFill>
                <a:latin typeface="Public Sans" pitchFamily="34" charset="0"/>
                <a:ea typeface="Public Sans" pitchFamily="34" charset="-122"/>
                <a:cs typeface="Public Sans" pitchFamily="34" charset="-120"/>
              </a:rPr>
              <a:t>EXAMPLE CONVERSATION</a:t>
            </a:r>
            <a:endParaRPr lang="en-US" sz="1200" dirty="0"/>
          </a:p>
        </p:txBody>
      </p:sp>
      <p:sp>
        <p:nvSpPr>
          <p:cNvPr id="5" name="Text 3"/>
          <p:cNvSpPr/>
          <p:nvPr/>
        </p:nvSpPr>
        <p:spPr>
          <a:xfrm>
            <a:off x="812800" y="1831249"/>
            <a:ext cx="4445000" cy="443177"/>
          </a:xfrm>
          <a:prstGeom prst="roundRect">
            <a:avLst>
              <a:gd name="adj" fmla="val 34388"/>
            </a:avLst>
          </a:prstGeom>
          <a:solidFill>
            <a:srgbClr val="0072CE"/>
          </a:solidFill>
          <a:ln/>
        </p:spPr>
        <p:txBody>
          <a:bodyPr wrap="square" lIns="133164" tIns="56964" rIns="10482" bIns="31564" rtlCol="0" anchor="t">
            <a:normAutofit/>
          </a:bodyPr>
          <a:lstStyle/>
          <a:p>
            <a:pPr algn="l" indent="0" marL="0">
              <a:lnSpc>
                <a:spcPts val="1890"/>
              </a:lnSpc>
              <a:buNone/>
            </a:pPr>
            <a:r>
              <a:rPr lang="en-US" sz="1400" dirty="0">
                <a:solidFill>
                  <a:srgbClr val="FFFFFF"/>
                </a:solidFill>
                <a:latin typeface="Public Sans" pitchFamily="34" charset="0"/>
                <a:ea typeface="Public Sans" pitchFamily="34" charset="-122"/>
                <a:cs typeface="Public Sans" pitchFamily="34" charset="-120"/>
              </a:rPr>
              <a:t>Which critical incidents are still open?</a:t>
            </a:r>
            <a:endParaRPr lang="en-US" sz="1400" dirty="0"/>
          </a:p>
        </p:txBody>
      </p:sp>
      <p:sp>
        <p:nvSpPr>
          <p:cNvPr id="6" name="Text 4"/>
          <p:cNvSpPr/>
          <p:nvPr/>
        </p:nvSpPr>
        <p:spPr>
          <a:xfrm>
            <a:off x="812800" y="2376029"/>
            <a:ext cx="4826000" cy="683154"/>
          </a:xfrm>
          <a:prstGeom prst="roundRect">
            <a:avLst>
              <a:gd name="adj" fmla="val 22308"/>
            </a:avLst>
          </a:prstGeom>
          <a:solidFill>
            <a:srgbClr val="FFFFFF"/>
          </a:solidFill>
          <a:ln/>
        </p:spPr>
        <p:txBody>
          <a:bodyPr wrap="square" lIns="133164" tIns="56964" rIns="0" bIns="31564" rtlCol="0" anchor="t">
            <a:normAutofit/>
          </a:bodyPr>
          <a:lstStyle/>
          <a:p>
            <a:pPr algn="l" indent="0" marL="0">
              <a:lnSpc>
                <a:spcPts val="1890"/>
              </a:lnSpc>
              <a:buNone/>
            </a:pPr>
            <a:r>
              <a:rPr lang="en-US" sz="1400" dirty="0">
                <a:solidFill>
                  <a:srgbClr val="0B2545"/>
                </a:solidFill>
                <a:latin typeface="Public Sans" pitchFamily="34" charset="0"/>
                <a:ea typeface="Public Sans" pitchFamily="34" charset="-122"/>
                <a:cs typeface="Public Sans" pitchFamily="34" charset="-120"/>
              </a:rPr>
              <a:t>There are 3 critical incidents in OPEN. Want me to show the similar past fixes for each?</a:t>
            </a:r>
            <a:endParaRPr lang="en-US" sz="1400" dirty="0"/>
          </a:p>
        </p:txBody>
      </p:sp>
      <p:sp>
        <p:nvSpPr>
          <p:cNvPr id="7" name="Text 5"/>
          <p:cNvSpPr/>
          <p:nvPr/>
        </p:nvSpPr>
        <p:spPr>
          <a:xfrm>
            <a:off x="812800" y="3160781"/>
            <a:ext cx="4445000" cy="443177"/>
          </a:xfrm>
          <a:prstGeom prst="roundRect">
            <a:avLst>
              <a:gd name="adj" fmla="val 34388"/>
            </a:avLst>
          </a:prstGeom>
          <a:solidFill>
            <a:srgbClr val="0072CE"/>
          </a:solidFill>
          <a:ln/>
        </p:spPr>
        <p:txBody>
          <a:bodyPr wrap="square" lIns="133164" tIns="56964" rIns="10482" bIns="31564" rtlCol="0" anchor="t">
            <a:normAutofit/>
          </a:bodyPr>
          <a:lstStyle/>
          <a:p>
            <a:pPr algn="l" indent="0" marL="0">
              <a:lnSpc>
                <a:spcPts val="1890"/>
              </a:lnSpc>
              <a:buNone/>
            </a:pPr>
            <a:r>
              <a:rPr lang="en-US" sz="1400" dirty="0">
                <a:solidFill>
                  <a:srgbClr val="FFFFFF"/>
                </a:solidFill>
                <a:latin typeface="Public Sans" pitchFamily="34" charset="0"/>
                <a:ea typeface="Public Sans" pitchFamily="34" charset="-122"/>
                <a:cs typeface="Public Sans" pitchFamily="34" charset="-120"/>
              </a:rPr>
              <a:t>Yes, and submit the first one for approval.</a:t>
            </a:r>
            <a:endParaRPr lang="en-US" sz="1400" dirty="0"/>
          </a:p>
        </p:txBody>
      </p:sp>
      <p:sp>
        <p:nvSpPr>
          <p:cNvPr id="8" name="Text 6"/>
          <p:cNvSpPr/>
          <p:nvPr/>
        </p:nvSpPr>
        <p:spPr>
          <a:xfrm>
            <a:off x="819150" y="3711910"/>
            <a:ext cx="5067300" cy="695854"/>
          </a:xfrm>
          <a:prstGeom prst="roundRect">
            <a:avLst>
              <a:gd name="adj" fmla="val 20989"/>
            </a:avLst>
          </a:prstGeom>
          <a:solidFill>
            <a:srgbClr val="FEF3DD"/>
          </a:solidFill>
          <a:ln w="12700">
            <a:solidFill>
              <a:srgbClr val="F5A623"/>
            </a:solidFill>
            <a:prstDash val="solid"/>
          </a:ln>
        </p:spPr>
        <p:txBody>
          <a:bodyPr wrap="square" lIns="141373" tIns="65173" rIns="403" bIns="39773" rtlCol="0" anchor="t">
            <a:normAutofit/>
          </a:bodyPr>
          <a:lstStyle/>
          <a:p>
            <a:pPr algn="l" indent="0" marL="0">
              <a:lnSpc>
                <a:spcPts val="1890"/>
              </a:lnSpc>
              <a:buNone/>
            </a:pPr>
            <a:r>
              <a:rPr lang="en-US" sz="1400" b="1" dirty="0">
                <a:solidFill>
                  <a:srgbClr val="0B2545"/>
                </a:solidFill>
                <a:latin typeface="Public Sans" pitchFamily="34" charset="0"/>
                <a:ea typeface="Public Sans" pitchFamily="34" charset="-122"/>
                <a:cs typeface="Public Sans" pitchFamily="34" charset="-120"/>
              </a:rPr>
              <a:t>Confirm?</a:t>
            </a:r>
            <a:r>
              <a:rPr lang="en-US" sz="1400" dirty="0">
                <a:solidFill>
                  <a:srgbClr val="0B2545"/>
                </a:solidFill>
                <a:latin typeface="Public Sans" pitchFamily="34" charset="0"/>
                <a:ea typeface="Public Sans" pitchFamily="34" charset="-122"/>
                <a:cs typeface="Public Sans" pitchFamily="34" charset="-120"/>
              </a:rPr>
              <a:t> Submit this incident’s plan to an approver. [Approve] [Cancel]</a:t>
            </a:r>
            <a:endParaRPr lang="en-US" sz="1400" dirty="0"/>
          </a:p>
        </p:txBody>
      </p:sp>
      <p:sp>
        <p:nvSpPr>
          <p:cNvPr id="9" name="Shape 7"/>
          <p:cNvSpPr/>
          <p:nvPr/>
        </p:nvSpPr>
        <p:spPr>
          <a:xfrm>
            <a:off x="6781800" y="1516329"/>
            <a:ext cx="4597400" cy="1067991"/>
          </a:xfrm>
          <a:prstGeom prst="roundRect">
            <a:avLst>
              <a:gd name="adj" fmla="val 9513"/>
            </a:avLst>
          </a:prstGeom>
          <a:solidFill>
            <a:srgbClr val="FFFFFF"/>
          </a:solidFill>
          <a:ln/>
        </p:spPr>
      </p:sp>
      <p:sp>
        <p:nvSpPr>
          <p:cNvPr id="10" name="Shape 8"/>
          <p:cNvSpPr/>
          <p:nvPr/>
        </p:nvSpPr>
        <p:spPr>
          <a:xfrm>
            <a:off x="6781800" y="1516329"/>
            <a:ext cx="4597400" cy="1067991"/>
          </a:xfrm>
          <a:custGeom>
            <a:avLst/>
            <a:gdLst/>
            <a:ahLst/>
            <a:cxnLst/>
            <a:rect l="l" t="t" r="r" b="b"/>
            <a:pathLst>
              <a:path w="4597400" h="1067991">
                <a:moveTo>
                  <a:pt x="0" y="101600"/>
                </a:moveTo>
                <a:lnTo>
                  <a:pt x="0" y="101600"/>
                </a:lnTo>
                <a:arcTo hR="101600" wR="101600" stAng="10800000" swAng="5400000"/>
                <a:lnTo>
                  <a:pt x="4495800" y="0"/>
                </a:lnTo>
                <a:arcTo hR="101600" wR="101600" stAng="16200000" swAng="5400000"/>
                <a:lnTo>
                  <a:pt x="4597400" y="101600"/>
                </a:lnTo>
                <a:arcTo hR="63500" wR="101600" stAng="0" swAng="-5400000"/>
                <a:lnTo>
                  <a:pt x="101600" y="38100"/>
                </a:lnTo>
                <a:arcTo hR="63500" wR="101600" stAng="16200000" swAng="-5400000"/>
                <a:close/>
              </a:path>
            </a:pathLst>
          </a:custGeom>
          <a:solidFill>
            <a:srgbClr val="0072CE"/>
          </a:solidFill>
          <a:ln/>
        </p:spPr>
      </p:sp>
      <p:sp>
        <p:nvSpPr>
          <p:cNvPr id="11" name="Text 9"/>
          <p:cNvSpPr/>
          <p:nvPr/>
        </p:nvSpPr>
        <p:spPr>
          <a:xfrm>
            <a:off x="6959600" y="1706829"/>
            <a:ext cx="436905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072CE"/>
                </a:solidFill>
                <a:latin typeface="Public Sans" pitchFamily="34" charset="0"/>
                <a:ea typeface="Public Sans" pitchFamily="34" charset="-122"/>
                <a:cs typeface="Public Sans" pitchFamily="34" charset="-120"/>
              </a:rPr>
              <a:t>Where to find it</a:t>
            </a:r>
            <a:endParaRPr lang="en-US" sz="1500" dirty="0"/>
          </a:p>
        </p:txBody>
      </p:sp>
      <p:sp>
        <p:nvSpPr>
          <p:cNvPr id="12" name="Text 10"/>
          <p:cNvSpPr/>
          <p:nvPr/>
        </p:nvSpPr>
        <p:spPr>
          <a:xfrm>
            <a:off x="6959600" y="1986229"/>
            <a:ext cx="436905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B6B7C"/>
                </a:solidFill>
                <a:latin typeface="Public Sans" pitchFamily="34" charset="0"/>
                <a:ea typeface="Public Sans" pitchFamily="34" charset="-122"/>
                <a:cs typeface="Public Sans" pitchFamily="34" charset="-120"/>
              </a:rPr>
              <a:t>Floating chat icon on every console page, or the standalone agent app.</a:t>
            </a:r>
            <a:endParaRPr lang="en-US" sz="1300" dirty="0"/>
          </a:p>
        </p:txBody>
      </p:sp>
      <p:sp>
        <p:nvSpPr>
          <p:cNvPr id="13" name="Shape 11"/>
          <p:cNvSpPr/>
          <p:nvPr/>
        </p:nvSpPr>
        <p:spPr>
          <a:xfrm>
            <a:off x="6781800" y="2698620"/>
            <a:ext cx="4597400" cy="1067991"/>
          </a:xfrm>
          <a:prstGeom prst="roundRect">
            <a:avLst>
              <a:gd name="adj" fmla="val 9513"/>
            </a:avLst>
          </a:prstGeom>
          <a:solidFill>
            <a:srgbClr val="FFFFFF"/>
          </a:solidFill>
          <a:ln/>
        </p:spPr>
      </p:sp>
      <p:sp>
        <p:nvSpPr>
          <p:cNvPr id="14" name="Shape 12"/>
          <p:cNvSpPr/>
          <p:nvPr/>
        </p:nvSpPr>
        <p:spPr>
          <a:xfrm>
            <a:off x="6781800" y="2698620"/>
            <a:ext cx="4597400" cy="1067991"/>
          </a:xfrm>
          <a:custGeom>
            <a:avLst/>
            <a:gdLst/>
            <a:ahLst/>
            <a:cxnLst/>
            <a:rect l="l" t="t" r="r" b="b"/>
            <a:pathLst>
              <a:path w="4597400" h="1067991">
                <a:moveTo>
                  <a:pt x="0" y="101600"/>
                </a:moveTo>
                <a:lnTo>
                  <a:pt x="0" y="101600"/>
                </a:lnTo>
                <a:arcTo hR="101600" wR="101600" stAng="10800000" swAng="5400000"/>
                <a:lnTo>
                  <a:pt x="4495800" y="0"/>
                </a:lnTo>
                <a:arcTo hR="101600" wR="101600" stAng="16200000" swAng="5400000"/>
                <a:lnTo>
                  <a:pt x="4597400" y="101600"/>
                </a:lnTo>
                <a:arcTo hR="63500" wR="101600" stAng="0" swAng="-5400000"/>
                <a:lnTo>
                  <a:pt x="101600" y="38100"/>
                </a:lnTo>
                <a:arcTo hR="63500" wR="101600" stAng="16200000" swAng="-5400000"/>
                <a:close/>
              </a:path>
            </a:pathLst>
          </a:custGeom>
          <a:solidFill>
            <a:srgbClr val="0072CE"/>
          </a:solidFill>
          <a:ln/>
        </p:spPr>
      </p:sp>
      <p:sp>
        <p:nvSpPr>
          <p:cNvPr id="15" name="Text 13"/>
          <p:cNvSpPr/>
          <p:nvPr/>
        </p:nvSpPr>
        <p:spPr>
          <a:xfrm>
            <a:off x="6959600" y="2889120"/>
            <a:ext cx="436905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072CE"/>
                </a:solidFill>
                <a:latin typeface="Public Sans" pitchFamily="34" charset="0"/>
                <a:ea typeface="Public Sans" pitchFamily="34" charset="-122"/>
                <a:cs typeface="Public Sans" pitchFamily="34" charset="-120"/>
              </a:rPr>
              <a:t>What it can do</a:t>
            </a:r>
            <a:endParaRPr lang="en-US" sz="1500" dirty="0"/>
          </a:p>
        </p:txBody>
      </p:sp>
      <p:sp>
        <p:nvSpPr>
          <p:cNvPr id="16" name="Text 14"/>
          <p:cNvSpPr/>
          <p:nvPr/>
        </p:nvSpPr>
        <p:spPr>
          <a:xfrm>
            <a:off x="6959600" y="3168520"/>
            <a:ext cx="436905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B6B7C"/>
                </a:solidFill>
                <a:latin typeface="Public Sans" pitchFamily="34" charset="0"/>
                <a:ea typeface="Public Sans" pitchFamily="34" charset="-122"/>
                <a:cs typeface="Public Sans" pitchFamily="34" charset="-120"/>
              </a:rPr>
              <a:t>Search by meaning, brief and report on risk, look up assets and plans, and prepare actions.</a:t>
            </a:r>
            <a:endParaRPr lang="en-US" sz="1300" dirty="0"/>
          </a:p>
        </p:txBody>
      </p:sp>
      <p:sp>
        <p:nvSpPr>
          <p:cNvPr id="17" name="Shape 15"/>
          <p:cNvSpPr/>
          <p:nvPr/>
        </p:nvSpPr>
        <p:spPr>
          <a:xfrm>
            <a:off x="6781800" y="3880910"/>
            <a:ext cx="4597400" cy="845145"/>
          </a:xfrm>
          <a:prstGeom prst="roundRect">
            <a:avLst>
              <a:gd name="adj" fmla="val 12022"/>
            </a:avLst>
          </a:prstGeom>
          <a:solidFill>
            <a:srgbClr val="FEF3DD"/>
          </a:solidFill>
          <a:ln/>
        </p:spPr>
      </p:sp>
      <p:sp>
        <p:nvSpPr>
          <p:cNvPr id="18" name="Shape 16"/>
          <p:cNvSpPr/>
          <p:nvPr/>
        </p:nvSpPr>
        <p:spPr>
          <a:xfrm>
            <a:off x="6781800" y="3880910"/>
            <a:ext cx="4597400" cy="845145"/>
          </a:xfrm>
          <a:custGeom>
            <a:avLst/>
            <a:gdLst/>
            <a:ahLst/>
            <a:cxnLst/>
            <a:rect l="l" t="t" r="r" b="b"/>
            <a:pathLst>
              <a:path w="4597400" h="845145">
                <a:moveTo>
                  <a:pt x="0" y="101600"/>
                </a:moveTo>
                <a:lnTo>
                  <a:pt x="0" y="101600"/>
                </a:lnTo>
                <a:arcTo hR="101600" wR="101600" stAng="10800000" swAng="5400000"/>
                <a:lnTo>
                  <a:pt x="4495800" y="0"/>
                </a:lnTo>
                <a:arcTo hR="101600" wR="101600" stAng="16200000" swAng="5400000"/>
                <a:lnTo>
                  <a:pt x="4597400" y="101600"/>
                </a:lnTo>
                <a:arcTo hR="63500" wR="101600" stAng="0" swAng="-5400000"/>
                <a:lnTo>
                  <a:pt x="101600" y="38100"/>
                </a:lnTo>
                <a:arcTo hR="63500" wR="101600" stAng="16200000" swAng="-5400000"/>
                <a:close/>
              </a:path>
            </a:pathLst>
          </a:custGeom>
          <a:solidFill>
            <a:srgbClr val="F5A623"/>
          </a:solidFill>
          <a:ln/>
        </p:spPr>
      </p:sp>
      <p:sp>
        <p:nvSpPr>
          <p:cNvPr id="19" name="Text 17"/>
          <p:cNvSpPr/>
          <p:nvPr/>
        </p:nvSpPr>
        <p:spPr>
          <a:xfrm>
            <a:off x="6959600" y="4071410"/>
            <a:ext cx="436905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2545"/>
                </a:solidFill>
                <a:latin typeface="Public Sans" pitchFamily="34" charset="0"/>
                <a:ea typeface="Public Sans" pitchFamily="34" charset="-122"/>
                <a:cs typeface="Public Sans" pitchFamily="34" charset="-120"/>
              </a:rPr>
              <a:t>Guardrails</a:t>
            </a:r>
            <a:endParaRPr lang="en-US" sz="1500" dirty="0"/>
          </a:p>
        </p:txBody>
      </p:sp>
      <p:sp>
        <p:nvSpPr>
          <p:cNvPr id="20" name="Text 18"/>
          <p:cNvSpPr/>
          <p:nvPr/>
        </p:nvSpPr>
        <p:spPr>
          <a:xfrm>
            <a:off x="6959600" y="4350810"/>
            <a:ext cx="441960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0B2545"/>
                </a:solidFill>
                <a:latin typeface="Public Sans" pitchFamily="34" charset="0"/>
                <a:ea typeface="Public Sans" pitchFamily="34" charset="-122"/>
                <a:cs typeface="Public Sans" pitchFamily="34" charset="-120"/>
              </a:rPr>
              <a:t>Changes need your click. Your role limits what it can do.</a:t>
            </a:r>
            <a:endParaRPr lang="en-US" sz="1300" dirty="0"/>
          </a:p>
        </p:txBody>
      </p:sp>
      <p:sp>
        <p:nvSpPr>
          <p:cNvPr id="21" name="Text 19"/>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Bulwark | Innova Solutions</a:t>
            </a:r>
            <a:endParaRPr lang="en-US" sz="1200" dirty="0"/>
          </a:p>
        </p:txBody>
      </p:sp>
      <p:sp>
        <p:nvSpPr>
          <p:cNvPr id="22" name="Text 2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9FD"/>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2545"/>
                </a:solidFill>
                <a:latin typeface="Source Serif 4" pitchFamily="18" charset="0"/>
                <a:ea typeface="Source Serif 4" pitchFamily="18" charset="-122"/>
                <a:cs typeface="Source Serif 4" pitchFamily="18" charset="-120"/>
              </a:rPr>
              <a:t>Incident workflow</a:t>
            </a:r>
            <a:endParaRPr lang="en-US" sz="3200" dirty="0"/>
          </a:p>
        </p:txBody>
      </p:sp>
      <p:sp>
        <p:nvSpPr>
          <p:cNvPr id="3" name="Shape 1"/>
          <p:cNvSpPr/>
          <p:nvPr/>
        </p:nvSpPr>
        <p:spPr>
          <a:xfrm>
            <a:off x="812800" y="1259818"/>
            <a:ext cx="1676400" cy="942247"/>
          </a:xfrm>
          <a:prstGeom prst="roundRect">
            <a:avLst>
              <a:gd name="adj" fmla="val 9435"/>
            </a:avLst>
          </a:prstGeom>
          <a:solidFill>
            <a:srgbClr val="0072CE"/>
          </a:solidFill>
          <a:ln/>
        </p:spPr>
      </p:sp>
      <p:sp>
        <p:nvSpPr>
          <p:cNvPr id="4" name="Text 2"/>
          <p:cNvSpPr/>
          <p:nvPr/>
        </p:nvSpPr>
        <p:spPr>
          <a:xfrm>
            <a:off x="927100" y="1399518"/>
            <a:ext cx="14986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FFFFF"/>
                </a:solidFill>
                <a:latin typeface="Public Sans" pitchFamily="34" charset="0"/>
                <a:ea typeface="Public Sans" pitchFamily="34" charset="-122"/>
                <a:cs typeface="Public Sans" pitchFamily="34" charset="-120"/>
              </a:rPr>
              <a:t>OPEN</a:t>
            </a:r>
            <a:endParaRPr lang="en-US" sz="1400" dirty="0"/>
          </a:p>
        </p:txBody>
      </p:sp>
      <p:sp>
        <p:nvSpPr>
          <p:cNvPr id="5" name="Text 3"/>
          <p:cNvSpPr/>
          <p:nvPr/>
        </p:nvSpPr>
        <p:spPr>
          <a:xfrm>
            <a:off x="927100" y="1650938"/>
            <a:ext cx="1498600"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DCEBFA"/>
                </a:solidFill>
                <a:latin typeface="Public Sans" pitchFamily="34" charset="0"/>
                <a:ea typeface="Public Sans" pitchFamily="34" charset="-122"/>
                <a:cs typeface="Public Sans" pitchFamily="34" charset="-120"/>
              </a:rPr>
              <a:t>Editable</a:t>
            </a:r>
            <a:endParaRPr lang="en-US" sz="1200" dirty="0"/>
          </a:p>
        </p:txBody>
      </p:sp>
      <p:sp>
        <p:nvSpPr>
          <p:cNvPr id="6" name="Shape 4"/>
          <p:cNvSpPr/>
          <p:nvPr/>
        </p:nvSpPr>
        <p:spPr>
          <a:xfrm>
            <a:off x="2590800" y="1259818"/>
            <a:ext cx="1676400" cy="942247"/>
          </a:xfrm>
          <a:prstGeom prst="roundRect">
            <a:avLst>
              <a:gd name="adj" fmla="val 9435"/>
            </a:avLst>
          </a:prstGeom>
          <a:solidFill>
            <a:srgbClr val="0072CE"/>
          </a:solidFill>
          <a:ln/>
        </p:spPr>
      </p:sp>
      <p:sp>
        <p:nvSpPr>
          <p:cNvPr id="7" name="Text 5"/>
          <p:cNvSpPr/>
          <p:nvPr/>
        </p:nvSpPr>
        <p:spPr>
          <a:xfrm>
            <a:off x="2705100" y="1399518"/>
            <a:ext cx="1498600"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FFFFF"/>
                </a:solidFill>
                <a:latin typeface="Public Sans" pitchFamily="34" charset="0"/>
                <a:ea typeface="Public Sans" pitchFamily="34" charset="-122"/>
                <a:cs typeface="Public Sans" pitchFamily="34" charset="-120"/>
              </a:rPr>
              <a:t>PENDING APPROVAL</a:t>
            </a:r>
            <a:endParaRPr lang="en-US" sz="1400" dirty="0"/>
          </a:p>
        </p:txBody>
      </p:sp>
      <p:sp>
        <p:nvSpPr>
          <p:cNvPr id="8" name="Text 6"/>
          <p:cNvSpPr/>
          <p:nvPr/>
        </p:nvSpPr>
        <p:spPr>
          <a:xfrm>
            <a:off x="2705100" y="1864258"/>
            <a:ext cx="1498600"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DCEBFA"/>
                </a:solidFill>
                <a:latin typeface="Public Sans" pitchFamily="34" charset="0"/>
                <a:ea typeface="Public Sans" pitchFamily="34" charset="-122"/>
                <a:cs typeface="Public Sans" pitchFamily="34" charset="-120"/>
              </a:rPr>
              <a:t>Plan locked</a:t>
            </a:r>
            <a:endParaRPr lang="en-US" sz="1200" dirty="0"/>
          </a:p>
        </p:txBody>
      </p:sp>
      <p:sp>
        <p:nvSpPr>
          <p:cNvPr id="9" name="Shape 7"/>
          <p:cNvSpPr/>
          <p:nvPr/>
        </p:nvSpPr>
        <p:spPr>
          <a:xfrm>
            <a:off x="4368800" y="1259818"/>
            <a:ext cx="1676400" cy="942247"/>
          </a:xfrm>
          <a:prstGeom prst="roundRect">
            <a:avLst>
              <a:gd name="adj" fmla="val 9435"/>
            </a:avLst>
          </a:prstGeom>
          <a:solidFill>
            <a:srgbClr val="0072CE"/>
          </a:solidFill>
          <a:ln/>
        </p:spPr>
      </p:sp>
      <p:sp>
        <p:nvSpPr>
          <p:cNvPr id="10" name="Text 8"/>
          <p:cNvSpPr/>
          <p:nvPr/>
        </p:nvSpPr>
        <p:spPr>
          <a:xfrm>
            <a:off x="4483100" y="1399518"/>
            <a:ext cx="14986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FFFFF"/>
                </a:solidFill>
                <a:latin typeface="Public Sans" pitchFamily="34" charset="0"/>
                <a:ea typeface="Public Sans" pitchFamily="34" charset="-122"/>
                <a:cs typeface="Public Sans" pitchFamily="34" charset="-120"/>
              </a:rPr>
              <a:t>APPROVED</a:t>
            </a:r>
            <a:endParaRPr lang="en-US" sz="1400" dirty="0"/>
          </a:p>
        </p:txBody>
      </p:sp>
      <p:sp>
        <p:nvSpPr>
          <p:cNvPr id="11" name="Text 9"/>
          <p:cNvSpPr/>
          <p:nvPr/>
        </p:nvSpPr>
        <p:spPr>
          <a:xfrm>
            <a:off x="4483100" y="1650938"/>
            <a:ext cx="1498600"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DCEBFA"/>
                </a:solidFill>
                <a:latin typeface="Public Sans" pitchFamily="34" charset="0"/>
                <a:ea typeface="Public Sans" pitchFamily="34" charset="-122"/>
                <a:cs typeface="Public Sans" pitchFamily="34" charset="-120"/>
              </a:rPr>
              <a:t>Ready to run</a:t>
            </a:r>
            <a:endParaRPr lang="en-US" sz="1200" dirty="0"/>
          </a:p>
        </p:txBody>
      </p:sp>
      <p:sp>
        <p:nvSpPr>
          <p:cNvPr id="12" name="Shape 10"/>
          <p:cNvSpPr/>
          <p:nvPr/>
        </p:nvSpPr>
        <p:spPr>
          <a:xfrm>
            <a:off x="6146800" y="1259818"/>
            <a:ext cx="1676400" cy="942247"/>
          </a:xfrm>
          <a:prstGeom prst="roundRect">
            <a:avLst>
              <a:gd name="adj" fmla="val 9435"/>
            </a:avLst>
          </a:prstGeom>
          <a:solidFill>
            <a:srgbClr val="0072CE"/>
          </a:solidFill>
          <a:ln/>
        </p:spPr>
      </p:sp>
      <p:sp>
        <p:nvSpPr>
          <p:cNvPr id="13" name="Text 11"/>
          <p:cNvSpPr/>
          <p:nvPr/>
        </p:nvSpPr>
        <p:spPr>
          <a:xfrm>
            <a:off x="6261100" y="1399518"/>
            <a:ext cx="14986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FFFFF"/>
                </a:solidFill>
                <a:latin typeface="Public Sans" pitchFamily="34" charset="0"/>
                <a:ea typeface="Public Sans" pitchFamily="34" charset="-122"/>
                <a:cs typeface="Public Sans" pitchFamily="34" charset="-120"/>
              </a:rPr>
              <a:t>IN PROGRESS</a:t>
            </a:r>
            <a:endParaRPr lang="en-US" sz="1400" dirty="0"/>
          </a:p>
        </p:txBody>
      </p:sp>
      <p:sp>
        <p:nvSpPr>
          <p:cNvPr id="14" name="Text 12"/>
          <p:cNvSpPr/>
          <p:nvPr/>
        </p:nvSpPr>
        <p:spPr>
          <a:xfrm>
            <a:off x="6261100" y="1650938"/>
            <a:ext cx="1498600"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DCEBFA"/>
                </a:solidFill>
                <a:latin typeface="Public Sans" pitchFamily="34" charset="0"/>
                <a:ea typeface="Public Sans" pitchFamily="34" charset="-122"/>
                <a:cs typeface="Public Sans" pitchFamily="34" charset="-120"/>
              </a:rPr>
              <a:t>Jobs per asset</a:t>
            </a:r>
            <a:endParaRPr lang="en-US" sz="1200" dirty="0"/>
          </a:p>
        </p:txBody>
      </p:sp>
      <p:sp>
        <p:nvSpPr>
          <p:cNvPr id="15" name="Shape 13"/>
          <p:cNvSpPr/>
          <p:nvPr/>
        </p:nvSpPr>
        <p:spPr>
          <a:xfrm>
            <a:off x="7924800" y="1259818"/>
            <a:ext cx="1676400" cy="942247"/>
          </a:xfrm>
          <a:prstGeom prst="roundRect">
            <a:avLst>
              <a:gd name="adj" fmla="val 9435"/>
            </a:avLst>
          </a:prstGeom>
          <a:solidFill>
            <a:srgbClr val="0B2545"/>
          </a:solidFill>
          <a:ln/>
        </p:spPr>
      </p:sp>
      <p:sp>
        <p:nvSpPr>
          <p:cNvPr id="16" name="Text 14"/>
          <p:cNvSpPr/>
          <p:nvPr/>
        </p:nvSpPr>
        <p:spPr>
          <a:xfrm>
            <a:off x="8039100" y="1399518"/>
            <a:ext cx="14986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FFFFF"/>
                </a:solidFill>
                <a:latin typeface="Public Sans" pitchFamily="34" charset="0"/>
                <a:ea typeface="Public Sans" pitchFamily="34" charset="-122"/>
                <a:cs typeface="Public Sans" pitchFamily="34" charset="-120"/>
              </a:rPr>
              <a:t>RESOLVED</a:t>
            </a:r>
            <a:endParaRPr lang="en-US" sz="1400" dirty="0"/>
          </a:p>
        </p:txBody>
      </p:sp>
      <p:sp>
        <p:nvSpPr>
          <p:cNvPr id="17" name="Text 15"/>
          <p:cNvSpPr/>
          <p:nvPr/>
        </p:nvSpPr>
        <p:spPr>
          <a:xfrm>
            <a:off x="8039100" y="1650938"/>
            <a:ext cx="1498600"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DF2"/>
                </a:solidFill>
                <a:latin typeface="Public Sans" pitchFamily="34" charset="0"/>
                <a:ea typeface="Public Sans" pitchFamily="34" charset="-122"/>
                <a:cs typeface="Public Sans" pitchFamily="34" charset="-120"/>
              </a:rPr>
              <a:t>All assets patched</a:t>
            </a:r>
            <a:endParaRPr lang="en-US" sz="1200" dirty="0"/>
          </a:p>
        </p:txBody>
      </p:sp>
      <p:sp>
        <p:nvSpPr>
          <p:cNvPr id="18" name="Shape 16"/>
          <p:cNvSpPr/>
          <p:nvPr/>
        </p:nvSpPr>
        <p:spPr>
          <a:xfrm>
            <a:off x="9702800" y="1259818"/>
            <a:ext cx="1676400" cy="942247"/>
          </a:xfrm>
          <a:prstGeom prst="roundRect">
            <a:avLst>
              <a:gd name="adj" fmla="val 9435"/>
            </a:avLst>
          </a:prstGeom>
          <a:solidFill>
            <a:srgbClr val="0B2545"/>
          </a:solidFill>
          <a:ln/>
        </p:spPr>
      </p:sp>
      <p:sp>
        <p:nvSpPr>
          <p:cNvPr id="19" name="Text 17"/>
          <p:cNvSpPr/>
          <p:nvPr/>
        </p:nvSpPr>
        <p:spPr>
          <a:xfrm>
            <a:off x="9817100" y="1399518"/>
            <a:ext cx="14986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FFFFF"/>
                </a:solidFill>
                <a:latin typeface="Public Sans" pitchFamily="34" charset="0"/>
                <a:ea typeface="Public Sans" pitchFamily="34" charset="-122"/>
                <a:cs typeface="Public Sans" pitchFamily="34" charset="-120"/>
              </a:rPr>
              <a:t>CLOSED</a:t>
            </a:r>
            <a:endParaRPr lang="en-US" sz="1400" dirty="0"/>
          </a:p>
        </p:txBody>
      </p:sp>
      <p:sp>
        <p:nvSpPr>
          <p:cNvPr id="20" name="Text 18"/>
          <p:cNvSpPr/>
          <p:nvPr/>
        </p:nvSpPr>
        <p:spPr>
          <a:xfrm>
            <a:off x="9817100" y="1650938"/>
            <a:ext cx="1498600"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DF2"/>
                </a:solidFill>
                <a:latin typeface="Public Sans" pitchFamily="34" charset="0"/>
                <a:ea typeface="Public Sans" pitchFamily="34" charset="-122"/>
                <a:cs typeface="Public Sans" pitchFamily="34" charset="-120"/>
              </a:rPr>
              <a:t>Verified, filed</a:t>
            </a:r>
            <a:endParaRPr lang="en-US" sz="1200" dirty="0"/>
          </a:p>
        </p:txBody>
      </p:sp>
      <p:sp>
        <p:nvSpPr>
          <p:cNvPr id="21" name="Text 19"/>
          <p:cNvSpPr/>
          <p:nvPr/>
        </p:nvSpPr>
        <p:spPr>
          <a:xfrm>
            <a:off x="812800" y="2405261"/>
            <a:ext cx="1137920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6B7C"/>
                </a:solidFill>
                <a:latin typeface="Public Sans" pitchFamily="34" charset="0"/>
                <a:ea typeface="Public Sans" pitchFamily="34" charset="-122"/>
                <a:cs typeface="Public Sans" pitchFamily="34" charset="-120"/>
              </a:rPr>
              <a:t>REJECTED: the plan goes back to OPEN for editing, and a snapshot of what was reviewed is kept. Rule: one open incident per vulnerability.</a:t>
            </a:r>
            <a:endParaRPr lang="en-US" sz="1300" dirty="0"/>
          </a:p>
        </p:txBody>
      </p:sp>
      <p:sp>
        <p:nvSpPr>
          <p:cNvPr id="22" name="Shape 20"/>
          <p:cNvSpPr/>
          <p:nvPr/>
        </p:nvSpPr>
        <p:spPr>
          <a:xfrm>
            <a:off x="812800" y="2839579"/>
            <a:ext cx="2546350" cy="1033727"/>
          </a:xfrm>
          <a:prstGeom prst="roundRect">
            <a:avLst>
              <a:gd name="adj" fmla="val 8600"/>
            </a:avLst>
          </a:prstGeom>
          <a:solidFill>
            <a:srgbClr val="FFFFFF"/>
          </a:solidFill>
          <a:ln/>
        </p:spPr>
      </p:sp>
      <p:sp>
        <p:nvSpPr>
          <p:cNvPr id="23" name="Text 21"/>
          <p:cNvSpPr/>
          <p:nvPr/>
        </p:nvSpPr>
        <p:spPr>
          <a:xfrm>
            <a:off x="977900" y="2991979"/>
            <a:ext cx="228263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072CE"/>
                </a:solidFill>
                <a:latin typeface="Public Sans" pitchFamily="34" charset="0"/>
                <a:ea typeface="Public Sans" pitchFamily="34" charset="-122"/>
                <a:cs typeface="Public Sans" pitchFamily="34" charset="-120"/>
              </a:rPr>
              <a:t>Analyst</a:t>
            </a:r>
            <a:endParaRPr lang="en-US" sz="1500" dirty="0"/>
          </a:p>
        </p:txBody>
      </p:sp>
      <p:sp>
        <p:nvSpPr>
          <p:cNvPr id="24" name="Text 22"/>
          <p:cNvSpPr/>
          <p:nvPr/>
        </p:nvSpPr>
        <p:spPr>
          <a:xfrm>
            <a:off x="977900" y="3271379"/>
            <a:ext cx="2282635"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B6B7C"/>
                </a:solidFill>
                <a:latin typeface="Public Sans" pitchFamily="34" charset="0"/>
                <a:ea typeface="Public Sans" pitchFamily="34" charset="-122"/>
                <a:cs typeface="Public Sans" pitchFamily="34" charset="-120"/>
              </a:rPr>
              <a:t>Picks assets and builds the plan from agent suggestions</a:t>
            </a:r>
            <a:endParaRPr lang="en-US" sz="1200" dirty="0"/>
          </a:p>
        </p:txBody>
      </p:sp>
      <p:sp>
        <p:nvSpPr>
          <p:cNvPr id="25" name="Shape 23"/>
          <p:cNvSpPr/>
          <p:nvPr/>
        </p:nvSpPr>
        <p:spPr>
          <a:xfrm>
            <a:off x="3486150" y="2839579"/>
            <a:ext cx="2546350" cy="1033727"/>
          </a:xfrm>
          <a:prstGeom prst="roundRect">
            <a:avLst>
              <a:gd name="adj" fmla="val 8600"/>
            </a:avLst>
          </a:prstGeom>
          <a:solidFill>
            <a:srgbClr val="FFFFFF"/>
          </a:solidFill>
          <a:ln/>
        </p:spPr>
      </p:sp>
      <p:sp>
        <p:nvSpPr>
          <p:cNvPr id="26" name="Text 24"/>
          <p:cNvSpPr/>
          <p:nvPr/>
        </p:nvSpPr>
        <p:spPr>
          <a:xfrm>
            <a:off x="3651250" y="2991979"/>
            <a:ext cx="228263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072CE"/>
                </a:solidFill>
                <a:latin typeface="Public Sans" pitchFamily="34" charset="0"/>
                <a:ea typeface="Public Sans" pitchFamily="34" charset="-122"/>
                <a:cs typeface="Public Sans" pitchFamily="34" charset="-120"/>
              </a:rPr>
              <a:t>Approver</a:t>
            </a:r>
            <a:endParaRPr lang="en-US" sz="1500" dirty="0"/>
          </a:p>
        </p:txBody>
      </p:sp>
      <p:sp>
        <p:nvSpPr>
          <p:cNvPr id="27" name="Text 25"/>
          <p:cNvSpPr/>
          <p:nvPr/>
        </p:nvSpPr>
        <p:spPr>
          <a:xfrm>
            <a:off x="3651250" y="3271379"/>
            <a:ext cx="2282635"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B6B7C"/>
                </a:solidFill>
                <a:latin typeface="Public Sans" pitchFamily="34" charset="0"/>
                <a:ea typeface="Public Sans" pitchFamily="34" charset="-122"/>
                <a:cs typeface="Public Sans" pitchFamily="34" charset="-120"/>
              </a:rPr>
              <a:t>Approves or rejects the submitted plan</a:t>
            </a:r>
            <a:endParaRPr lang="en-US" sz="1200" dirty="0"/>
          </a:p>
        </p:txBody>
      </p:sp>
      <p:sp>
        <p:nvSpPr>
          <p:cNvPr id="28" name="Shape 26"/>
          <p:cNvSpPr/>
          <p:nvPr/>
        </p:nvSpPr>
        <p:spPr>
          <a:xfrm>
            <a:off x="6159500" y="2839579"/>
            <a:ext cx="2546350" cy="1033727"/>
          </a:xfrm>
          <a:prstGeom prst="roundRect">
            <a:avLst>
              <a:gd name="adj" fmla="val 8600"/>
            </a:avLst>
          </a:prstGeom>
          <a:solidFill>
            <a:srgbClr val="FFFFFF"/>
          </a:solidFill>
          <a:ln/>
        </p:spPr>
      </p:sp>
      <p:sp>
        <p:nvSpPr>
          <p:cNvPr id="29" name="Text 27"/>
          <p:cNvSpPr/>
          <p:nvPr/>
        </p:nvSpPr>
        <p:spPr>
          <a:xfrm>
            <a:off x="6324600" y="2991979"/>
            <a:ext cx="228263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072CE"/>
                </a:solidFill>
                <a:latin typeface="Public Sans" pitchFamily="34" charset="0"/>
                <a:ea typeface="Public Sans" pitchFamily="34" charset="-122"/>
                <a:cs typeface="Public Sans" pitchFamily="34" charset="-120"/>
              </a:rPr>
              <a:t>Operator</a:t>
            </a:r>
            <a:endParaRPr lang="en-US" sz="1500" dirty="0"/>
          </a:p>
        </p:txBody>
      </p:sp>
      <p:sp>
        <p:nvSpPr>
          <p:cNvPr id="30" name="Text 28"/>
          <p:cNvSpPr/>
          <p:nvPr/>
        </p:nvSpPr>
        <p:spPr>
          <a:xfrm>
            <a:off x="6324600" y="3271379"/>
            <a:ext cx="2282635"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B6B7C"/>
                </a:solidFill>
                <a:latin typeface="Public Sans" pitchFamily="34" charset="0"/>
                <a:ea typeface="Public Sans" pitchFamily="34" charset="-122"/>
                <a:cs typeface="Public Sans" pitchFamily="34" charset="-120"/>
              </a:rPr>
              <a:t>Runs the steps once approved</a:t>
            </a:r>
            <a:endParaRPr lang="en-US" sz="1200" dirty="0"/>
          </a:p>
        </p:txBody>
      </p:sp>
      <p:sp>
        <p:nvSpPr>
          <p:cNvPr id="31" name="Shape 29"/>
          <p:cNvSpPr/>
          <p:nvPr/>
        </p:nvSpPr>
        <p:spPr>
          <a:xfrm>
            <a:off x="8832850" y="2839579"/>
            <a:ext cx="2546350" cy="1033727"/>
          </a:xfrm>
          <a:prstGeom prst="roundRect">
            <a:avLst>
              <a:gd name="adj" fmla="val 8600"/>
            </a:avLst>
          </a:prstGeom>
          <a:solidFill>
            <a:srgbClr val="FEF3DD"/>
          </a:solidFill>
          <a:ln/>
        </p:spPr>
      </p:sp>
      <p:sp>
        <p:nvSpPr>
          <p:cNvPr id="32" name="Shape 30"/>
          <p:cNvSpPr/>
          <p:nvPr/>
        </p:nvSpPr>
        <p:spPr>
          <a:xfrm>
            <a:off x="8832850" y="2839579"/>
            <a:ext cx="2546350" cy="1033727"/>
          </a:xfrm>
          <a:custGeom>
            <a:avLst/>
            <a:gdLst/>
            <a:ahLst/>
            <a:cxnLst/>
            <a:rect l="l" t="t" r="r" b="b"/>
            <a:pathLst>
              <a:path w="2546350" h="1033727">
                <a:moveTo>
                  <a:pt x="0" y="88900"/>
                </a:moveTo>
                <a:lnTo>
                  <a:pt x="0" y="88900"/>
                </a:lnTo>
                <a:arcTo hR="88900" wR="88900" stAng="10800000" swAng="5400000"/>
                <a:lnTo>
                  <a:pt x="2457450" y="0"/>
                </a:lnTo>
                <a:arcTo hR="88900" wR="88900" stAng="16200000" swAng="5400000"/>
                <a:lnTo>
                  <a:pt x="2546350" y="88900"/>
                </a:lnTo>
                <a:arcTo hR="50800" wR="88900" stAng="0" swAng="-5400000"/>
                <a:lnTo>
                  <a:pt x="88900" y="38100"/>
                </a:lnTo>
                <a:arcTo hR="50800" wR="88900" stAng="16200000" swAng="-5400000"/>
                <a:close/>
              </a:path>
            </a:pathLst>
          </a:custGeom>
          <a:solidFill>
            <a:srgbClr val="F5A623"/>
          </a:solidFill>
          <a:ln/>
        </p:spPr>
      </p:sp>
      <p:sp>
        <p:nvSpPr>
          <p:cNvPr id="33" name="Text 31"/>
          <p:cNvSpPr/>
          <p:nvPr/>
        </p:nvSpPr>
        <p:spPr>
          <a:xfrm>
            <a:off x="8997950" y="3030079"/>
            <a:ext cx="228263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2545"/>
                </a:solidFill>
                <a:latin typeface="Public Sans" pitchFamily="34" charset="0"/>
                <a:ea typeface="Public Sans" pitchFamily="34" charset="-122"/>
                <a:cs typeface="Public Sans" pitchFamily="34" charset="-120"/>
              </a:rPr>
              <a:t>Chat assistant</a:t>
            </a:r>
            <a:endParaRPr lang="en-US" sz="1500" dirty="0"/>
          </a:p>
        </p:txBody>
      </p:sp>
      <p:sp>
        <p:nvSpPr>
          <p:cNvPr id="34" name="Text 32"/>
          <p:cNvSpPr/>
          <p:nvPr/>
        </p:nvSpPr>
        <p:spPr>
          <a:xfrm>
            <a:off x="8997950" y="3309479"/>
            <a:ext cx="2282635"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0B2545"/>
                </a:solidFill>
                <a:latin typeface="Public Sans" pitchFamily="34" charset="0"/>
                <a:ea typeface="Public Sans" pitchFamily="34" charset="-122"/>
                <a:cs typeface="Public Sans" pitchFamily="34" charset="-120"/>
              </a:rPr>
              <a:t>Helps each role at every state; the person confirms</a:t>
            </a:r>
            <a:endParaRPr lang="en-US" sz="1200" dirty="0"/>
          </a:p>
        </p:txBody>
      </p:sp>
      <p:sp>
        <p:nvSpPr>
          <p:cNvPr id="35" name="Text 33"/>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Bulwark | Innova Solutions</a:t>
            </a:r>
            <a:endParaRPr lang="en-US" sz="1200" dirty="0"/>
          </a:p>
        </p:txBody>
      </p:sp>
      <p:sp>
        <p:nvSpPr>
          <p:cNvPr id="36" name="Text 3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9FD"/>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2545"/>
                </a:solidFill>
                <a:latin typeface="Source Serif 4" pitchFamily="18" charset="0"/>
                <a:ea typeface="Source Serif 4" pitchFamily="18" charset="-122"/>
                <a:cs typeface="Source Serif 4" pitchFamily="18" charset="-120"/>
              </a:rPr>
              <a:t>End-to-end solution workflow</a:t>
            </a:r>
            <a:endParaRPr lang="en-US" sz="3200" dirty="0"/>
          </a:p>
        </p:txBody>
      </p:sp>
      <p:sp>
        <p:nvSpPr>
          <p:cNvPr id="3" name="Shape 1"/>
          <p:cNvSpPr/>
          <p:nvPr/>
        </p:nvSpPr>
        <p:spPr>
          <a:xfrm>
            <a:off x="812800" y="1259818"/>
            <a:ext cx="1676400" cy="1765234"/>
          </a:xfrm>
          <a:prstGeom prst="roundRect">
            <a:avLst>
              <a:gd name="adj" fmla="val 6061"/>
            </a:avLst>
          </a:prstGeom>
          <a:solidFill>
            <a:srgbClr val="FFFFFF"/>
          </a:solidFill>
          <a:ln/>
        </p:spPr>
      </p:sp>
      <p:pic>
        <p:nvPicPr>
          <p:cNvPr id="4" name="Image 0" descr="Search">    </p:cNvPr>
          <p:cNvPicPr>
            <a:picLocks noChangeAspect="1"/>
          </p:cNvPicPr>
          <p:nvPr/>
        </p:nvPicPr>
        <p:blipFill>
          <a:blip r:embed="rId1"/>
          <a:srcRect l="0" r="0" t="0" b="0"/>
          <a:stretch/>
        </p:blipFill>
        <p:spPr>
          <a:xfrm>
            <a:off x="1473200" y="1412218"/>
            <a:ext cx="355600" cy="355600"/>
          </a:xfrm>
          <a:prstGeom prst="rect">
            <a:avLst/>
          </a:prstGeom>
        </p:spPr>
      </p:pic>
      <p:sp>
        <p:nvSpPr>
          <p:cNvPr id="5" name="Text 2"/>
          <p:cNvSpPr/>
          <p:nvPr/>
        </p:nvSpPr>
        <p:spPr>
          <a:xfrm>
            <a:off x="1284770" y="1831318"/>
            <a:ext cx="732393" cy="254000"/>
          </a:xfrm>
          <a:prstGeom prst="rect">
            <a:avLst/>
          </a:prstGeom>
          <a:noFill/>
          <a:ln/>
        </p:spPr>
        <p:txBody>
          <a:bodyPr wrap="square" lIns="0" tIns="0" rIns="0" bIns="0" rtlCol="0" anchor="t">
            <a:normAutofit/>
          </a:bodyPr>
          <a:lstStyle/>
          <a:p>
            <a:pPr algn="ctr" indent="0" marL="0">
              <a:lnSpc>
                <a:spcPts val="1800"/>
              </a:lnSpc>
              <a:buNone/>
            </a:pPr>
            <a:r>
              <a:rPr lang="en-US" sz="1500" b="1" dirty="0">
                <a:solidFill>
                  <a:srgbClr val="0B2545"/>
                </a:solidFill>
                <a:latin typeface="Public Sans" pitchFamily="34" charset="0"/>
                <a:ea typeface="Public Sans" pitchFamily="34" charset="-122"/>
                <a:cs typeface="Public Sans" pitchFamily="34" charset="-120"/>
              </a:rPr>
              <a:t>Detect</a:t>
            </a:r>
            <a:endParaRPr lang="en-US" sz="1500" dirty="0"/>
          </a:p>
        </p:txBody>
      </p:sp>
      <p:sp>
        <p:nvSpPr>
          <p:cNvPr id="6" name="Text 3"/>
          <p:cNvSpPr/>
          <p:nvPr/>
        </p:nvSpPr>
        <p:spPr>
          <a:xfrm>
            <a:off x="1046249" y="2123418"/>
            <a:ext cx="1209437" cy="223507"/>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5B6B7C"/>
                </a:solidFill>
                <a:latin typeface="Public Sans" pitchFamily="34" charset="0"/>
                <a:ea typeface="Public Sans" pitchFamily="34" charset="-122"/>
                <a:cs typeface="Public Sans" pitchFamily="34" charset="-120"/>
              </a:rPr>
              <a:t>Scan ingested</a:t>
            </a:r>
            <a:endParaRPr lang="en-US" sz="1200" dirty="0"/>
          </a:p>
        </p:txBody>
      </p:sp>
      <p:sp>
        <p:nvSpPr>
          <p:cNvPr id="7" name="Text 4"/>
          <p:cNvSpPr/>
          <p:nvPr/>
        </p:nvSpPr>
        <p:spPr>
          <a:xfrm>
            <a:off x="1234017" y="2385020"/>
            <a:ext cx="833901" cy="289520"/>
          </a:xfrm>
          <a:custGeom>
            <a:avLst/>
            <a:gdLst/>
            <a:ahLst/>
            <a:cxnLst/>
            <a:rect l="l" t="t" r="r" b="b"/>
            <a:pathLst>
              <a:path w="833901" h="289520">
                <a:moveTo>
                  <a:pt x="144760" y="0"/>
                </a:moveTo>
                <a:lnTo>
                  <a:pt x="689140" y="0"/>
                </a:lnTo>
                <a:arcTo hR="144760" wR="144760" stAng="16200000" swAng="5400000"/>
                <a:lnTo>
                  <a:pt x="833901" y="144760"/>
                </a:lnTo>
                <a:arcTo hR="144760" wR="144760" stAng="0" swAng="5400000"/>
                <a:lnTo>
                  <a:pt x="144760" y="289520"/>
                </a:lnTo>
                <a:arcTo hR="144760" wR="144760" stAng="5400000" swAng="5400000"/>
                <a:lnTo>
                  <a:pt x="0" y="144760"/>
                </a:lnTo>
                <a:arcTo hR="144760" wR="144760" stAng="10800000" swAng="5400000"/>
                <a:close/>
              </a:path>
            </a:pathLst>
          </a:custGeom>
          <a:solidFill>
            <a:srgbClr val="E6F2FC"/>
          </a:solidFill>
          <a:ln/>
        </p:spPr>
        <p:txBody>
          <a:bodyPr wrap="none" lIns="0" tIns="0" rIns="0" bIns="0" rtlCol="0" anchor="ctr">
            <a:normAutofit/>
          </a:bodyPr>
          <a:lstStyle/>
          <a:p>
            <a:pPr algn="ctr" indent="0" marL="0">
              <a:lnSpc>
                <a:spcPts val="1680"/>
              </a:lnSpc>
              <a:buNone/>
            </a:pPr>
            <a:r>
              <a:rPr lang="en-US" sz="1200" b="1" dirty="0">
                <a:solidFill>
                  <a:srgbClr val="0B2545"/>
                </a:solidFill>
                <a:latin typeface="Public Sans" pitchFamily="34" charset="0"/>
                <a:ea typeface="Public Sans" pitchFamily="34" charset="-122"/>
                <a:cs typeface="Public Sans" pitchFamily="34" charset="-120"/>
              </a:rPr>
              <a:t>Scanner</a:t>
            </a:r>
            <a:endParaRPr lang="en-US" sz="1200" dirty="0"/>
          </a:p>
        </p:txBody>
      </p:sp>
      <p:sp>
        <p:nvSpPr>
          <p:cNvPr id="8" name="Shape 5"/>
          <p:cNvSpPr/>
          <p:nvPr/>
        </p:nvSpPr>
        <p:spPr>
          <a:xfrm>
            <a:off x="2590800" y="1259818"/>
            <a:ext cx="1676400" cy="1765234"/>
          </a:xfrm>
          <a:prstGeom prst="roundRect">
            <a:avLst>
              <a:gd name="adj" fmla="val 6061"/>
            </a:avLst>
          </a:prstGeom>
          <a:solidFill>
            <a:srgbClr val="FFFFFF"/>
          </a:solidFill>
          <a:ln/>
        </p:spPr>
      </p:sp>
      <p:pic>
        <p:nvPicPr>
          <p:cNvPr id="9" name="Image 1" descr="Warning">    </p:cNvPr>
          <p:cNvPicPr>
            <a:picLocks noChangeAspect="1"/>
          </p:cNvPicPr>
          <p:nvPr/>
        </p:nvPicPr>
        <p:blipFill>
          <a:blip r:embed="rId2"/>
          <a:srcRect l="0" r="0" t="0" b="0"/>
          <a:stretch/>
        </p:blipFill>
        <p:spPr>
          <a:xfrm>
            <a:off x="3251200" y="1412218"/>
            <a:ext cx="355600" cy="355600"/>
          </a:xfrm>
          <a:prstGeom prst="rect">
            <a:avLst/>
          </a:prstGeom>
        </p:spPr>
      </p:pic>
      <p:sp>
        <p:nvSpPr>
          <p:cNvPr id="10" name="Text 6"/>
          <p:cNvSpPr/>
          <p:nvPr/>
        </p:nvSpPr>
        <p:spPr>
          <a:xfrm>
            <a:off x="2984586" y="1831318"/>
            <a:ext cx="888762" cy="254000"/>
          </a:xfrm>
          <a:prstGeom prst="rect">
            <a:avLst/>
          </a:prstGeom>
          <a:noFill/>
          <a:ln/>
        </p:spPr>
        <p:txBody>
          <a:bodyPr wrap="square" lIns="0" tIns="0" rIns="0" bIns="0" rtlCol="0" anchor="t">
            <a:normAutofit/>
          </a:bodyPr>
          <a:lstStyle/>
          <a:p>
            <a:pPr algn="ctr" indent="0" marL="0">
              <a:lnSpc>
                <a:spcPts val="1800"/>
              </a:lnSpc>
              <a:buNone/>
            </a:pPr>
            <a:r>
              <a:rPr lang="en-US" sz="1500" b="1" dirty="0">
                <a:solidFill>
                  <a:srgbClr val="0B2545"/>
                </a:solidFill>
                <a:latin typeface="Public Sans" pitchFamily="34" charset="0"/>
                <a:ea typeface="Public Sans" pitchFamily="34" charset="-122"/>
                <a:cs typeface="Public Sans" pitchFamily="34" charset="-120"/>
              </a:rPr>
              <a:t>Incident</a:t>
            </a:r>
            <a:endParaRPr lang="en-US" sz="1500" dirty="0"/>
          </a:p>
        </p:txBody>
      </p:sp>
      <p:sp>
        <p:nvSpPr>
          <p:cNvPr id="11" name="Text 7"/>
          <p:cNvSpPr/>
          <p:nvPr/>
        </p:nvSpPr>
        <p:spPr>
          <a:xfrm>
            <a:off x="2746137" y="2123418"/>
            <a:ext cx="1365726" cy="223507"/>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5B6B7C"/>
                </a:solidFill>
                <a:latin typeface="Public Sans" pitchFamily="34" charset="0"/>
                <a:ea typeface="Public Sans" pitchFamily="34" charset="-122"/>
                <a:cs typeface="Public Sans" pitchFamily="34" charset="-120"/>
              </a:rPr>
              <a:t>Assets attached</a:t>
            </a:r>
            <a:endParaRPr lang="en-US" sz="1200" dirty="0"/>
          </a:p>
        </p:txBody>
      </p:sp>
      <p:sp>
        <p:nvSpPr>
          <p:cNvPr id="12" name="Text 8"/>
          <p:cNvSpPr/>
          <p:nvPr/>
        </p:nvSpPr>
        <p:spPr>
          <a:xfrm>
            <a:off x="2937073" y="2385020"/>
            <a:ext cx="983853" cy="289520"/>
          </a:xfrm>
          <a:custGeom>
            <a:avLst/>
            <a:gdLst/>
            <a:ahLst/>
            <a:cxnLst/>
            <a:rect l="l" t="t" r="r" b="b"/>
            <a:pathLst>
              <a:path w="983853" h="289520">
                <a:moveTo>
                  <a:pt x="144760" y="0"/>
                </a:moveTo>
                <a:lnTo>
                  <a:pt x="839093" y="0"/>
                </a:lnTo>
                <a:arcTo hR="144760" wR="144760" stAng="16200000" swAng="5400000"/>
                <a:lnTo>
                  <a:pt x="983853" y="144760"/>
                </a:lnTo>
                <a:arcTo hR="144760" wR="144760" stAng="0" swAng="5400000"/>
                <a:lnTo>
                  <a:pt x="144760" y="289520"/>
                </a:lnTo>
                <a:arcTo hR="144760" wR="144760" stAng="5400000" swAng="5400000"/>
                <a:lnTo>
                  <a:pt x="0" y="144760"/>
                </a:lnTo>
                <a:arcTo hR="144760" wR="144760" stAng="10800000" swAng="5400000"/>
                <a:close/>
              </a:path>
            </a:pathLst>
          </a:custGeom>
          <a:solidFill>
            <a:srgbClr val="E6F2FC"/>
          </a:solidFill>
          <a:ln/>
        </p:spPr>
        <p:txBody>
          <a:bodyPr wrap="none" lIns="0" tIns="0" rIns="0" bIns="0" rtlCol="0" anchor="ctr">
            <a:normAutofit/>
          </a:bodyPr>
          <a:lstStyle/>
          <a:p>
            <a:pPr algn="ctr" indent="0" marL="0">
              <a:lnSpc>
                <a:spcPts val="1680"/>
              </a:lnSpc>
              <a:buNone/>
            </a:pPr>
            <a:r>
              <a:rPr lang="en-US" sz="1200" b="1" dirty="0">
                <a:solidFill>
                  <a:srgbClr val="0B2545"/>
                </a:solidFill>
                <a:latin typeface="Public Sans" pitchFamily="34" charset="0"/>
                <a:ea typeface="Public Sans" pitchFamily="34" charset="-122"/>
                <a:cs typeface="Public Sans" pitchFamily="34" charset="-120"/>
              </a:rPr>
              <a:t>Automatic</a:t>
            </a:r>
            <a:endParaRPr lang="en-US" sz="1200" dirty="0"/>
          </a:p>
        </p:txBody>
      </p:sp>
      <p:sp>
        <p:nvSpPr>
          <p:cNvPr id="13" name="Shape 9"/>
          <p:cNvSpPr/>
          <p:nvPr/>
        </p:nvSpPr>
        <p:spPr>
          <a:xfrm>
            <a:off x="4368800" y="1259818"/>
            <a:ext cx="1676400" cy="1765234"/>
          </a:xfrm>
          <a:prstGeom prst="roundRect">
            <a:avLst>
              <a:gd name="adj" fmla="val 6061"/>
            </a:avLst>
          </a:prstGeom>
          <a:solidFill>
            <a:srgbClr val="FEF3DD"/>
          </a:solidFill>
          <a:ln/>
        </p:spPr>
      </p:sp>
      <p:pic>
        <p:nvPicPr>
          <p:cNvPr id="14" name="Image 2" descr="Lightbulb">    </p:cNvPr>
          <p:cNvPicPr>
            <a:picLocks noChangeAspect="1"/>
          </p:cNvPicPr>
          <p:nvPr/>
        </p:nvPicPr>
        <p:blipFill>
          <a:blip r:embed="rId3"/>
          <a:srcRect l="0" r="0" t="0" b="0"/>
          <a:stretch/>
        </p:blipFill>
        <p:spPr>
          <a:xfrm>
            <a:off x="5029200" y="1412218"/>
            <a:ext cx="355600" cy="355600"/>
          </a:xfrm>
          <a:prstGeom prst="rect">
            <a:avLst/>
          </a:prstGeom>
        </p:spPr>
      </p:pic>
      <p:sp>
        <p:nvSpPr>
          <p:cNvPr id="15" name="Text 10"/>
          <p:cNvSpPr/>
          <p:nvPr/>
        </p:nvSpPr>
        <p:spPr>
          <a:xfrm>
            <a:off x="4745520" y="1831318"/>
            <a:ext cx="922893" cy="254000"/>
          </a:xfrm>
          <a:prstGeom prst="rect">
            <a:avLst/>
          </a:prstGeom>
          <a:noFill/>
          <a:ln/>
        </p:spPr>
        <p:txBody>
          <a:bodyPr wrap="square" lIns="0" tIns="0" rIns="0" bIns="0" rtlCol="0" anchor="t">
            <a:normAutofit/>
          </a:bodyPr>
          <a:lstStyle/>
          <a:p>
            <a:pPr algn="ctr" indent="0" marL="0">
              <a:lnSpc>
                <a:spcPts val="1800"/>
              </a:lnSpc>
              <a:buNone/>
            </a:pPr>
            <a:r>
              <a:rPr lang="en-US" sz="1500" b="1" dirty="0">
                <a:solidFill>
                  <a:srgbClr val="0B2545"/>
                </a:solidFill>
                <a:latin typeface="Public Sans" pitchFamily="34" charset="0"/>
                <a:ea typeface="Public Sans" pitchFamily="34" charset="-122"/>
                <a:cs typeface="Public Sans" pitchFamily="34" charset="-120"/>
              </a:rPr>
              <a:t>Suggest</a:t>
            </a:r>
            <a:endParaRPr lang="en-US" sz="1500" dirty="0"/>
          </a:p>
        </p:txBody>
      </p:sp>
      <p:sp>
        <p:nvSpPr>
          <p:cNvPr id="16" name="Text 11"/>
          <p:cNvSpPr/>
          <p:nvPr/>
        </p:nvSpPr>
        <p:spPr>
          <a:xfrm>
            <a:off x="4432300" y="2123418"/>
            <a:ext cx="1549400" cy="421614"/>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5B6B7C"/>
                </a:solidFill>
                <a:latin typeface="Public Sans" pitchFamily="34" charset="0"/>
                <a:ea typeface="Public Sans" pitchFamily="34" charset="-122"/>
                <a:cs typeface="Public Sans" pitchFamily="34" charset="-120"/>
              </a:rPr>
              <a:t>Similar fixes and AI plan</a:t>
            </a:r>
            <a:endParaRPr lang="en-US" sz="1200" dirty="0"/>
          </a:p>
        </p:txBody>
      </p:sp>
      <p:sp>
        <p:nvSpPr>
          <p:cNvPr id="17" name="Text 12"/>
          <p:cNvSpPr/>
          <p:nvPr/>
        </p:nvSpPr>
        <p:spPr>
          <a:xfrm>
            <a:off x="4747287" y="2583135"/>
            <a:ext cx="919427" cy="289520"/>
          </a:xfrm>
          <a:custGeom>
            <a:avLst/>
            <a:gdLst/>
            <a:ahLst/>
            <a:cxnLst/>
            <a:rect l="l" t="t" r="r" b="b"/>
            <a:pathLst>
              <a:path w="919427" h="289520">
                <a:moveTo>
                  <a:pt x="144760" y="0"/>
                </a:moveTo>
                <a:lnTo>
                  <a:pt x="774667" y="0"/>
                </a:lnTo>
                <a:arcTo hR="144760" wR="144760" stAng="16200000" swAng="5400000"/>
                <a:lnTo>
                  <a:pt x="919427" y="144760"/>
                </a:lnTo>
                <a:arcTo hR="144760" wR="144760" stAng="0" swAng="5400000"/>
                <a:lnTo>
                  <a:pt x="144760" y="289520"/>
                </a:lnTo>
                <a:arcTo hR="144760" wR="144760" stAng="5400000" swAng="5400000"/>
                <a:lnTo>
                  <a:pt x="0" y="144760"/>
                </a:lnTo>
                <a:arcTo hR="144760" wR="144760" stAng="10800000" swAng="5400000"/>
                <a:close/>
              </a:path>
            </a:pathLst>
          </a:custGeom>
          <a:solidFill>
            <a:srgbClr val="F5A623"/>
          </a:solidFill>
          <a:ln/>
        </p:spPr>
        <p:txBody>
          <a:bodyPr wrap="none" lIns="0" tIns="0" rIns="0" bIns="0" rtlCol="0" anchor="ctr">
            <a:normAutofit/>
          </a:bodyPr>
          <a:lstStyle/>
          <a:p>
            <a:pPr algn="ctr" indent="0" marL="0">
              <a:lnSpc>
                <a:spcPts val="1680"/>
              </a:lnSpc>
              <a:buNone/>
            </a:pPr>
            <a:r>
              <a:rPr lang="en-US" sz="1200" b="1" dirty="0">
                <a:solidFill>
                  <a:srgbClr val="0B2545"/>
                </a:solidFill>
                <a:latin typeface="Public Sans" pitchFamily="34" charset="0"/>
                <a:ea typeface="Public Sans" pitchFamily="34" charset="-122"/>
                <a:cs typeface="Public Sans" pitchFamily="34" charset="-120"/>
              </a:rPr>
              <a:t>AI agents</a:t>
            </a:r>
            <a:endParaRPr lang="en-US" sz="1200" dirty="0"/>
          </a:p>
        </p:txBody>
      </p:sp>
      <p:sp>
        <p:nvSpPr>
          <p:cNvPr id="18" name="Shape 13"/>
          <p:cNvSpPr/>
          <p:nvPr/>
        </p:nvSpPr>
        <p:spPr>
          <a:xfrm>
            <a:off x="6146800" y="1259818"/>
            <a:ext cx="1676400" cy="1765234"/>
          </a:xfrm>
          <a:prstGeom prst="roundRect">
            <a:avLst>
              <a:gd name="adj" fmla="val 6061"/>
            </a:avLst>
          </a:prstGeom>
          <a:solidFill>
            <a:srgbClr val="FFFFFF"/>
          </a:solidFill>
          <a:ln/>
        </p:spPr>
      </p:sp>
      <p:pic>
        <p:nvPicPr>
          <p:cNvPr id="19" name="Image 3" descr="Book">    </p:cNvPr>
          <p:cNvPicPr>
            <a:picLocks noChangeAspect="1"/>
          </p:cNvPicPr>
          <p:nvPr/>
        </p:nvPicPr>
        <p:blipFill>
          <a:blip r:embed="rId4"/>
          <a:srcRect l="0" r="0" t="0" b="0"/>
          <a:stretch/>
        </p:blipFill>
        <p:spPr>
          <a:xfrm>
            <a:off x="6807200" y="1412218"/>
            <a:ext cx="355600" cy="355600"/>
          </a:xfrm>
          <a:prstGeom prst="rect">
            <a:avLst/>
          </a:prstGeom>
        </p:spPr>
      </p:pic>
      <p:sp>
        <p:nvSpPr>
          <p:cNvPr id="20" name="Text 14"/>
          <p:cNvSpPr/>
          <p:nvPr/>
        </p:nvSpPr>
        <p:spPr>
          <a:xfrm>
            <a:off x="6740843" y="1831318"/>
            <a:ext cx="488315" cy="254000"/>
          </a:xfrm>
          <a:prstGeom prst="rect">
            <a:avLst/>
          </a:prstGeom>
          <a:noFill/>
          <a:ln/>
        </p:spPr>
        <p:txBody>
          <a:bodyPr wrap="square" lIns="0" tIns="0" rIns="0" bIns="0" rtlCol="0" anchor="t">
            <a:normAutofit/>
          </a:bodyPr>
          <a:lstStyle/>
          <a:p>
            <a:pPr algn="ctr" indent="0" marL="0">
              <a:lnSpc>
                <a:spcPts val="1800"/>
              </a:lnSpc>
              <a:buNone/>
            </a:pPr>
            <a:r>
              <a:rPr lang="en-US" sz="1500" b="1" dirty="0">
                <a:solidFill>
                  <a:srgbClr val="0B2545"/>
                </a:solidFill>
                <a:latin typeface="Public Sans" pitchFamily="34" charset="0"/>
                <a:ea typeface="Public Sans" pitchFamily="34" charset="-122"/>
                <a:cs typeface="Public Sans" pitchFamily="34" charset="-120"/>
              </a:rPr>
              <a:t>Plan</a:t>
            </a:r>
            <a:endParaRPr lang="en-US" sz="1500" dirty="0"/>
          </a:p>
        </p:txBody>
      </p:sp>
      <p:sp>
        <p:nvSpPr>
          <p:cNvPr id="21" name="Text 15"/>
          <p:cNvSpPr/>
          <p:nvPr/>
        </p:nvSpPr>
        <p:spPr>
          <a:xfrm>
            <a:off x="6210300" y="2123418"/>
            <a:ext cx="1549400" cy="421614"/>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5B6B7C"/>
                </a:solidFill>
                <a:latin typeface="Public Sans" pitchFamily="34" charset="0"/>
                <a:ea typeface="Public Sans" pitchFamily="34" charset="-122"/>
                <a:cs typeface="Public Sans" pitchFamily="34" charset="-120"/>
              </a:rPr>
              <a:t>Approved fixes in order</a:t>
            </a:r>
            <a:endParaRPr lang="en-US" sz="1200" dirty="0"/>
          </a:p>
        </p:txBody>
      </p:sp>
      <p:sp>
        <p:nvSpPr>
          <p:cNvPr id="22" name="Text 16"/>
          <p:cNvSpPr/>
          <p:nvPr/>
        </p:nvSpPr>
        <p:spPr>
          <a:xfrm>
            <a:off x="6590639" y="2583135"/>
            <a:ext cx="788657" cy="289520"/>
          </a:xfrm>
          <a:custGeom>
            <a:avLst/>
            <a:gdLst/>
            <a:ahLst/>
            <a:cxnLst/>
            <a:rect l="l" t="t" r="r" b="b"/>
            <a:pathLst>
              <a:path w="788657" h="289520">
                <a:moveTo>
                  <a:pt x="144760" y="0"/>
                </a:moveTo>
                <a:lnTo>
                  <a:pt x="643897" y="0"/>
                </a:lnTo>
                <a:arcTo hR="144760" wR="144760" stAng="16200000" swAng="5400000"/>
                <a:lnTo>
                  <a:pt x="788657" y="144760"/>
                </a:lnTo>
                <a:arcTo hR="144760" wR="144760" stAng="0" swAng="5400000"/>
                <a:lnTo>
                  <a:pt x="144760" y="289520"/>
                </a:lnTo>
                <a:arcTo hR="144760" wR="144760" stAng="5400000" swAng="5400000"/>
                <a:lnTo>
                  <a:pt x="0" y="144760"/>
                </a:lnTo>
                <a:arcTo hR="144760" wR="144760" stAng="10800000" swAng="5400000"/>
                <a:close/>
              </a:path>
            </a:pathLst>
          </a:custGeom>
          <a:solidFill>
            <a:srgbClr val="E6F2FC"/>
          </a:solidFill>
          <a:ln/>
        </p:spPr>
        <p:txBody>
          <a:bodyPr wrap="none" lIns="0" tIns="0" rIns="0" bIns="0" rtlCol="0" anchor="ctr">
            <a:normAutofit/>
          </a:bodyPr>
          <a:lstStyle/>
          <a:p>
            <a:pPr algn="ctr" indent="0" marL="0">
              <a:lnSpc>
                <a:spcPts val="1680"/>
              </a:lnSpc>
              <a:buNone/>
            </a:pPr>
            <a:r>
              <a:rPr lang="en-US" sz="1200" b="1" dirty="0">
                <a:solidFill>
                  <a:srgbClr val="0B2545"/>
                </a:solidFill>
                <a:latin typeface="Public Sans" pitchFamily="34" charset="0"/>
                <a:ea typeface="Public Sans" pitchFamily="34" charset="-122"/>
                <a:cs typeface="Public Sans" pitchFamily="34" charset="-120"/>
              </a:rPr>
              <a:t>Analyst</a:t>
            </a:r>
            <a:endParaRPr lang="en-US" sz="1200" dirty="0"/>
          </a:p>
        </p:txBody>
      </p:sp>
      <p:sp>
        <p:nvSpPr>
          <p:cNvPr id="23" name="Shape 17"/>
          <p:cNvSpPr/>
          <p:nvPr/>
        </p:nvSpPr>
        <p:spPr>
          <a:xfrm>
            <a:off x="7924800" y="1259818"/>
            <a:ext cx="1676400" cy="1765234"/>
          </a:xfrm>
          <a:prstGeom prst="roundRect">
            <a:avLst>
              <a:gd name="adj" fmla="val 6061"/>
            </a:avLst>
          </a:prstGeom>
          <a:solidFill>
            <a:srgbClr val="FFFFFF"/>
          </a:solidFill>
          <a:ln/>
        </p:spPr>
      </p:sp>
      <p:pic>
        <p:nvPicPr>
          <p:cNvPr id="24" name="Image 4" descr="Verified">    </p:cNvPr>
          <p:cNvPicPr>
            <a:picLocks noChangeAspect="1"/>
          </p:cNvPicPr>
          <p:nvPr/>
        </p:nvPicPr>
        <p:blipFill>
          <a:blip r:embed="rId5"/>
          <a:srcRect l="0" r="0" t="0" b="0"/>
          <a:stretch/>
        </p:blipFill>
        <p:spPr>
          <a:xfrm>
            <a:off x="8585200" y="1412218"/>
            <a:ext cx="355600" cy="355600"/>
          </a:xfrm>
          <a:prstGeom prst="rect">
            <a:avLst/>
          </a:prstGeom>
        </p:spPr>
      </p:pic>
      <p:sp>
        <p:nvSpPr>
          <p:cNvPr id="25" name="Text 18"/>
          <p:cNvSpPr/>
          <p:nvPr/>
        </p:nvSpPr>
        <p:spPr>
          <a:xfrm>
            <a:off x="8306521" y="1831318"/>
            <a:ext cx="912892" cy="254000"/>
          </a:xfrm>
          <a:prstGeom prst="rect">
            <a:avLst/>
          </a:prstGeom>
          <a:noFill/>
          <a:ln/>
        </p:spPr>
        <p:txBody>
          <a:bodyPr wrap="square" lIns="0" tIns="0" rIns="0" bIns="0" rtlCol="0" anchor="t">
            <a:normAutofit/>
          </a:bodyPr>
          <a:lstStyle/>
          <a:p>
            <a:pPr algn="ctr" indent="0" marL="0">
              <a:lnSpc>
                <a:spcPts val="1800"/>
              </a:lnSpc>
              <a:buNone/>
            </a:pPr>
            <a:r>
              <a:rPr lang="en-US" sz="1500" b="1" dirty="0">
                <a:solidFill>
                  <a:srgbClr val="0B2545"/>
                </a:solidFill>
                <a:latin typeface="Public Sans" pitchFamily="34" charset="0"/>
                <a:ea typeface="Public Sans" pitchFamily="34" charset="-122"/>
                <a:cs typeface="Public Sans" pitchFamily="34" charset="-120"/>
              </a:rPr>
              <a:t>Approve</a:t>
            </a:r>
            <a:endParaRPr lang="en-US" sz="1500" dirty="0"/>
          </a:p>
        </p:txBody>
      </p:sp>
      <p:sp>
        <p:nvSpPr>
          <p:cNvPr id="26" name="Text 19"/>
          <p:cNvSpPr/>
          <p:nvPr/>
        </p:nvSpPr>
        <p:spPr>
          <a:xfrm>
            <a:off x="8214202" y="2123418"/>
            <a:ext cx="1097598" cy="223507"/>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5B6B7C"/>
                </a:solidFill>
                <a:latin typeface="Public Sans" pitchFamily="34" charset="0"/>
                <a:ea typeface="Public Sans" pitchFamily="34" charset="-122"/>
                <a:cs typeface="Public Sans" pitchFamily="34" charset="-120"/>
              </a:rPr>
              <a:t>Plan decided</a:t>
            </a:r>
            <a:endParaRPr lang="en-US" sz="1200" dirty="0"/>
          </a:p>
        </p:txBody>
      </p:sp>
      <p:sp>
        <p:nvSpPr>
          <p:cNvPr id="27" name="Text 20"/>
          <p:cNvSpPr/>
          <p:nvPr/>
        </p:nvSpPr>
        <p:spPr>
          <a:xfrm>
            <a:off x="8313010" y="2385020"/>
            <a:ext cx="899980" cy="289520"/>
          </a:xfrm>
          <a:custGeom>
            <a:avLst/>
            <a:gdLst/>
            <a:ahLst/>
            <a:cxnLst/>
            <a:rect l="l" t="t" r="r" b="b"/>
            <a:pathLst>
              <a:path w="899980" h="289520">
                <a:moveTo>
                  <a:pt x="144760" y="0"/>
                </a:moveTo>
                <a:lnTo>
                  <a:pt x="755220" y="0"/>
                </a:lnTo>
                <a:arcTo hR="144760" wR="144760" stAng="16200000" swAng="5400000"/>
                <a:lnTo>
                  <a:pt x="899980" y="144760"/>
                </a:lnTo>
                <a:arcTo hR="144760" wR="144760" stAng="0" swAng="5400000"/>
                <a:lnTo>
                  <a:pt x="144760" y="289520"/>
                </a:lnTo>
                <a:arcTo hR="144760" wR="144760" stAng="5400000" swAng="5400000"/>
                <a:lnTo>
                  <a:pt x="0" y="144760"/>
                </a:lnTo>
                <a:arcTo hR="144760" wR="144760" stAng="10800000" swAng="5400000"/>
                <a:close/>
              </a:path>
            </a:pathLst>
          </a:custGeom>
          <a:solidFill>
            <a:srgbClr val="E6F2FC"/>
          </a:solidFill>
          <a:ln/>
        </p:spPr>
        <p:txBody>
          <a:bodyPr wrap="none" lIns="0" tIns="0" rIns="0" bIns="0" rtlCol="0" anchor="ctr">
            <a:normAutofit/>
          </a:bodyPr>
          <a:lstStyle/>
          <a:p>
            <a:pPr algn="ctr" indent="0" marL="0">
              <a:lnSpc>
                <a:spcPts val="1680"/>
              </a:lnSpc>
              <a:buNone/>
            </a:pPr>
            <a:r>
              <a:rPr lang="en-US" sz="1200" b="1" dirty="0">
                <a:solidFill>
                  <a:srgbClr val="0B2545"/>
                </a:solidFill>
                <a:latin typeface="Public Sans" pitchFamily="34" charset="0"/>
                <a:ea typeface="Public Sans" pitchFamily="34" charset="-122"/>
                <a:cs typeface="Public Sans" pitchFamily="34" charset="-120"/>
              </a:rPr>
              <a:t>Approver</a:t>
            </a:r>
            <a:endParaRPr lang="en-US" sz="1200" dirty="0"/>
          </a:p>
        </p:txBody>
      </p:sp>
      <p:sp>
        <p:nvSpPr>
          <p:cNvPr id="28" name="Shape 21"/>
          <p:cNvSpPr/>
          <p:nvPr/>
        </p:nvSpPr>
        <p:spPr>
          <a:xfrm>
            <a:off x="9702800" y="1259818"/>
            <a:ext cx="1676400" cy="1765234"/>
          </a:xfrm>
          <a:prstGeom prst="roundRect">
            <a:avLst>
              <a:gd name="adj" fmla="val 6061"/>
            </a:avLst>
          </a:prstGeom>
          <a:solidFill>
            <a:srgbClr val="FFFFFF"/>
          </a:solidFill>
          <a:ln/>
        </p:spPr>
      </p:sp>
      <p:pic>
        <p:nvPicPr>
          <p:cNvPr id="29" name="Image 5" descr="Play">    </p:cNvPr>
          <p:cNvPicPr>
            <a:picLocks noChangeAspect="1"/>
          </p:cNvPicPr>
          <p:nvPr/>
        </p:nvPicPr>
        <p:blipFill>
          <a:blip r:embed="rId6"/>
          <a:srcRect l="0" r="0" t="0" b="0"/>
          <a:stretch/>
        </p:blipFill>
        <p:spPr>
          <a:xfrm>
            <a:off x="10363200" y="1412218"/>
            <a:ext cx="355600" cy="355600"/>
          </a:xfrm>
          <a:prstGeom prst="rect">
            <a:avLst/>
          </a:prstGeom>
        </p:spPr>
      </p:pic>
      <p:sp>
        <p:nvSpPr>
          <p:cNvPr id="30" name="Text 22"/>
          <p:cNvSpPr/>
          <p:nvPr/>
        </p:nvSpPr>
        <p:spPr>
          <a:xfrm>
            <a:off x="10097294" y="1831318"/>
            <a:ext cx="887413" cy="254000"/>
          </a:xfrm>
          <a:prstGeom prst="rect">
            <a:avLst/>
          </a:prstGeom>
          <a:noFill/>
          <a:ln/>
        </p:spPr>
        <p:txBody>
          <a:bodyPr wrap="square" lIns="0" tIns="0" rIns="0" bIns="0" rtlCol="0" anchor="t">
            <a:normAutofit/>
          </a:bodyPr>
          <a:lstStyle/>
          <a:p>
            <a:pPr algn="ctr" indent="0" marL="0">
              <a:lnSpc>
                <a:spcPts val="1800"/>
              </a:lnSpc>
              <a:buNone/>
            </a:pPr>
            <a:r>
              <a:rPr lang="en-US" sz="1500" b="1" dirty="0">
                <a:solidFill>
                  <a:srgbClr val="0B2545"/>
                </a:solidFill>
                <a:latin typeface="Public Sans" pitchFamily="34" charset="0"/>
                <a:ea typeface="Public Sans" pitchFamily="34" charset="-122"/>
                <a:cs typeface="Public Sans" pitchFamily="34" charset="-120"/>
              </a:rPr>
              <a:t>Execute</a:t>
            </a:r>
            <a:endParaRPr lang="en-US" sz="1500" dirty="0"/>
          </a:p>
        </p:txBody>
      </p:sp>
      <p:sp>
        <p:nvSpPr>
          <p:cNvPr id="31" name="Text 23"/>
          <p:cNvSpPr/>
          <p:nvPr/>
        </p:nvSpPr>
        <p:spPr>
          <a:xfrm>
            <a:off x="9716691" y="2123418"/>
            <a:ext cx="1648619" cy="223507"/>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5B6B7C"/>
                </a:solidFill>
                <a:latin typeface="Public Sans" pitchFamily="34" charset="0"/>
                <a:ea typeface="Public Sans" pitchFamily="34" charset="-122"/>
                <a:cs typeface="Public Sans" pitchFamily="34" charset="-120"/>
              </a:rPr>
              <a:t>Steps run per asset</a:t>
            </a:r>
            <a:endParaRPr lang="en-US" sz="1200" dirty="0"/>
          </a:p>
        </p:txBody>
      </p:sp>
      <p:sp>
        <p:nvSpPr>
          <p:cNvPr id="32" name="Text 24"/>
          <p:cNvSpPr/>
          <p:nvPr/>
        </p:nvSpPr>
        <p:spPr>
          <a:xfrm>
            <a:off x="10101528" y="2385020"/>
            <a:ext cx="878880" cy="289520"/>
          </a:xfrm>
          <a:custGeom>
            <a:avLst/>
            <a:gdLst/>
            <a:ahLst/>
            <a:cxnLst/>
            <a:rect l="l" t="t" r="r" b="b"/>
            <a:pathLst>
              <a:path w="878880" h="289520">
                <a:moveTo>
                  <a:pt x="144760" y="0"/>
                </a:moveTo>
                <a:lnTo>
                  <a:pt x="734120" y="0"/>
                </a:lnTo>
                <a:arcTo hR="144760" wR="144760" stAng="16200000" swAng="5400000"/>
                <a:lnTo>
                  <a:pt x="878880" y="144760"/>
                </a:lnTo>
                <a:arcTo hR="144760" wR="144760" stAng="0" swAng="5400000"/>
                <a:lnTo>
                  <a:pt x="144760" y="289520"/>
                </a:lnTo>
                <a:arcTo hR="144760" wR="144760" stAng="5400000" swAng="5400000"/>
                <a:lnTo>
                  <a:pt x="0" y="144760"/>
                </a:lnTo>
                <a:arcTo hR="144760" wR="144760" stAng="10800000" swAng="5400000"/>
                <a:close/>
              </a:path>
            </a:pathLst>
          </a:custGeom>
          <a:solidFill>
            <a:srgbClr val="E6F2FC"/>
          </a:solidFill>
          <a:ln/>
        </p:spPr>
        <p:txBody>
          <a:bodyPr wrap="none" lIns="0" tIns="0" rIns="0" bIns="0" rtlCol="0" anchor="ctr">
            <a:normAutofit/>
          </a:bodyPr>
          <a:lstStyle/>
          <a:p>
            <a:pPr algn="ctr" indent="0" marL="0">
              <a:lnSpc>
                <a:spcPts val="1680"/>
              </a:lnSpc>
              <a:buNone/>
            </a:pPr>
            <a:r>
              <a:rPr lang="en-US" sz="1200" b="1" dirty="0">
                <a:solidFill>
                  <a:srgbClr val="0B2545"/>
                </a:solidFill>
                <a:latin typeface="Public Sans" pitchFamily="34" charset="0"/>
                <a:ea typeface="Public Sans" pitchFamily="34" charset="-122"/>
                <a:cs typeface="Public Sans" pitchFamily="34" charset="-120"/>
              </a:rPr>
              <a:t>Operator</a:t>
            </a:r>
            <a:endParaRPr lang="en-US" sz="1200" dirty="0"/>
          </a:p>
        </p:txBody>
      </p:sp>
      <p:sp>
        <p:nvSpPr>
          <p:cNvPr id="33" name="Shape 25"/>
          <p:cNvSpPr/>
          <p:nvPr/>
        </p:nvSpPr>
        <p:spPr>
          <a:xfrm>
            <a:off x="812800" y="3228256"/>
            <a:ext cx="10566400" cy="660400"/>
          </a:xfrm>
          <a:prstGeom prst="roundRect">
            <a:avLst>
              <a:gd name="adj" fmla="val 15385"/>
            </a:avLst>
          </a:prstGeom>
          <a:solidFill>
            <a:srgbClr val="FEF3DD"/>
          </a:solidFill>
          <a:ln/>
        </p:spPr>
      </p:sp>
      <p:sp>
        <p:nvSpPr>
          <p:cNvPr id="34" name="Shape 26"/>
          <p:cNvSpPr/>
          <p:nvPr/>
        </p:nvSpPr>
        <p:spPr>
          <a:xfrm>
            <a:off x="812800" y="3228256"/>
            <a:ext cx="10566400" cy="660400"/>
          </a:xfrm>
          <a:custGeom>
            <a:avLst/>
            <a:gdLst/>
            <a:ahLst/>
            <a:cxnLst/>
            <a:rect l="l" t="t" r="r" b="b"/>
            <a:pathLst>
              <a:path w="10566400" h="660400">
                <a:moveTo>
                  <a:pt x="101600" y="660400"/>
                </a:moveTo>
                <a:lnTo>
                  <a:pt x="101600" y="660400"/>
                </a:lnTo>
                <a:arcTo hR="101600" wR="101600" stAng="5400000" swAng="5400000"/>
                <a:lnTo>
                  <a:pt x="0" y="101600"/>
                </a:lnTo>
                <a:arcTo hR="101600" wR="101600" stAng="10800000" swAng="5400000"/>
                <a:lnTo>
                  <a:pt x="101600" y="0"/>
                </a:lnTo>
                <a:arcTo hR="101600" wR="50800" stAng="16200000" swAng="-5400000"/>
                <a:lnTo>
                  <a:pt x="50800" y="558800"/>
                </a:lnTo>
                <a:arcTo hR="101600" wR="50800" stAng="10800000" swAng="-5400000"/>
                <a:close/>
              </a:path>
            </a:pathLst>
          </a:custGeom>
          <a:solidFill>
            <a:srgbClr val="F5A623"/>
          </a:solidFill>
          <a:ln/>
        </p:spPr>
      </p:sp>
      <p:pic>
        <p:nvPicPr>
          <p:cNvPr id="35" name="Image 6" descr="Chat">    </p:cNvPr>
          <p:cNvPicPr>
            <a:picLocks noChangeAspect="1"/>
          </p:cNvPicPr>
          <p:nvPr/>
        </p:nvPicPr>
        <p:blipFill>
          <a:blip r:embed="rId7"/>
          <a:srcRect l="0" r="0" t="0" b="0"/>
          <a:stretch/>
        </p:blipFill>
        <p:spPr>
          <a:xfrm>
            <a:off x="1092200" y="3380656"/>
            <a:ext cx="355600" cy="355600"/>
          </a:xfrm>
          <a:prstGeom prst="rect">
            <a:avLst/>
          </a:prstGeom>
        </p:spPr>
      </p:pic>
      <p:sp>
        <p:nvSpPr>
          <p:cNvPr id="36" name="Text 27"/>
          <p:cNvSpPr/>
          <p:nvPr/>
        </p:nvSpPr>
        <p:spPr>
          <a:xfrm>
            <a:off x="1600200" y="3433961"/>
            <a:ext cx="977900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2545"/>
                </a:solidFill>
                <a:latin typeface="Public Sans" pitchFamily="34" charset="0"/>
                <a:ea typeface="Public Sans" pitchFamily="34" charset="-122"/>
                <a:cs typeface="Public Sans" pitchFamily="34" charset="-120"/>
              </a:rPr>
              <a:t>Ask the chat assistant at any step:</a:t>
            </a:r>
            <a:r>
              <a:rPr lang="en-US" sz="1400" dirty="0">
                <a:solidFill>
                  <a:srgbClr val="0B2545"/>
                </a:solidFill>
                <a:latin typeface="Public Sans" pitchFamily="34" charset="0"/>
                <a:ea typeface="Public Sans" pitchFamily="34" charset="-122"/>
                <a:cs typeface="Public Sans" pitchFamily="34" charset="-120"/>
              </a:rPr>
              <a:t> what is waiting for me, what fixed this before, what is the status?</a:t>
            </a:r>
            <a:endParaRPr lang="en-US" sz="1400" dirty="0"/>
          </a:p>
        </p:txBody>
      </p:sp>
      <p:sp>
        <p:nvSpPr>
          <p:cNvPr id="37" name="Text 28"/>
          <p:cNvSpPr/>
          <p:nvPr/>
        </p:nvSpPr>
        <p:spPr>
          <a:xfrm>
            <a:off x="812800" y="4091856"/>
            <a:ext cx="10566400" cy="553707"/>
          </a:xfrm>
          <a:prstGeom prst="roundRect">
            <a:avLst>
              <a:gd name="adj" fmla="val 18349"/>
            </a:avLst>
          </a:prstGeom>
          <a:solidFill>
            <a:srgbClr val="E6F2FC"/>
          </a:solidFill>
          <a:ln/>
        </p:spPr>
        <p:txBody>
          <a:bodyPr wrap="square" lIns="198842" tIns="122642" rIns="0" bIns="97242" rtlCol="0" anchor="t">
            <a:normAutofit/>
          </a:bodyPr>
          <a:lstStyle/>
          <a:p>
            <a:pPr algn="l" indent="0" marL="0">
              <a:lnSpc>
                <a:spcPts val="1960"/>
              </a:lnSpc>
              <a:buNone/>
            </a:pPr>
            <a:r>
              <a:rPr lang="en-US" sz="1400" dirty="0">
                <a:solidFill>
                  <a:srgbClr val="0B2545"/>
                </a:solidFill>
                <a:latin typeface="Public Sans" pitchFamily="34" charset="0"/>
                <a:ea typeface="Public Sans" pitchFamily="34" charset="-122"/>
                <a:cs typeface="Public Sans" pitchFamily="34" charset="-120"/>
              </a:rPr>
              <a:t>Every transition is written to an append-only audit log, so “who approved and who ran this?” always has an answer.</a:t>
            </a:r>
            <a:endParaRPr lang="en-US" sz="1400" dirty="0"/>
          </a:p>
        </p:txBody>
      </p:sp>
      <p:sp>
        <p:nvSpPr>
          <p:cNvPr id="38" name="Text 29"/>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Bulwark | Innova Solutions</a:t>
            </a:r>
            <a:endParaRPr lang="en-US" sz="1200" dirty="0"/>
          </a:p>
        </p:txBody>
      </p:sp>
      <p:sp>
        <p:nvSpPr>
          <p:cNvPr id="39" name="Text 3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9FD"/>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2545"/>
                </a:solidFill>
                <a:latin typeface="Source Serif 4" pitchFamily="18" charset="0"/>
                <a:ea typeface="Source Serif 4" pitchFamily="18" charset="-122"/>
                <a:cs typeface="Source Serif 4" pitchFamily="18" charset="-120"/>
              </a:rPr>
              <a:t>Solution catalog lifecycle</a:t>
            </a:r>
            <a:endParaRPr lang="en-US" sz="3200" dirty="0"/>
          </a:p>
        </p:txBody>
      </p:sp>
      <p:sp>
        <p:nvSpPr>
          <p:cNvPr id="3" name="Shape 1"/>
          <p:cNvSpPr/>
          <p:nvPr/>
        </p:nvSpPr>
        <p:spPr>
          <a:xfrm>
            <a:off x="812800" y="1259818"/>
            <a:ext cx="3454400" cy="767027"/>
          </a:xfrm>
          <a:prstGeom prst="roundRect">
            <a:avLst>
              <a:gd name="adj" fmla="val 11590"/>
            </a:avLst>
          </a:prstGeom>
          <a:solidFill>
            <a:srgbClr val="FFFFFF"/>
          </a:solidFill>
          <a:ln/>
        </p:spPr>
      </p:sp>
      <p:sp>
        <p:nvSpPr>
          <p:cNvPr id="4" name="Shape 2"/>
          <p:cNvSpPr/>
          <p:nvPr/>
        </p:nvSpPr>
        <p:spPr>
          <a:xfrm>
            <a:off x="812800" y="1259818"/>
            <a:ext cx="3454400" cy="767027"/>
          </a:xfrm>
          <a:custGeom>
            <a:avLst/>
            <a:gdLst/>
            <a:ahLst/>
            <a:cxnLst/>
            <a:rect l="l" t="t" r="r" b="b"/>
            <a:pathLst>
              <a:path w="3454400" h="767027">
                <a:moveTo>
                  <a:pt x="0" y="88900"/>
                </a:moveTo>
                <a:lnTo>
                  <a:pt x="0" y="88900"/>
                </a:lnTo>
                <a:arcTo hR="88900" wR="88900" stAng="10800000" swAng="5400000"/>
                <a:lnTo>
                  <a:pt x="3365500" y="0"/>
                </a:lnTo>
                <a:arcTo hR="88900" wR="88900" stAng="16200000" swAng="5400000"/>
                <a:lnTo>
                  <a:pt x="3454400" y="88900"/>
                </a:lnTo>
                <a:arcTo hR="50800" wR="88900" stAng="0" swAng="-5400000"/>
                <a:lnTo>
                  <a:pt x="88900" y="38100"/>
                </a:lnTo>
                <a:arcTo hR="50800" wR="88900" stAng="16200000" swAng="-5400000"/>
                <a:close/>
              </a:path>
            </a:pathLst>
          </a:custGeom>
          <a:solidFill>
            <a:srgbClr val="5B6B7C"/>
          </a:solidFill>
          <a:ln/>
        </p:spPr>
      </p:sp>
      <p:sp>
        <p:nvSpPr>
          <p:cNvPr id="5" name="Text 3"/>
          <p:cNvSpPr/>
          <p:nvPr/>
        </p:nvSpPr>
        <p:spPr>
          <a:xfrm>
            <a:off x="939800" y="1437618"/>
            <a:ext cx="329641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B2545"/>
                </a:solidFill>
                <a:latin typeface="Public Sans" pitchFamily="34" charset="0"/>
                <a:ea typeface="Public Sans" pitchFamily="34" charset="-122"/>
                <a:cs typeface="Public Sans" pitchFamily="34" charset="-120"/>
              </a:rPr>
              <a:t>Create or edit</a:t>
            </a:r>
            <a:endParaRPr lang="en-US" sz="1400" dirty="0"/>
          </a:p>
        </p:txBody>
      </p:sp>
      <p:sp>
        <p:nvSpPr>
          <p:cNvPr id="6" name="Text 4"/>
          <p:cNvSpPr/>
          <p:nvPr/>
        </p:nvSpPr>
        <p:spPr>
          <a:xfrm>
            <a:off x="939800" y="1689038"/>
            <a:ext cx="3296412"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B7C"/>
                </a:solidFill>
                <a:latin typeface="Public Sans" pitchFamily="34" charset="0"/>
                <a:ea typeface="Public Sans" pitchFamily="34" charset="-122"/>
                <a:cs typeface="Public Sans" pitchFamily="34" charset="-120"/>
              </a:rPr>
              <a:t>Analyst or AI draft writes the fix</a:t>
            </a:r>
            <a:endParaRPr lang="en-US" sz="1200" dirty="0"/>
          </a:p>
        </p:txBody>
      </p:sp>
      <p:sp>
        <p:nvSpPr>
          <p:cNvPr id="7" name="Shape 5"/>
          <p:cNvSpPr/>
          <p:nvPr/>
        </p:nvSpPr>
        <p:spPr>
          <a:xfrm>
            <a:off x="4368800" y="1259818"/>
            <a:ext cx="3454400" cy="767027"/>
          </a:xfrm>
          <a:prstGeom prst="roundRect">
            <a:avLst>
              <a:gd name="adj" fmla="val 11590"/>
            </a:avLst>
          </a:prstGeom>
          <a:solidFill>
            <a:srgbClr val="FFFFFF"/>
          </a:solidFill>
          <a:ln/>
        </p:spPr>
      </p:sp>
      <p:sp>
        <p:nvSpPr>
          <p:cNvPr id="8" name="Shape 6"/>
          <p:cNvSpPr/>
          <p:nvPr/>
        </p:nvSpPr>
        <p:spPr>
          <a:xfrm>
            <a:off x="4368800" y="1259818"/>
            <a:ext cx="3454400" cy="767027"/>
          </a:xfrm>
          <a:custGeom>
            <a:avLst/>
            <a:gdLst/>
            <a:ahLst/>
            <a:cxnLst/>
            <a:rect l="l" t="t" r="r" b="b"/>
            <a:pathLst>
              <a:path w="3454400" h="767027">
                <a:moveTo>
                  <a:pt x="0" y="88900"/>
                </a:moveTo>
                <a:lnTo>
                  <a:pt x="0" y="88900"/>
                </a:lnTo>
                <a:arcTo hR="88900" wR="88900" stAng="10800000" swAng="5400000"/>
                <a:lnTo>
                  <a:pt x="3365500" y="0"/>
                </a:lnTo>
                <a:arcTo hR="88900" wR="88900" stAng="16200000" swAng="5400000"/>
                <a:lnTo>
                  <a:pt x="3454400" y="88900"/>
                </a:lnTo>
                <a:arcTo hR="50800" wR="88900" stAng="0" swAng="-5400000"/>
                <a:lnTo>
                  <a:pt x="88900" y="38100"/>
                </a:lnTo>
                <a:arcTo hR="50800" wR="88900" stAng="16200000" swAng="-5400000"/>
                <a:close/>
              </a:path>
            </a:pathLst>
          </a:custGeom>
          <a:solidFill>
            <a:srgbClr val="F5A623"/>
          </a:solidFill>
          <a:ln/>
        </p:spPr>
      </p:sp>
      <p:sp>
        <p:nvSpPr>
          <p:cNvPr id="9" name="Text 7"/>
          <p:cNvSpPr/>
          <p:nvPr/>
        </p:nvSpPr>
        <p:spPr>
          <a:xfrm>
            <a:off x="4495800" y="1437618"/>
            <a:ext cx="329641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B2545"/>
                </a:solidFill>
                <a:latin typeface="Public Sans" pitchFamily="34" charset="0"/>
                <a:ea typeface="Public Sans" pitchFamily="34" charset="-122"/>
                <a:cs typeface="Public Sans" pitchFamily="34" charset="-120"/>
              </a:rPr>
              <a:t>REVIEW_PENDING</a:t>
            </a:r>
            <a:endParaRPr lang="en-US" sz="1400" dirty="0"/>
          </a:p>
        </p:txBody>
      </p:sp>
      <p:sp>
        <p:nvSpPr>
          <p:cNvPr id="10" name="Text 8"/>
          <p:cNvSpPr/>
          <p:nvPr/>
        </p:nvSpPr>
        <p:spPr>
          <a:xfrm>
            <a:off x="4495800" y="1689038"/>
            <a:ext cx="3296412"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B7C"/>
                </a:solidFill>
                <a:latin typeface="Public Sans" pitchFamily="34" charset="0"/>
                <a:ea typeface="Public Sans" pitchFamily="34" charset="-122"/>
                <a:cs typeface="Public Sans" pitchFamily="34" charset="-120"/>
              </a:rPr>
              <a:t>Every new version starts here</a:t>
            </a:r>
            <a:endParaRPr lang="en-US" sz="1200" dirty="0"/>
          </a:p>
        </p:txBody>
      </p:sp>
      <p:sp>
        <p:nvSpPr>
          <p:cNvPr id="11" name="Shape 9"/>
          <p:cNvSpPr/>
          <p:nvPr/>
        </p:nvSpPr>
        <p:spPr>
          <a:xfrm>
            <a:off x="7924800" y="1259818"/>
            <a:ext cx="3454400" cy="767027"/>
          </a:xfrm>
          <a:prstGeom prst="roundRect">
            <a:avLst>
              <a:gd name="adj" fmla="val 11590"/>
            </a:avLst>
          </a:prstGeom>
          <a:solidFill>
            <a:srgbClr val="0072CE"/>
          </a:solidFill>
          <a:ln/>
        </p:spPr>
      </p:sp>
      <p:sp>
        <p:nvSpPr>
          <p:cNvPr id="12" name="Text 10"/>
          <p:cNvSpPr/>
          <p:nvPr/>
        </p:nvSpPr>
        <p:spPr>
          <a:xfrm>
            <a:off x="8051800" y="1399518"/>
            <a:ext cx="329641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FFFFF"/>
                </a:solidFill>
                <a:latin typeface="Public Sans" pitchFamily="34" charset="0"/>
                <a:ea typeface="Public Sans" pitchFamily="34" charset="-122"/>
                <a:cs typeface="Public Sans" pitchFamily="34" charset="-120"/>
              </a:rPr>
              <a:t>APPROVED</a:t>
            </a:r>
            <a:endParaRPr lang="en-US" sz="1400" dirty="0"/>
          </a:p>
        </p:txBody>
      </p:sp>
      <p:sp>
        <p:nvSpPr>
          <p:cNvPr id="13" name="Text 11"/>
          <p:cNvSpPr/>
          <p:nvPr/>
        </p:nvSpPr>
        <p:spPr>
          <a:xfrm>
            <a:off x="8051800" y="1650938"/>
            <a:ext cx="3296412"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DCEBFA"/>
                </a:solidFill>
                <a:latin typeface="Public Sans" pitchFamily="34" charset="0"/>
                <a:ea typeface="Public Sans" pitchFamily="34" charset="-122"/>
                <a:cs typeface="Public Sans" pitchFamily="34" charset="-120"/>
              </a:rPr>
              <a:t>Can be planned and suggested</a:t>
            </a:r>
            <a:endParaRPr lang="en-US" sz="1200" dirty="0"/>
          </a:p>
        </p:txBody>
      </p:sp>
      <p:sp>
        <p:nvSpPr>
          <p:cNvPr id="14" name="Shape 12"/>
          <p:cNvSpPr/>
          <p:nvPr/>
        </p:nvSpPr>
        <p:spPr>
          <a:xfrm>
            <a:off x="812800" y="2230041"/>
            <a:ext cx="3454400" cy="767027"/>
          </a:xfrm>
          <a:prstGeom prst="roundRect">
            <a:avLst>
              <a:gd name="adj" fmla="val 11590"/>
            </a:avLst>
          </a:prstGeom>
          <a:solidFill>
            <a:srgbClr val="FFFFFF"/>
          </a:solidFill>
          <a:ln/>
        </p:spPr>
      </p:sp>
      <p:sp>
        <p:nvSpPr>
          <p:cNvPr id="15" name="Shape 13"/>
          <p:cNvSpPr/>
          <p:nvPr/>
        </p:nvSpPr>
        <p:spPr>
          <a:xfrm>
            <a:off x="812800" y="2230041"/>
            <a:ext cx="3454400" cy="767027"/>
          </a:xfrm>
          <a:custGeom>
            <a:avLst/>
            <a:gdLst/>
            <a:ahLst/>
            <a:cxnLst/>
            <a:rect l="l" t="t" r="r" b="b"/>
            <a:pathLst>
              <a:path w="3454400" h="767027">
                <a:moveTo>
                  <a:pt x="0" y="88900"/>
                </a:moveTo>
                <a:lnTo>
                  <a:pt x="0" y="88900"/>
                </a:lnTo>
                <a:arcTo hR="88900" wR="88900" stAng="10800000" swAng="5400000"/>
                <a:lnTo>
                  <a:pt x="3365500" y="0"/>
                </a:lnTo>
                <a:arcTo hR="88900" wR="88900" stAng="16200000" swAng="5400000"/>
                <a:lnTo>
                  <a:pt x="3454400" y="88900"/>
                </a:lnTo>
                <a:arcTo hR="50800" wR="88900" stAng="0" swAng="-5400000"/>
                <a:lnTo>
                  <a:pt x="88900" y="38100"/>
                </a:lnTo>
                <a:arcTo hR="50800" wR="88900" stAng="16200000" swAng="-5400000"/>
                <a:close/>
              </a:path>
            </a:pathLst>
          </a:custGeom>
          <a:solidFill>
            <a:srgbClr val="5B6B7C"/>
          </a:solidFill>
          <a:ln/>
        </p:spPr>
      </p:sp>
      <p:sp>
        <p:nvSpPr>
          <p:cNvPr id="16" name="Text 14"/>
          <p:cNvSpPr/>
          <p:nvPr/>
        </p:nvSpPr>
        <p:spPr>
          <a:xfrm>
            <a:off x="939800" y="2407841"/>
            <a:ext cx="329641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B2545"/>
                </a:solidFill>
                <a:latin typeface="Public Sans" pitchFamily="34" charset="0"/>
                <a:ea typeface="Public Sans" pitchFamily="34" charset="-122"/>
                <a:cs typeface="Public Sans" pitchFamily="34" charset="-120"/>
              </a:rPr>
              <a:t>REJECTED</a:t>
            </a:r>
            <a:endParaRPr lang="en-US" sz="1400" dirty="0"/>
          </a:p>
        </p:txBody>
      </p:sp>
      <p:sp>
        <p:nvSpPr>
          <p:cNvPr id="17" name="Text 15"/>
          <p:cNvSpPr/>
          <p:nvPr/>
        </p:nvSpPr>
        <p:spPr>
          <a:xfrm>
            <a:off x="939800" y="2659261"/>
            <a:ext cx="3296412"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B7C"/>
                </a:solidFill>
                <a:latin typeface="Public Sans" pitchFamily="34" charset="0"/>
                <a:ea typeface="Public Sans" pitchFamily="34" charset="-122"/>
                <a:cs typeface="Public Sans" pitchFamily="34" charset="-120"/>
              </a:rPr>
              <a:t>Reviewer declines it</a:t>
            </a:r>
            <a:endParaRPr lang="en-US" sz="1200" dirty="0"/>
          </a:p>
        </p:txBody>
      </p:sp>
      <p:sp>
        <p:nvSpPr>
          <p:cNvPr id="18" name="Shape 16"/>
          <p:cNvSpPr/>
          <p:nvPr/>
        </p:nvSpPr>
        <p:spPr>
          <a:xfrm>
            <a:off x="4368800" y="2230041"/>
            <a:ext cx="3454400" cy="767027"/>
          </a:xfrm>
          <a:prstGeom prst="roundRect">
            <a:avLst>
              <a:gd name="adj" fmla="val 11590"/>
            </a:avLst>
          </a:prstGeom>
          <a:solidFill>
            <a:srgbClr val="FFFFFF"/>
          </a:solidFill>
          <a:ln/>
        </p:spPr>
      </p:sp>
      <p:sp>
        <p:nvSpPr>
          <p:cNvPr id="19" name="Shape 17"/>
          <p:cNvSpPr/>
          <p:nvPr/>
        </p:nvSpPr>
        <p:spPr>
          <a:xfrm>
            <a:off x="4368800" y="2230041"/>
            <a:ext cx="3454400" cy="767027"/>
          </a:xfrm>
          <a:custGeom>
            <a:avLst/>
            <a:gdLst/>
            <a:ahLst/>
            <a:cxnLst/>
            <a:rect l="l" t="t" r="r" b="b"/>
            <a:pathLst>
              <a:path w="3454400" h="767027">
                <a:moveTo>
                  <a:pt x="0" y="88900"/>
                </a:moveTo>
                <a:lnTo>
                  <a:pt x="0" y="88900"/>
                </a:lnTo>
                <a:arcTo hR="88900" wR="88900" stAng="10800000" swAng="5400000"/>
                <a:lnTo>
                  <a:pt x="3365500" y="0"/>
                </a:lnTo>
                <a:arcTo hR="88900" wR="88900" stAng="16200000" swAng="5400000"/>
                <a:lnTo>
                  <a:pt x="3454400" y="88900"/>
                </a:lnTo>
                <a:arcTo hR="50800" wR="88900" stAng="0" swAng="-5400000"/>
                <a:lnTo>
                  <a:pt x="88900" y="38100"/>
                </a:lnTo>
                <a:arcTo hR="50800" wR="88900" stAng="16200000" swAng="-5400000"/>
                <a:close/>
              </a:path>
            </a:pathLst>
          </a:custGeom>
          <a:solidFill>
            <a:srgbClr val="5B6B7C"/>
          </a:solidFill>
          <a:ln/>
        </p:spPr>
      </p:sp>
      <p:sp>
        <p:nvSpPr>
          <p:cNvPr id="20" name="Text 18"/>
          <p:cNvSpPr/>
          <p:nvPr/>
        </p:nvSpPr>
        <p:spPr>
          <a:xfrm>
            <a:off x="4495800" y="2407841"/>
            <a:ext cx="329641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B2545"/>
                </a:solidFill>
                <a:latin typeface="Public Sans" pitchFamily="34" charset="0"/>
                <a:ea typeface="Public Sans" pitchFamily="34" charset="-122"/>
                <a:cs typeface="Public Sans" pitchFamily="34" charset="-120"/>
              </a:rPr>
              <a:t>CHANGES_REQUESTED</a:t>
            </a:r>
            <a:endParaRPr lang="en-US" sz="1400" dirty="0"/>
          </a:p>
        </p:txBody>
      </p:sp>
      <p:sp>
        <p:nvSpPr>
          <p:cNvPr id="21" name="Text 19"/>
          <p:cNvSpPr/>
          <p:nvPr/>
        </p:nvSpPr>
        <p:spPr>
          <a:xfrm>
            <a:off x="4495800" y="2659261"/>
            <a:ext cx="3296412"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B7C"/>
                </a:solidFill>
                <a:latin typeface="Public Sans" pitchFamily="34" charset="0"/>
                <a:ea typeface="Public Sans" pitchFamily="34" charset="-122"/>
                <a:cs typeface="Public Sans" pitchFamily="34" charset="-120"/>
              </a:rPr>
              <a:t>Back to the author for a new version</a:t>
            </a:r>
            <a:endParaRPr lang="en-US" sz="1200" dirty="0"/>
          </a:p>
        </p:txBody>
      </p:sp>
      <p:sp>
        <p:nvSpPr>
          <p:cNvPr id="22" name="Shape 20"/>
          <p:cNvSpPr/>
          <p:nvPr/>
        </p:nvSpPr>
        <p:spPr>
          <a:xfrm>
            <a:off x="7924800" y="2230041"/>
            <a:ext cx="3454400" cy="767027"/>
          </a:xfrm>
          <a:prstGeom prst="roundRect">
            <a:avLst>
              <a:gd name="adj" fmla="val 11590"/>
            </a:avLst>
          </a:prstGeom>
          <a:solidFill>
            <a:srgbClr val="FFFFFF"/>
          </a:solidFill>
          <a:ln/>
        </p:spPr>
      </p:sp>
      <p:sp>
        <p:nvSpPr>
          <p:cNvPr id="23" name="Shape 21"/>
          <p:cNvSpPr/>
          <p:nvPr/>
        </p:nvSpPr>
        <p:spPr>
          <a:xfrm>
            <a:off x="7924800" y="2230041"/>
            <a:ext cx="3454400" cy="767027"/>
          </a:xfrm>
          <a:custGeom>
            <a:avLst/>
            <a:gdLst/>
            <a:ahLst/>
            <a:cxnLst/>
            <a:rect l="l" t="t" r="r" b="b"/>
            <a:pathLst>
              <a:path w="3454400" h="767027">
                <a:moveTo>
                  <a:pt x="0" y="88900"/>
                </a:moveTo>
                <a:lnTo>
                  <a:pt x="0" y="88900"/>
                </a:lnTo>
                <a:arcTo hR="88900" wR="88900" stAng="10800000" swAng="5400000"/>
                <a:lnTo>
                  <a:pt x="3365500" y="0"/>
                </a:lnTo>
                <a:arcTo hR="88900" wR="88900" stAng="16200000" swAng="5400000"/>
                <a:lnTo>
                  <a:pt x="3454400" y="88900"/>
                </a:lnTo>
                <a:arcTo hR="50800" wR="88900" stAng="0" swAng="-5400000"/>
                <a:lnTo>
                  <a:pt x="88900" y="38100"/>
                </a:lnTo>
                <a:arcTo hR="50800" wR="88900" stAng="16200000" swAng="-5400000"/>
                <a:close/>
              </a:path>
            </a:pathLst>
          </a:custGeom>
          <a:solidFill>
            <a:srgbClr val="5B6B7C"/>
          </a:solidFill>
          <a:ln/>
        </p:spPr>
      </p:sp>
      <p:sp>
        <p:nvSpPr>
          <p:cNvPr id="24" name="Text 22"/>
          <p:cNvSpPr/>
          <p:nvPr/>
        </p:nvSpPr>
        <p:spPr>
          <a:xfrm>
            <a:off x="8051800" y="2407841"/>
            <a:ext cx="329641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B2545"/>
                </a:solidFill>
                <a:latin typeface="Public Sans" pitchFamily="34" charset="0"/>
                <a:ea typeface="Public Sans" pitchFamily="34" charset="-122"/>
                <a:cs typeface="Public Sans" pitchFamily="34" charset="-120"/>
              </a:rPr>
              <a:t>RETIRED</a:t>
            </a:r>
            <a:endParaRPr lang="en-US" sz="1400" dirty="0"/>
          </a:p>
        </p:txBody>
      </p:sp>
      <p:sp>
        <p:nvSpPr>
          <p:cNvPr id="25" name="Text 23"/>
          <p:cNvSpPr/>
          <p:nvPr/>
        </p:nvSpPr>
        <p:spPr>
          <a:xfrm>
            <a:off x="8051800" y="2659261"/>
            <a:ext cx="3296412"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B7C"/>
                </a:solidFill>
                <a:latin typeface="Public Sans" pitchFamily="34" charset="0"/>
                <a:ea typeface="Public Sans" pitchFamily="34" charset="-122"/>
                <a:cs typeface="Public Sans" pitchFamily="34" charset="-120"/>
              </a:rPr>
              <a:t>No longer offered to planners</a:t>
            </a:r>
            <a:endParaRPr lang="en-US" sz="1200" dirty="0"/>
          </a:p>
        </p:txBody>
      </p:sp>
      <p:sp>
        <p:nvSpPr>
          <p:cNvPr id="26" name="Text 24"/>
          <p:cNvSpPr/>
          <p:nvPr/>
        </p:nvSpPr>
        <p:spPr>
          <a:xfrm>
            <a:off x="812800" y="3200276"/>
            <a:ext cx="10566400" cy="579107"/>
          </a:xfrm>
          <a:prstGeom prst="roundRect">
            <a:avLst>
              <a:gd name="adj" fmla="val 17544"/>
            </a:avLst>
          </a:prstGeom>
          <a:solidFill>
            <a:srgbClr val="E6F2FC"/>
          </a:solidFill>
          <a:ln/>
        </p:spPr>
        <p:txBody>
          <a:bodyPr wrap="square" lIns="198842" tIns="135342" rIns="0" bIns="109942" rtlCol="0" anchor="t">
            <a:normAutofit/>
          </a:bodyPr>
          <a:lstStyle/>
          <a:p>
            <a:pPr algn="l" indent="0" marL="0">
              <a:lnSpc>
                <a:spcPts val="1960"/>
              </a:lnSpc>
              <a:buNone/>
            </a:pPr>
            <a:r>
              <a:rPr lang="en-US" sz="1400" dirty="0">
                <a:solidFill>
                  <a:srgbClr val="0B2545"/>
                </a:solidFill>
                <a:latin typeface="Public Sans" pitchFamily="34" charset="0"/>
                <a:ea typeface="Public Sans" pitchFamily="34" charset="-122"/>
                <a:cs typeface="Public Sans" pitchFamily="34" charset="-120"/>
              </a:rPr>
              <a:t>Each plan step is pinned to one approved solution version, with an on-failure choice: stop this asset, continue, or stop all.</a:t>
            </a:r>
            <a:endParaRPr lang="en-US" sz="1400" dirty="0"/>
          </a:p>
        </p:txBody>
      </p:sp>
      <p:sp>
        <p:nvSpPr>
          <p:cNvPr id="27" name="Text 25"/>
          <p:cNvSpPr/>
          <p:nvPr/>
        </p:nvSpPr>
        <p:spPr>
          <a:xfrm>
            <a:off x="812800" y="3982579"/>
            <a:ext cx="10566400" cy="828014"/>
          </a:xfrm>
          <a:prstGeom prst="roundRect">
            <a:avLst>
              <a:gd name="adj" fmla="val 12270"/>
            </a:avLst>
          </a:prstGeom>
          <a:solidFill>
            <a:srgbClr val="FEF3DD"/>
          </a:solidFill>
          <a:ln/>
        </p:spPr>
        <p:txBody>
          <a:bodyPr wrap="square" lIns="249642" tIns="135342" rIns="0" bIns="109942" rtlCol="0" anchor="t">
            <a:normAutofit/>
          </a:bodyPr>
          <a:lstStyle/>
          <a:p>
            <a:pPr algn="l" indent="0" marL="0">
              <a:lnSpc>
                <a:spcPts val="1960"/>
              </a:lnSpc>
              <a:buNone/>
            </a:pPr>
            <a:r>
              <a:rPr lang="en-US" sz="1400" b="1" dirty="0">
                <a:solidFill>
                  <a:srgbClr val="0B2545"/>
                </a:solidFill>
                <a:latin typeface="Public Sans" pitchFamily="34" charset="0"/>
                <a:ea typeface="Public Sans" pitchFamily="34" charset="-122"/>
                <a:cs typeface="Public Sans" pitchFamily="34" charset="-120"/>
              </a:rPr>
              <a:t>AI drafts follow the same road.</a:t>
            </a:r>
            <a:r>
              <a:rPr lang="en-US" sz="1400" dirty="0">
                <a:solidFill>
                  <a:srgbClr val="0B2545"/>
                </a:solidFill>
                <a:latin typeface="Public Sans" pitchFamily="34" charset="0"/>
                <a:ea typeface="Public Sans" pitchFamily="34" charset="-122"/>
                <a:cs typeface="Public Sans" pitchFamily="34" charset="-120"/>
              </a:rPr>
              <a:t> A fix drafted by the plan builder enters as REVIEW_PENDING and needs a human reviewer.</a:t>
            </a:r>
            <a:endParaRPr lang="en-US" sz="1400" dirty="0"/>
          </a:p>
        </p:txBody>
      </p:sp>
      <p:sp>
        <p:nvSpPr>
          <p:cNvPr id="28" name="Shape 26"/>
          <p:cNvSpPr/>
          <p:nvPr/>
        </p:nvSpPr>
        <p:spPr>
          <a:xfrm>
            <a:off x="812800" y="3982579"/>
            <a:ext cx="10566400" cy="828014"/>
          </a:xfrm>
          <a:custGeom>
            <a:avLst/>
            <a:gdLst/>
            <a:ahLst/>
            <a:cxnLst/>
            <a:rect l="l" t="t" r="r" b="b"/>
            <a:pathLst>
              <a:path w="10566400" h="828014">
                <a:moveTo>
                  <a:pt x="101600" y="828014"/>
                </a:moveTo>
                <a:lnTo>
                  <a:pt x="101600" y="828014"/>
                </a:lnTo>
                <a:arcTo hR="101600" wR="101600" stAng="5400000" swAng="5400000"/>
                <a:lnTo>
                  <a:pt x="0" y="101600"/>
                </a:lnTo>
                <a:arcTo hR="101600" wR="101600" stAng="10800000" swAng="5400000"/>
                <a:lnTo>
                  <a:pt x="101600" y="0"/>
                </a:lnTo>
                <a:arcTo hR="101600" wR="50800" stAng="16200000" swAng="-5400000"/>
                <a:lnTo>
                  <a:pt x="50800" y="726414"/>
                </a:lnTo>
                <a:arcTo hR="101600" wR="50800" stAng="10800000" swAng="-5400000"/>
                <a:close/>
              </a:path>
            </a:pathLst>
          </a:custGeom>
          <a:solidFill>
            <a:srgbClr val="F5A623"/>
          </a:solidFill>
          <a:ln/>
        </p:spPr>
      </p:sp>
      <p:sp>
        <p:nvSpPr>
          <p:cNvPr id="29" name="Text 27"/>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Bulwark | Innova Solutions</a:t>
            </a:r>
            <a:endParaRPr lang="en-US" sz="1200" dirty="0"/>
          </a:p>
        </p:txBody>
      </p:sp>
      <p:sp>
        <p:nvSpPr>
          <p:cNvPr id="30" name="Text 2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9FD"/>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2545"/>
                </a:solidFill>
                <a:latin typeface="Source Serif 4" pitchFamily="18" charset="0"/>
                <a:ea typeface="Source Serif 4" pitchFamily="18" charset="-122"/>
                <a:cs typeface="Source Serif 4" pitchFamily="18" charset="-120"/>
              </a:rPr>
              <a:t>Controlled execution</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272518"/>
          <a:ext cx="5702300" cy="1543844"/>
        </p:xfrm>
        <a:graphic>
          <a:graphicData uri="http://schemas.openxmlformats.org/drawingml/2006/table">
            <a:tbl>
              <a:tblPr/>
              <a:tblGrid>
                <a:gridCol w="1425575"/>
                <a:gridCol w="1425575"/>
                <a:gridCol w="1425575"/>
                <a:gridCol w="1425575"/>
              </a:tblGrid>
              <a:tr h="385961">
                <a:tc>
                  <a:txBody>
                    <a:bodyPr/>
                    <a:lstStyle/>
                    <a:p>
                      <a:pPr indent="0" marL="0">
                        <a:lnSpc>
                          <a:spcPts val="1960"/>
                        </a:lnSpc>
                        <a:buNone/>
                      </a:pPr>
                      <a:endParaRPr lang="en-US" sz="1400" dirty="0">
                        <a:latin typeface="Public Sans" charset="0"/>
                        <a:ea typeface="Public Sans" charset="0"/>
                        <a:cs typeface="Public Sans" charset="0"/>
                      </a:endParaRPr>
                    </a:p>
                  </a:txBody>
                  <a:tcPr marL="62230" marR="62230" marT="62230" marB="62230" anchor="t">
                    <a:lnL w="12700" cap="flat" cmpd="sng" algn="ctr">
                      <a:solidFill>
                        <a:srgbClr val="C4C7CA"/>
                      </a:solidFill>
                      <a:prstDash val="solid"/>
                      <a:round/>
                      <a:headEnd type="none" w="med" len="med"/>
                      <a:tailEnd type="none" w="med" len="med"/>
                    </a:lnL>
                    <a:lnR w="12700" cap="flat" cmpd="sng" algn="ctr">
                      <a:solidFill>
                        <a:srgbClr val="B5B9BB"/>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B5B9BB"/>
                      </a:solidFill>
                      <a:prstDash val="solid"/>
                      <a:round/>
                      <a:headEnd type="none" w="med" len="med"/>
                      <a:tailEnd type="none" w="med" len="med"/>
                    </a:lnB>
                    <a:solidFill>
                      <a:srgbClr val="E3E7EA"/>
                    </a:solidFill>
                  </a:tcPr>
                </a:tc>
                <a:tc>
                  <a:txBody>
                    <a:bodyPr/>
                    <a:lstStyle/>
                    <a:p>
                      <a:pPr indent="0" marL="0">
                        <a:lnSpc>
                          <a:spcPts val="1960"/>
                        </a:lnSpc>
                        <a:buNone/>
                      </a:pPr>
                      <a:r>
                        <a:rPr lang="en-US" sz="1400" b="1" dirty="0">
                          <a:solidFill>
                            <a:srgbClr val="0B2545"/>
                          </a:solidFill>
                          <a:latin typeface="Public Sans" pitchFamily="34" charset="0"/>
                          <a:ea typeface="Public Sans" pitchFamily="34" charset="-122"/>
                          <a:cs typeface="Public Sans" pitchFamily="34" charset="-120"/>
                        </a:rPr>
                        <a:t>1 Backup</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5B9BB"/>
                      </a:solidFill>
                      <a:prstDash val="solid"/>
                      <a:round/>
                      <a:headEnd type="none" w="med" len="med"/>
                      <a:tailEnd type="none" w="med" len="med"/>
                    </a:lnL>
                    <a:lnR w="12700" cap="flat" cmpd="sng" algn="ctr">
                      <a:solidFill>
                        <a:srgbClr val="B5B9BB"/>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B5B9BB"/>
                      </a:solidFill>
                      <a:prstDash val="solid"/>
                      <a:round/>
                      <a:headEnd type="none" w="med" len="med"/>
                      <a:tailEnd type="none" w="med" len="med"/>
                    </a:lnB>
                    <a:solidFill>
                      <a:srgbClr val="E3E7EA"/>
                    </a:solidFill>
                  </a:tcPr>
                </a:tc>
                <a:tc>
                  <a:txBody>
                    <a:bodyPr/>
                    <a:lstStyle/>
                    <a:p>
                      <a:pPr indent="0" marL="0">
                        <a:lnSpc>
                          <a:spcPts val="1960"/>
                        </a:lnSpc>
                        <a:buNone/>
                      </a:pPr>
                      <a:r>
                        <a:rPr lang="en-US" sz="1400" b="1" dirty="0">
                          <a:solidFill>
                            <a:srgbClr val="0B2545"/>
                          </a:solidFill>
                          <a:latin typeface="Public Sans" pitchFamily="34" charset="0"/>
                          <a:ea typeface="Public Sans" pitchFamily="34" charset="-122"/>
                          <a:cs typeface="Public Sans" pitchFamily="34" charset="-120"/>
                        </a:rPr>
                        <a:t>2 Patch</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5B9BB"/>
                      </a:solidFill>
                      <a:prstDash val="solid"/>
                      <a:round/>
                      <a:headEnd type="none" w="med" len="med"/>
                      <a:tailEnd type="none" w="med" len="med"/>
                    </a:lnL>
                    <a:lnR w="12700" cap="flat" cmpd="sng" algn="ctr">
                      <a:solidFill>
                        <a:srgbClr val="B5B9BB"/>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B5B9BB"/>
                      </a:solidFill>
                      <a:prstDash val="solid"/>
                      <a:round/>
                      <a:headEnd type="none" w="med" len="med"/>
                      <a:tailEnd type="none" w="med" len="med"/>
                    </a:lnB>
                    <a:solidFill>
                      <a:srgbClr val="E3E7EA"/>
                    </a:solidFill>
                  </a:tcPr>
                </a:tc>
                <a:tc>
                  <a:txBody>
                    <a:bodyPr/>
                    <a:lstStyle/>
                    <a:p>
                      <a:pPr indent="0" marL="0">
                        <a:lnSpc>
                          <a:spcPts val="1960"/>
                        </a:lnSpc>
                        <a:buNone/>
                      </a:pPr>
                      <a:r>
                        <a:rPr lang="en-US" sz="1400" b="1" dirty="0">
                          <a:solidFill>
                            <a:srgbClr val="0B2545"/>
                          </a:solidFill>
                          <a:latin typeface="Public Sans" pitchFamily="34" charset="0"/>
                          <a:ea typeface="Public Sans" pitchFamily="34" charset="-122"/>
                          <a:cs typeface="Public Sans" pitchFamily="34" charset="-120"/>
                        </a:rPr>
                        <a:t>3 Verify</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5B9BB"/>
                      </a:solidFill>
                      <a:prstDash val="solid"/>
                      <a:round/>
                      <a:headEnd type="none" w="med" len="med"/>
                      <a:tailEnd type="none" w="med" len="med"/>
                    </a:lnL>
                    <a:lnR w="12700" cap="flat" cmpd="sng" algn="ctr">
                      <a:solidFill>
                        <a:srgbClr val="B5B9BB"/>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B5B9BB"/>
                      </a:solidFill>
                      <a:prstDash val="solid"/>
                      <a:round/>
                      <a:headEnd type="none" w="med" len="med"/>
                      <a:tailEnd type="none" w="med" len="med"/>
                    </a:lnB>
                    <a:solidFill>
                      <a:srgbClr val="E3E7EA"/>
                    </a:solidFill>
                  </a:tcPr>
                </a:tc>
              </a:tr>
              <a:tr h="385961">
                <a:tc>
                  <a:txBody>
                    <a:bodyPr/>
                    <a:lstStyle/>
                    <a:p>
                      <a:pPr indent="0" marL="0">
                        <a:lnSpc>
                          <a:spcPts val="1960"/>
                        </a:lnSpc>
                        <a:buNone/>
                      </a:pPr>
                      <a:r>
                        <a:rPr lang="en-US" sz="1400" dirty="0">
                          <a:solidFill>
                            <a:srgbClr val="0B2545"/>
                          </a:solidFill>
                          <a:latin typeface="Public Sans" pitchFamily="34" charset="0"/>
                          <a:ea typeface="Public Sans" pitchFamily="34" charset="-122"/>
                          <a:cs typeface="Public Sans" pitchFamily="34" charset="-120"/>
                        </a:rPr>
                        <a:t>Asset A</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B5B9BB"/>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960"/>
                        </a:lnSpc>
                        <a:buNone/>
                      </a:pPr>
                      <a:r>
                        <a:rPr lang="en-US" sz="1400" dirty="0">
                          <a:solidFill>
                            <a:srgbClr val="0B2545"/>
                          </a:solidFill>
                          <a:latin typeface="Public Sans" pitchFamily="34" charset="0"/>
                          <a:ea typeface="Public Sans" pitchFamily="34" charset="-122"/>
                          <a:cs typeface="Public Sans" pitchFamily="34" charset="-120"/>
                        </a:rPr>
                        <a:t>Done</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B5B9BB"/>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960"/>
                        </a:lnSpc>
                        <a:buNone/>
                      </a:pPr>
                      <a:r>
                        <a:rPr lang="en-US" sz="1400" dirty="0">
                          <a:solidFill>
                            <a:srgbClr val="0B2545"/>
                          </a:solidFill>
                          <a:latin typeface="Public Sans" pitchFamily="34" charset="0"/>
                          <a:ea typeface="Public Sans" pitchFamily="34" charset="-122"/>
                          <a:cs typeface="Public Sans" pitchFamily="34" charset="-120"/>
                        </a:rPr>
                        <a:t>Done</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B5B9BB"/>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960"/>
                        </a:lnSpc>
                        <a:buNone/>
                      </a:pPr>
                      <a:r>
                        <a:rPr lang="en-US" sz="1400" dirty="0">
                          <a:solidFill>
                            <a:srgbClr val="0B2545"/>
                          </a:solidFill>
                          <a:latin typeface="Public Sans" pitchFamily="34" charset="0"/>
                          <a:ea typeface="Public Sans" pitchFamily="34" charset="-122"/>
                          <a:cs typeface="Public Sans" pitchFamily="34" charset="-120"/>
                        </a:rPr>
                        <a:t>Running</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B5B9BB"/>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r>
              <a:tr h="385961">
                <a:tc>
                  <a:txBody>
                    <a:bodyPr/>
                    <a:lstStyle/>
                    <a:p>
                      <a:pPr indent="0" marL="0">
                        <a:lnSpc>
                          <a:spcPts val="1960"/>
                        </a:lnSpc>
                        <a:buNone/>
                      </a:pPr>
                      <a:r>
                        <a:rPr lang="en-US" sz="1400" dirty="0">
                          <a:solidFill>
                            <a:srgbClr val="0B2545"/>
                          </a:solidFill>
                          <a:latin typeface="Public Sans" pitchFamily="34" charset="0"/>
                          <a:ea typeface="Public Sans" pitchFamily="34" charset="-122"/>
                          <a:cs typeface="Public Sans" pitchFamily="34" charset="-120"/>
                        </a:rPr>
                        <a:t>Asset B</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960"/>
                        </a:lnSpc>
                        <a:buNone/>
                      </a:pPr>
                      <a:r>
                        <a:rPr lang="en-US" sz="1400" dirty="0">
                          <a:solidFill>
                            <a:srgbClr val="0B2545"/>
                          </a:solidFill>
                          <a:latin typeface="Public Sans" pitchFamily="34" charset="0"/>
                          <a:ea typeface="Public Sans" pitchFamily="34" charset="-122"/>
                          <a:cs typeface="Public Sans" pitchFamily="34" charset="-120"/>
                        </a:rPr>
                        <a:t>Done</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960"/>
                        </a:lnSpc>
                        <a:buNone/>
                      </a:pPr>
                      <a:r>
                        <a:rPr lang="en-US" sz="1400" dirty="0">
                          <a:solidFill>
                            <a:srgbClr val="0B2545"/>
                          </a:solidFill>
                          <a:latin typeface="Public Sans" pitchFamily="34" charset="0"/>
                          <a:ea typeface="Public Sans" pitchFamily="34" charset="-122"/>
                          <a:cs typeface="Public Sans" pitchFamily="34" charset="-120"/>
                        </a:rPr>
                        <a:t>Failed</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960"/>
                        </a:lnSpc>
                        <a:buNone/>
                      </a:pPr>
                      <a:r>
                        <a:rPr lang="en-US" sz="1400" dirty="0">
                          <a:solidFill>
                            <a:srgbClr val="0B2545"/>
                          </a:solidFill>
                          <a:latin typeface="Public Sans" pitchFamily="34" charset="0"/>
                          <a:ea typeface="Public Sans" pitchFamily="34" charset="-122"/>
                          <a:cs typeface="Public Sans" pitchFamily="34" charset="-120"/>
                        </a:rPr>
                        <a:t>Held</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r>
              <a:tr h="385961">
                <a:tc>
                  <a:txBody>
                    <a:bodyPr/>
                    <a:lstStyle/>
                    <a:p>
                      <a:pPr indent="0" marL="0">
                        <a:lnSpc>
                          <a:spcPts val="1960"/>
                        </a:lnSpc>
                        <a:buNone/>
                      </a:pPr>
                      <a:r>
                        <a:rPr lang="en-US" sz="1400" dirty="0">
                          <a:solidFill>
                            <a:srgbClr val="0B2545"/>
                          </a:solidFill>
                          <a:latin typeface="Public Sans" pitchFamily="34" charset="0"/>
                          <a:ea typeface="Public Sans" pitchFamily="34" charset="-122"/>
                          <a:cs typeface="Public Sans" pitchFamily="34" charset="-120"/>
                        </a:rPr>
                        <a:t>Asset C</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960"/>
                        </a:lnSpc>
                        <a:buNone/>
                      </a:pPr>
                      <a:r>
                        <a:rPr lang="en-US" sz="1400" dirty="0">
                          <a:solidFill>
                            <a:srgbClr val="0B2545"/>
                          </a:solidFill>
                          <a:latin typeface="Public Sans" pitchFamily="34" charset="0"/>
                          <a:ea typeface="Public Sans" pitchFamily="34" charset="-122"/>
                          <a:cs typeface="Public Sans" pitchFamily="34" charset="-120"/>
                        </a:rPr>
                        <a:t>Done</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960"/>
                        </a:lnSpc>
                        <a:buNone/>
                      </a:pPr>
                      <a:r>
                        <a:rPr lang="en-US" sz="1400" dirty="0">
                          <a:solidFill>
                            <a:srgbClr val="0B2545"/>
                          </a:solidFill>
                          <a:latin typeface="Public Sans" pitchFamily="34" charset="0"/>
                          <a:ea typeface="Public Sans" pitchFamily="34" charset="-122"/>
                          <a:cs typeface="Public Sans" pitchFamily="34" charset="-120"/>
                        </a:rPr>
                        <a:t>Queued</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960"/>
                        </a:lnSpc>
                        <a:buNone/>
                      </a:pPr>
                      <a:r>
                        <a:rPr lang="en-US" sz="1400" dirty="0">
                          <a:solidFill>
                            <a:srgbClr val="0B2545"/>
                          </a:solidFill>
                          <a:latin typeface="Public Sans" pitchFamily="34" charset="0"/>
                          <a:ea typeface="Public Sans" pitchFamily="34" charset="-122"/>
                          <a:cs typeface="Public Sans" pitchFamily="34" charset="-120"/>
                        </a:rPr>
                        <a:t>Queued</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r>
            </a:tbl>
          </a:graphicData>
        </a:graphic>
      </p:graphicFrame>
      <p:sp>
        <p:nvSpPr>
          <p:cNvPr id="4" name="Text 1"/>
          <p:cNvSpPr/>
          <p:nvPr/>
        </p:nvSpPr>
        <p:spPr>
          <a:xfrm>
            <a:off x="812800" y="2917961"/>
            <a:ext cx="5886450" cy="2387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5B6B7C"/>
                </a:solidFill>
                <a:latin typeface="Public Sans" pitchFamily="34" charset="0"/>
                <a:ea typeface="Public Sans" pitchFamily="34" charset="-122"/>
                <a:cs typeface="Public Sans" pitchFamily="34" charset="-120"/>
              </a:rPr>
              <a:t>Illustration: B failed at Patch, so Verify is held on B while A and C carry on.</a:t>
            </a:r>
            <a:endParaRPr lang="en-US" sz="1200" dirty="0"/>
          </a:p>
        </p:txBody>
      </p:sp>
      <p:sp>
        <p:nvSpPr>
          <p:cNvPr id="5" name="Shape 2"/>
          <p:cNvSpPr/>
          <p:nvPr/>
        </p:nvSpPr>
        <p:spPr>
          <a:xfrm>
            <a:off x="6731000" y="1259818"/>
            <a:ext cx="4648200" cy="2100395"/>
          </a:xfrm>
          <a:prstGeom prst="roundRect">
            <a:avLst>
              <a:gd name="adj" fmla="val 4837"/>
            </a:avLst>
          </a:prstGeom>
          <a:solidFill>
            <a:srgbClr val="FFFFFF"/>
          </a:solidFill>
          <a:ln/>
        </p:spPr>
      </p:sp>
      <p:sp>
        <p:nvSpPr>
          <p:cNvPr id="6" name="Shape 3"/>
          <p:cNvSpPr/>
          <p:nvPr/>
        </p:nvSpPr>
        <p:spPr>
          <a:xfrm>
            <a:off x="6731000" y="1259818"/>
            <a:ext cx="4648200" cy="2100395"/>
          </a:xfrm>
          <a:custGeom>
            <a:avLst/>
            <a:gdLst/>
            <a:ahLst/>
            <a:cxnLst/>
            <a:rect l="l" t="t" r="r" b="b"/>
            <a:pathLst>
              <a:path w="4648200" h="2100395">
                <a:moveTo>
                  <a:pt x="0" y="101600"/>
                </a:moveTo>
                <a:lnTo>
                  <a:pt x="0" y="101600"/>
                </a:lnTo>
                <a:arcTo hR="101600" wR="101600" stAng="10800000" swAng="5400000"/>
                <a:lnTo>
                  <a:pt x="4546600" y="0"/>
                </a:lnTo>
                <a:arcTo hR="101600" wR="101600" stAng="16200000" swAng="5400000"/>
                <a:lnTo>
                  <a:pt x="4648200" y="101600"/>
                </a:lnTo>
                <a:arcTo hR="63500" wR="101600" stAng="0" swAng="-5400000"/>
                <a:lnTo>
                  <a:pt x="101600" y="38100"/>
                </a:lnTo>
                <a:arcTo hR="63500" wR="101600" stAng="16200000" swAng="-5400000"/>
                <a:close/>
              </a:path>
            </a:pathLst>
          </a:custGeom>
          <a:solidFill>
            <a:srgbClr val="0072CE"/>
          </a:solidFill>
          <a:ln/>
        </p:spPr>
      </p:sp>
      <p:sp>
        <p:nvSpPr>
          <p:cNvPr id="7" name="Text 4"/>
          <p:cNvSpPr/>
          <p:nvPr/>
        </p:nvSpPr>
        <p:spPr>
          <a:xfrm>
            <a:off x="6934200" y="1475718"/>
            <a:ext cx="4369054"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072CE"/>
                </a:solidFill>
                <a:latin typeface="Public Sans" pitchFamily="34" charset="0"/>
                <a:ea typeface="Public Sans" pitchFamily="34" charset="-122"/>
                <a:cs typeface="Public Sans" pitchFamily="34" charset="-120"/>
              </a:rPr>
              <a:t>How the worker behaves</a:t>
            </a:r>
            <a:endParaRPr lang="en-US" sz="1600" dirty="0"/>
          </a:p>
        </p:txBody>
      </p:sp>
      <p:sp>
        <p:nvSpPr>
          <p:cNvPr id="8" name="Text 5"/>
          <p:cNvSpPr/>
          <p:nvPr/>
        </p:nvSpPr>
        <p:spPr>
          <a:xfrm>
            <a:off x="7032244" y="1795735"/>
            <a:ext cx="4263390" cy="1412081"/>
          </a:xfrm>
          <a:prstGeom prst="rect">
            <a:avLst/>
          </a:prstGeom>
          <a:noFill/>
          <a:ln/>
        </p:spPr>
        <p:txBody>
          <a:bodyPr wrap="square" lIns="0" tIns="0" rIns="0" bIns="0" rtlCol="0" anchor="t">
            <a:normAutofit/>
          </a:bodyPr>
          <a:lstStyle/>
          <a:p>
            <a:pPr algn="l" marL="155956" indent="-155956">
              <a:lnSpc>
                <a:spcPts val="1820"/>
              </a:lnSpc>
              <a:buSzPct val="100000"/>
              <a:buChar char="•"/>
            </a:pPr>
            <a:r>
              <a:rPr lang="en-US" sz="1300" dirty="0">
                <a:solidFill>
                  <a:srgbClr val="0B2545"/>
                </a:solidFill>
                <a:latin typeface="Public Sans" pitchFamily="34" charset="0"/>
                <a:ea typeface="Public Sans" pitchFamily="34" charset="-122"/>
                <a:cs typeface="Public Sans" pitchFamily="34" charset="-120"/>
              </a:rPr>
              <a:t>Step N runs only after step N-1 succeeded on that asset</a:t>
            </a:r>
            <a:endParaRPr lang="en-US" sz="1300" dirty="0"/>
          </a:p>
          <a:p>
            <a:pPr algn="l" marL="155956" indent="-155956">
              <a:lnSpc>
                <a:spcPts val="1820"/>
              </a:lnSpc>
              <a:buSzPct val="100000"/>
              <a:buChar char="•"/>
            </a:pPr>
            <a:r>
              <a:rPr lang="en-US" sz="1300" dirty="0">
                <a:solidFill>
                  <a:srgbClr val="0B2545"/>
                </a:solidFill>
                <a:latin typeface="Public Sans" pitchFamily="34" charset="0"/>
                <a:ea typeface="Public Sans" pitchFamily="34" charset="-122"/>
                <a:cs typeface="Public Sans" pitchFamily="34" charset="-120"/>
              </a:rPr>
              <a:t>Postgres is the queue; many workers can run side by side</a:t>
            </a:r>
            <a:endParaRPr lang="en-US" sz="1300" dirty="0"/>
          </a:p>
          <a:p>
            <a:pPr algn="l" marL="155956" indent="-155956">
              <a:lnSpc>
                <a:spcPts val="1820"/>
              </a:lnSpc>
              <a:buSzPct val="100000"/>
              <a:buChar char="•"/>
            </a:pPr>
            <a:r>
              <a:rPr lang="en-US" sz="1300" dirty="0">
                <a:solidFill>
                  <a:srgbClr val="0B2545"/>
                </a:solidFill>
                <a:latin typeface="Public Sans" pitchFamily="34" charset="0"/>
                <a:ea typeface="Public Sans" pitchFamily="34" charset="-122"/>
                <a:cs typeface="Public Sans" pitchFamily="34" charset="-120"/>
              </a:rPr>
              <a:t>Retries up to the solution’s limit, with timeouts</a:t>
            </a:r>
            <a:endParaRPr lang="en-US" sz="1300" dirty="0"/>
          </a:p>
          <a:p>
            <a:pPr algn="l" marL="155956" indent="-155956">
              <a:lnSpc>
                <a:spcPts val="1820"/>
              </a:lnSpc>
              <a:buSzPct val="100000"/>
              <a:buChar char="•"/>
            </a:pPr>
            <a:r>
              <a:rPr lang="en-US" sz="1300" dirty="0">
                <a:solidFill>
                  <a:srgbClr val="0B2545"/>
                </a:solidFill>
                <a:latin typeface="Public Sans" pitchFamily="34" charset="0"/>
                <a:ea typeface="Public Sans" pitchFamily="34" charset="-122"/>
                <a:cs typeface="Public Sans" pitchFamily="34" charset="-120"/>
              </a:rPr>
              <a:t>Live logs on the Execution page</a:t>
            </a:r>
            <a:endParaRPr lang="en-US" sz="1300" dirty="0"/>
          </a:p>
        </p:txBody>
      </p:sp>
      <p:sp>
        <p:nvSpPr>
          <p:cNvPr id="9" name="Text 6"/>
          <p:cNvSpPr/>
          <p:nvPr/>
        </p:nvSpPr>
        <p:spPr>
          <a:xfrm>
            <a:off x="812800" y="3563417"/>
            <a:ext cx="5181600" cy="784754"/>
          </a:xfrm>
          <a:prstGeom prst="roundRect">
            <a:avLst>
              <a:gd name="adj" fmla="val 12947"/>
            </a:avLst>
          </a:prstGeom>
          <a:solidFill>
            <a:srgbClr val="E6F2FC"/>
          </a:solidFill>
          <a:ln/>
        </p:spPr>
        <p:txBody>
          <a:bodyPr wrap="square" lIns="173442" tIns="122642" rIns="30186" bIns="97242" rtlCol="0" anchor="t">
            <a:normAutofit/>
          </a:bodyPr>
          <a:lstStyle/>
          <a:p>
            <a:pPr algn="l" indent="0" marL="0">
              <a:lnSpc>
                <a:spcPts val="1890"/>
              </a:lnSpc>
              <a:buNone/>
            </a:pPr>
            <a:r>
              <a:rPr lang="en-US" sz="1400" b="1" dirty="0">
                <a:solidFill>
                  <a:srgbClr val="0B2545"/>
                </a:solidFill>
                <a:latin typeface="Public Sans" pitchFamily="34" charset="0"/>
                <a:ea typeface="Public Sans" pitchFamily="34" charset="-122"/>
                <a:cs typeface="Public Sans" pitchFamily="34" charset="-120"/>
              </a:rPr>
              <a:t>Executors:</a:t>
            </a:r>
            <a:r>
              <a:rPr lang="en-US" sz="1400" dirty="0">
                <a:solidFill>
                  <a:srgbClr val="0B2545"/>
                </a:solidFill>
                <a:latin typeface="Public Sans" pitchFamily="34" charset="0"/>
                <a:ea typeface="Public Sans" pitchFamily="34" charset="-122"/>
                <a:cs typeface="Public Sans" pitchFamily="34" charset="-120"/>
              </a:rPr>
              <a:t> Ansible, AWS SSM, Shell, HTTP. Simulated by default for the demo.</a:t>
            </a:r>
            <a:endParaRPr lang="en-US" sz="1400" dirty="0"/>
          </a:p>
        </p:txBody>
      </p:sp>
      <p:sp>
        <p:nvSpPr>
          <p:cNvPr id="10" name="Text 7"/>
          <p:cNvSpPr/>
          <p:nvPr/>
        </p:nvSpPr>
        <p:spPr>
          <a:xfrm>
            <a:off x="6146800" y="3563417"/>
            <a:ext cx="5232400" cy="784754"/>
          </a:xfrm>
          <a:prstGeom prst="roundRect">
            <a:avLst>
              <a:gd name="adj" fmla="val 12947"/>
            </a:avLst>
          </a:prstGeom>
          <a:solidFill>
            <a:srgbClr val="FEF3DD"/>
          </a:solidFill>
          <a:ln/>
        </p:spPr>
        <p:txBody>
          <a:bodyPr wrap="square" lIns="224242" tIns="122642" rIns="30186" bIns="97242" rtlCol="0" anchor="t">
            <a:normAutofit/>
          </a:bodyPr>
          <a:lstStyle/>
          <a:p>
            <a:pPr algn="l" indent="0" marL="0">
              <a:lnSpc>
                <a:spcPts val="1890"/>
              </a:lnSpc>
              <a:buNone/>
            </a:pPr>
            <a:r>
              <a:rPr lang="en-US" sz="1400" b="1" dirty="0">
                <a:solidFill>
                  <a:srgbClr val="0B2545"/>
                </a:solidFill>
                <a:latin typeface="Public Sans" pitchFamily="34" charset="0"/>
                <a:ea typeface="Public Sans" pitchFamily="34" charset="-122"/>
                <a:cs typeface="Public Sans" pitchFamily="34" charset="-120"/>
              </a:rPr>
              <a:t>Ask the assistant</a:t>
            </a:r>
            <a:r>
              <a:rPr lang="en-US" sz="1400" dirty="0">
                <a:solidFill>
                  <a:srgbClr val="0B2545"/>
                </a:solidFill>
                <a:latin typeface="Public Sans" pitchFamily="34" charset="0"/>
                <a:ea typeface="Public Sans" pitchFamily="34" charset="-122"/>
                <a:cs typeface="Public Sans" pitchFamily="34" charset="-120"/>
              </a:rPr>
              <a:t> for run status or failed assets instead of opening each log.</a:t>
            </a:r>
            <a:endParaRPr lang="en-US" sz="1400" dirty="0"/>
          </a:p>
        </p:txBody>
      </p:sp>
      <p:sp>
        <p:nvSpPr>
          <p:cNvPr id="11" name="Shape 8"/>
          <p:cNvSpPr/>
          <p:nvPr/>
        </p:nvSpPr>
        <p:spPr>
          <a:xfrm>
            <a:off x="6146800" y="3563417"/>
            <a:ext cx="5232400" cy="784754"/>
          </a:xfrm>
          <a:custGeom>
            <a:avLst/>
            <a:gdLst/>
            <a:ahLst/>
            <a:cxnLst/>
            <a:rect l="l" t="t" r="r" b="b"/>
            <a:pathLst>
              <a:path w="5232400" h="784754">
                <a:moveTo>
                  <a:pt x="101600" y="784754"/>
                </a:moveTo>
                <a:lnTo>
                  <a:pt x="101600" y="784754"/>
                </a:lnTo>
                <a:arcTo hR="101600" wR="101600" stAng="5400000" swAng="5400000"/>
                <a:lnTo>
                  <a:pt x="0" y="101600"/>
                </a:lnTo>
                <a:arcTo hR="101600" wR="101600" stAng="10800000" swAng="5400000"/>
                <a:lnTo>
                  <a:pt x="101600" y="0"/>
                </a:lnTo>
                <a:arcTo hR="101600" wR="50800" stAng="16200000" swAng="-5400000"/>
                <a:lnTo>
                  <a:pt x="50800" y="683154"/>
                </a:lnTo>
                <a:arcTo hR="101600" wR="50800" stAng="10800000" swAng="-5400000"/>
                <a:close/>
              </a:path>
            </a:pathLst>
          </a:custGeom>
          <a:solidFill>
            <a:srgbClr val="F5A623"/>
          </a:solidFill>
          <a:ln/>
        </p:spPr>
      </p:sp>
      <p:sp>
        <p:nvSpPr>
          <p:cNvPr id="12" name="Text 9"/>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Bulwark | Innova Solutions</a:t>
            </a:r>
            <a:endParaRPr lang="en-US" sz="1200" dirty="0"/>
          </a:p>
        </p:txBody>
      </p:sp>
      <p:sp>
        <p:nvSpPr>
          <p:cNvPr id="13" name="Text 1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9FD"/>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2545"/>
                </a:solidFill>
                <a:latin typeface="Source Serif 4" pitchFamily="18" charset="0"/>
                <a:ea typeface="Source Serif 4" pitchFamily="18" charset="-122"/>
                <a:cs typeface="Source Serif 4" pitchFamily="18" charset="-120"/>
              </a:rPr>
              <a:t>Built-in safeguards</a:t>
            </a:r>
            <a:endParaRPr lang="en-US" sz="3200" dirty="0"/>
          </a:p>
        </p:txBody>
      </p:sp>
      <p:sp>
        <p:nvSpPr>
          <p:cNvPr id="3" name="Shape 1"/>
          <p:cNvSpPr/>
          <p:nvPr/>
        </p:nvSpPr>
        <p:spPr>
          <a:xfrm>
            <a:off x="812800" y="1285218"/>
            <a:ext cx="3420533" cy="1146704"/>
          </a:xfrm>
          <a:prstGeom prst="roundRect">
            <a:avLst>
              <a:gd name="adj" fmla="val 8860"/>
            </a:avLst>
          </a:prstGeom>
          <a:solidFill>
            <a:srgbClr val="FFFFFF"/>
          </a:solidFill>
          <a:ln/>
        </p:spPr>
      </p:sp>
      <p:sp>
        <p:nvSpPr>
          <p:cNvPr id="4" name="Shape 2"/>
          <p:cNvSpPr/>
          <p:nvPr/>
        </p:nvSpPr>
        <p:spPr>
          <a:xfrm>
            <a:off x="812800" y="1285218"/>
            <a:ext cx="3420533" cy="1146704"/>
          </a:xfrm>
          <a:custGeom>
            <a:avLst/>
            <a:gdLst/>
            <a:ahLst/>
            <a:cxnLst/>
            <a:rect l="l" t="t" r="r" b="b"/>
            <a:pathLst>
              <a:path w="3420533" h="1146704">
                <a:moveTo>
                  <a:pt x="0" y="101600"/>
                </a:moveTo>
                <a:lnTo>
                  <a:pt x="0" y="101600"/>
                </a:lnTo>
                <a:arcTo hR="101600" wR="101600" stAng="10800000" swAng="5400000"/>
                <a:lnTo>
                  <a:pt x="3318933" y="0"/>
                </a:lnTo>
                <a:arcTo hR="101600" wR="101600" stAng="16200000" swAng="5400000"/>
                <a:lnTo>
                  <a:pt x="3420533" y="101600"/>
                </a:lnTo>
                <a:arcTo hR="63500" wR="101600" stAng="0" swAng="-5400000"/>
                <a:lnTo>
                  <a:pt x="101600" y="38100"/>
                </a:lnTo>
                <a:arcTo hR="63500" wR="101600" stAng="16200000" swAng="-5400000"/>
                <a:close/>
              </a:path>
            </a:pathLst>
          </a:custGeom>
          <a:solidFill>
            <a:srgbClr val="0072CE"/>
          </a:solidFill>
          <a:ln/>
        </p:spPr>
      </p:sp>
      <p:sp>
        <p:nvSpPr>
          <p:cNvPr id="5" name="Text 3"/>
          <p:cNvSpPr/>
          <p:nvPr/>
        </p:nvSpPr>
        <p:spPr>
          <a:xfrm>
            <a:off x="1003300" y="1501118"/>
            <a:ext cx="3130719"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072CE"/>
                </a:solidFill>
                <a:latin typeface="Public Sans" pitchFamily="34" charset="0"/>
                <a:ea typeface="Public Sans" pitchFamily="34" charset="-122"/>
                <a:cs typeface="Public Sans" pitchFamily="34" charset="-120"/>
              </a:rPr>
              <a:t>Four-eyes approval</a:t>
            </a:r>
            <a:endParaRPr lang="en-US" sz="1600" dirty="0"/>
          </a:p>
        </p:txBody>
      </p:sp>
      <p:sp>
        <p:nvSpPr>
          <p:cNvPr id="6" name="Text 4"/>
          <p:cNvSpPr/>
          <p:nvPr/>
        </p:nvSpPr>
        <p:spPr>
          <a:xfrm>
            <a:off x="1003300" y="1808435"/>
            <a:ext cx="313071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B6B7C"/>
                </a:solidFill>
                <a:latin typeface="Public Sans" pitchFamily="34" charset="0"/>
                <a:ea typeface="Public Sans" pitchFamily="34" charset="-122"/>
                <a:cs typeface="Public Sans" pitchFamily="34" charset="-120"/>
              </a:rPr>
              <a:t>The reviewer must differ from the requester. The API checks it.</a:t>
            </a:r>
            <a:endParaRPr lang="en-US" sz="1300" dirty="0"/>
          </a:p>
        </p:txBody>
      </p:sp>
      <p:sp>
        <p:nvSpPr>
          <p:cNvPr id="7" name="Shape 5"/>
          <p:cNvSpPr/>
          <p:nvPr/>
        </p:nvSpPr>
        <p:spPr>
          <a:xfrm>
            <a:off x="4385733" y="1285218"/>
            <a:ext cx="3420533" cy="1146704"/>
          </a:xfrm>
          <a:prstGeom prst="roundRect">
            <a:avLst>
              <a:gd name="adj" fmla="val 8860"/>
            </a:avLst>
          </a:prstGeom>
          <a:solidFill>
            <a:srgbClr val="FFFFFF"/>
          </a:solidFill>
          <a:ln/>
        </p:spPr>
      </p:sp>
      <p:sp>
        <p:nvSpPr>
          <p:cNvPr id="8" name="Shape 6"/>
          <p:cNvSpPr/>
          <p:nvPr/>
        </p:nvSpPr>
        <p:spPr>
          <a:xfrm>
            <a:off x="4385733" y="1285218"/>
            <a:ext cx="3420533" cy="1146704"/>
          </a:xfrm>
          <a:custGeom>
            <a:avLst/>
            <a:gdLst/>
            <a:ahLst/>
            <a:cxnLst/>
            <a:rect l="l" t="t" r="r" b="b"/>
            <a:pathLst>
              <a:path w="3420533" h="1146704">
                <a:moveTo>
                  <a:pt x="0" y="101600"/>
                </a:moveTo>
                <a:lnTo>
                  <a:pt x="0" y="101600"/>
                </a:lnTo>
                <a:arcTo hR="101600" wR="101600" stAng="10800000" swAng="5400000"/>
                <a:lnTo>
                  <a:pt x="3318933" y="0"/>
                </a:lnTo>
                <a:arcTo hR="101600" wR="101600" stAng="16200000" swAng="5400000"/>
                <a:lnTo>
                  <a:pt x="3420533" y="101600"/>
                </a:lnTo>
                <a:arcTo hR="63500" wR="101600" stAng="0" swAng="-5400000"/>
                <a:lnTo>
                  <a:pt x="101600" y="38100"/>
                </a:lnTo>
                <a:arcTo hR="63500" wR="101600" stAng="16200000" swAng="-5400000"/>
                <a:close/>
              </a:path>
            </a:pathLst>
          </a:custGeom>
          <a:solidFill>
            <a:srgbClr val="0072CE"/>
          </a:solidFill>
          <a:ln/>
        </p:spPr>
      </p:sp>
      <p:sp>
        <p:nvSpPr>
          <p:cNvPr id="9" name="Text 7"/>
          <p:cNvSpPr/>
          <p:nvPr/>
        </p:nvSpPr>
        <p:spPr>
          <a:xfrm>
            <a:off x="4576233" y="1501118"/>
            <a:ext cx="3130719"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072CE"/>
                </a:solidFill>
                <a:latin typeface="Public Sans" pitchFamily="34" charset="0"/>
                <a:ea typeface="Public Sans" pitchFamily="34" charset="-122"/>
                <a:cs typeface="Public Sans" pitchFamily="34" charset="-120"/>
              </a:rPr>
              <a:t>Approved fixes only</a:t>
            </a:r>
            <a:endParaRPr lang="en-US" sz="1600" dirty="0"/>
          </a:p>
        </p:txBody>
      </p:sp>
      <p:sp>
        <p:nvSpPr>
          <p:cNvPr id="10" name="Text 8"/>
          <p:cNvSpPr/>
          <p:nvPr/>
        </p:nvSpPr>
        <p:spPr>
          <a:xfrm>
            <a:off x="4576233" y="1808435"/>
            <a:ext cx="313071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B6B7C"/>
                </a:solidFill>
                <a:latin typeface="Public Sans" pitchFamily="34" charset="0"/>
                <a:ea typeface="Public Sans" pitchFamily="34" charset="-122"/>
                <a:cs typeface="Public Sans" pitchFamily="34" charset="-120"/>
              </a:rPr>
              <a:t>Only APPROVED versions can be planned or suggested.</a:t>
            </a:r>
            <a:endParaRPr lang="en-US" sz="1300" dirty="0"/>
          </a:p>
        </p:txBody>
      </p:sp>
      <p:sp>
        <p:nvSpPr>
          <p:cNvPr id="11" name="Shape 9"/>
          <p:cNvSpPr/>
          <p:nvPr/>
        </p:nvSpPr>
        <p:spPr>
          <a:xfrm>
            <a:off x="7958667" y="1285218"/>
            <a:ext cx="3420533" cy="1146704"/>
          </a:xfrm>
          <a:prstGeom prst="roundRect">
            <a:avLst>
              <a:gd name="adj" fmla="val 8860"/>
            </a:avLst>
          </a:prstGeom>
          <a:solidFill>
            <a:srgbClr val="FFFFFF"/>
          </a:solidFill>
          <a:ln/>
        </p:spPr>
      </p:sp>
      <p:sp>
        <p:nvSpPr>
          <p:cNvPr id="12" name="Shape 10"/>
          <p:cNvSpPr/>
          <p:nvPr/>
        </p:nvSpPr>
        <p:spPr>
          <a:xfrm>
            <a:off x="7958667" y="1285218"/>
            <a:ext cx="3420533" cy="1146704"/>
          </a:xfrm>
          <a:custGeom>
            <a:avLst/>
            <a:gdLst/>
            <a:ahLst/>
            <a:cxnLst/>
            <a:rect l="l" t="t" r="r" b="b"/>
            <a:pathLst>
              <a:path w="3420533" h="1146704">
                <a:moveTo>
                  <a:pt x="0" y="101600"/>
                </a:moveTo>
                <a:lnTo>
                  <a:pt x="0" y="101600"/>
                </a:lnTo>
                <a:arcTo hR="101600" wR="101600" stAng="10800000" swAng="5400000"/>
                <a:lnTo>
                  <a:pt x="3318933" y="0"/>
                </a:lnTo>
                <a:arcTo hR="101600" wR="101600" stAng="16200000" swAng="5400000"/>
                <a:lnTo>
                  <a:pt x="3420533" y="101600"/>
                </a:lnTo>
                <a:arcTo hR="63500" wR="101600" stAng="0" swAng="-5400000"/>
                <a:lnTo>
                  <a:pt x="101600" y="38100"/>
                </a:lnTo>
                <a:arcTo hR="63500" wR="101600" stAng="16200000" swAng="-5400000"/>
                <a:close/>
              </a:path>
            </a:pathLst>
          </a:custGeom>
          <a:solidFill>
            <a:srgbClr val="0072CE"/>
          </a:solidFill>
          <a:ln/>
        </p:spPr>
      </p:sp>
      <p:sp>
        <p:nvSpPr>
          <p:cNvPr id="13" name="Text 11"/>
          <p:cNvSpPr/>
          <p:nvPr/>
        </p:nvSpPr>
        <p:spPr>
          <a:xfrm>
            <a:off x="8149167" y="1501118"/>
            <a:ext cx="3130719"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072CE"/>
                </a:solidFill>
                <a:latin typeface="Public Sans" pitchFamily="34" charset="0"/>
                <a:ea typeface="Public Sans" pitchFamily="34" charset="-122"/>
                <a:cs typeface="Public Sans" pitchFamily="34" charset="-120"/>
              </a:rPr>
              <a:t>Plan locked on submit</a:t>
            </a:r>
            <a:endParaRPr lang="en-US" sz="1600" dirty="0"/>
          </a:p>
        </p:txBody>
      </p:sp>
      <p:sp>
        <p:nvSpPr>
          <p:cNvPr id="14" name="Text 12"/>
          <p:cNvSpPr/>
          <p:nvPr/>
        </p:nvSpPr>
        <p:spPr>
          <a:xfrm>
            <a:off x="8149167" y="1808435"/>
            <a:ext cx="313071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B6B7C"/>
                </a:solidFill>
                <a:latin typeface="Public Sans" pitchFamily="34" charset="0"/>
                <a:ea typeface="Public Sans" pitchFamily="34" charset="-122"/>
                <a:cs typeface="Public Sans" pitchFamily="34" charset="-120"/>
              </a:rPr>
              <a:t>Plan and assets cannot change while under review.</a:t>
            </a:r>
            <a:endParaRPr lang="en-US" sz="1300" dirty="0"/>
          </a:p>
        </p:txBody>
      </p:sp>
      <p:sp>
        <p:nvSpPr>
          <p:cNvPr id="15" name="Shape 13"/>
          <p:cNvSpPr/>
          <p:nvPr/>
        </p:nvSpPr>
        <p:spPr>
          <a:xfrm>
            <a:off x="812800" y="2584326"/>
            <a:ext cx="3420533" cy="1146704"/>
          </a:xfrm>
          <a:prstGeom prst="roundRect">
            <a:avLst>
              <a:gd name="adj" fmla="val 8860"/>
            </a:avLst>
          </a:prstGeom>
          <a:solidFill>
            <a:srgbClr val="FFFFFF"/>
          </a:solidFill>
          <a:ln/>
        </p:spPr>
      </p:sp>
      <p:sp>
        <p:nvSpPr>
          <p:cNvPr id="16" name="Shape 14"/>
          <p:cNvSpPr/>
          <p:nvPr/>
        </p:nvSpPr>
        <p:spPr>
          <a:xfrm>
            <a:off x="812800" y="2584326"/>
            <a:ext cx="3420533" cy="1146704"/>
          </a:xfrm>
          <a:custGeom>
            <a:avLst/>
            <a:gdLst/>
            <a:ahLst/>
            <a:cxnLst/>
            <a:rect l="l" t="t" r="r" b="b"/>
            <a:pathLst>
              <a:path w="3420533" h="1146704">
                <a:moveTo>
                  <a:pt x="0" y="101600"/>
                </a:moveTo>
                <a:lnTo>
                  <a:pt x="0" y="101600"/>
                </a:lnTo>
                <a:arcTo hR="101600" wR="101600" stAng="10800000" swAng="5400000"/>
                <a:lnTo>
                  <a:pt x="3318933" y="0"/>
                </a:lnTo>
                <a:arcTo hR="101600" wR="101600" stAng="16200000" swAng="5400000"/>
                <a:lnTo>
                  <a:pt x="3420533" y="101600"/>
                </a:lnTo>
                <a:arcTo hR="63500" wR="101600" stAng="0" swAng="-5400000"/>
                <a:lnTo>
                  <a:pt x="101600" y="38100"/>
                </a:lnTo>
                <a:arcTo hR="63500" wR="101600" stAng="16200000" swAng="-5400000"/>
                <a:close/>
              </a:path>
            </a:pathLst>
          </a:custGeom>
          <a:solidFill>
            <a:srgbClr val="0072CE"/>
          </a:solidFill>
          <a:ln/>
        </p:spPr>
      </p:sp>
      <p:sp>
        <p:nvSpPr>
          <p:cNvPr id="17" name="Text 15"/>
          <p:cNvSpPr/>
          <p:nvPr/>
        </p:nvSpPr>
        <p:spPr>
          <a:xfrm>
            <a:off x="1003300" y="2800226"/>
            <a:ext cx="3130719"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072CE"/>
                </a:solidFill>
                <a:latin typeface="Public Sans" pitchFamily="34" charset="0"/>
                <a:ea typeface="Public Sans" pitchFamily="34" charset="-122"/>
                <a:cs typeface="Public Sans" pitchFamily="34" charset="-120"/>
              </a:rPr>
              <a:t>No duplicate runs</a:t>
            </a:r>
            <a:endParaRPr lang="en-US" sz="1600" dirty="0"/>
          </a:p>
        </p:txBody>
      </p:sp>
      <p:sp>
        <p:nvSpPr>
          <p:cNvPr id="18" name="Text 16"/>
          <p:cNvSpPr/>
          <p:nvPr/>
        </p:nvSpPr>
        <p:spPr>
          <a:xfrm>
            <a:off x="1003300" y="3107531"/>
            <a:ext cx="313071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B6B7C"/>
                </a:solidFill>
                <a:latin typeface="Public Sans" pitchFamily="34" charset="0"/>
                <a:ea typeface="Public Sans" pitchFamily="34" charset="-122"/>
                <a:cs typeface="Public Sans" pitchFamily="34" charset="-120"/>
              </a:rPr>
              <a:t>One live run per step and asset; a success is never re-run.</a:t>
            </a:r>
            <a:endParaRPr lang="en-US" sz="1300" dirty="0"/>
          </a:p>
        </p:txBody>
      </p:sp>
      <p:sp>
        <p:nvSpPr>
          <p:cNvPr id="19" name="Shape 17"/>
          <p:cNvSpPr/>
          <p:nvPr/>
        </p:nvSpPr>
        <p:spPr>
          <a:xfrm>
            <a:off x="4385733" y="2584326"/>
            <a:ext cx="3420533" cy="1146704"/>
          </a:xfrm>
          <a:prstGeom prst="roundRect">
            <a:avLst>
              <a:gd name="adj" fmla="val 8860"/>
            </a:avLst>
          </a:prstGeom>
          <a:solidFill>
            <a:srgbClr val="FFFFFF"/>
          </a:solidFill>
          <a:ln/>
        </p:spPr>
      </p:sp>
      <p:sp>
        <p:nvSpPr>
          <p:cNvPr id="20" name="Shape 18"/>
          <p:cNvSpPr/>
          <p:nvPr/>
        </p:nvSpPr>
        <p:spPr>
          <a:xfrm>
            <a:off x="4385733" y="2584326"/>
            <a:ext cx="3420533" cy="1146704"/>
          </a:xfrm>
          <a:custGeom>
            <a:avLst/>
            <a:gdLst/>
            <a:ahLst/>
            <a:cxnLst/>
            <a:rect l="l" t="t" r="r" b="b"/>
            <a:pathLst>
              <a:path w="3420533" h="1146704">
                <a:moveTo>
                  <a:pt x="0" y="101600"/>
                </a:moveTo>
                <a:lnTo>
                  <a:pt x="0" y="101600"/>
                </a:lnTo>
                <a:arcTo hR="101600" wR="101600" stAng="10800000" swAng="5400000"/>
                <a:lnTo>
                  <a:pt x="3318933" y="0"/>
                </a:lnTo>
                <a:arcTo hR="101600" wR="101600" stAng="16200000" swAng="5400000"/>
                <a:lnTo>
                  <a:pt x="3420533" y="101600"/>
                </a:lnTo>
                <a:arcTo hR="63500" wR="101600" stAng="0" swAng="-5400000"/>
                <a:lnTo>
                  <a:pt x="101600" y="38100"/>
                </a:lnTo>
                <a:arcTo hR="63500" wR="101600" stAng="16200000" swAng="-5400000"/>
                <a:close/>
              </a:path>
            </a:pathLst>
          </a:custGeom>
          <a:solidFill>
            <a:srgbClr val="0072CE"/>
          </a:solidFill>
          <a:ln/>
        </p:spPr>
      </p:sp>
      <p:sp>
        <p:nvSpPr>
          <p:cNvPr id="21" name="Text 19"/>
          <p:cNvSpPr/>
          <p:nvPr/>
        </p:nvSpPr>
        <p:spPr>
          <a:xfrm>
            <a:off x="4576233" y="2800226"/>
            <a:ext cx="3130719"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072CE"/>
                </a:solidFill>
                <a:latin typeface="Public Sans" pitchFamily="34" charset="0"/>
                <a:ea typeface="Public Sans" pitchFamily="34" charset="-122"/>
                <a:cs typeface="Public Sans" pitchFamily="34" charset="-120"/>
              </a:rPr>
              <a:t>Append-only audit</a:t>
            </a:r>
            <a:endParaRPr lang="en-US" sz="1600" dirty="0"/>
          </a:p>
        </p:txBody>
      </p:sp>
      <p:sp>
        <p:nvSpPr>
          <p:cNvPr id="22" name="Text 20"/>
          <p:cNvSpPr/>
          <p:nvPr/>
        </p:nvSpPr>
        <p:spPr>
          <a:xfrm>
            <a:off x="4576233" y="3107531"/>
            <a:ext cx="313071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B6B7C"/>
                </a:solidFill>
                <a:latin typeface="Public Sans" pitchFamily="34" charset="0"/>
                <a:ea typeface="Public Sans" pitchFamily="34" charset="-122"/>
                <a:cs typeface="Public Sans" pitchFamily="34" charset="-120"/>
              </a:rPr>
              <a:t>Every change recorded with who and when.</a:t>
            </a:r>
            <a:endParaRPr lang="en-US" sz="1300" dirty="0"/>
          </a:p>
        </p:txBody>
      </p:sp>
      <p:sp>
        <p:nvSpPr>
          <p:cNvPr id="23" name="Shape 21"/>
          <p:cNvSpPr/>
          <p:nvPr/>
        </p:nvSpPr>
        <p:spPr>
          <a:xfrm>
            <a:off x="7958667" y="2584326"/>
            <a:ext cx="3420533" cy="1146704"/>
          </a:xfrm>
          <a:prstGeom prst="roundRect">
            <a:avLst>
              <a:gd name="adj" fmla="val 8860"/>
            </a:avLst>
          </a:prstGeom>
          <a:solidFill>
            <a:srgbClr val="FEF3DD"/>
          </a:solidFill>
          <a:ln/>
        </p:spPr>
      </p:sp>
      <p:sp>
        <p:nvSpPr>
          <p:cNvPr id="24" name="Shape 22"/>
          <p:cNvSpPr/>
          <p:nvPr/>
        </p:nvSpPr>
        <p:spPr>
          <a:xfrm>
            <a:off x="7958667" y="2584326"/>
            <a:ext cx="3420533" cy="1146704"/>
          </a:xfrm>
          <a:custGeom>
            <a:avLst/>
            <a:gdLst/>
            <a:ahLst/>
            <a:cxnLst/>
            <a:rect l="l" t="t" r="r" b="b"/>
            <a:pathLst>
              <a:path w="3420533" h="1146704">
                <a:moveTo>
                  <a:pt x="0" y="101600"/>
                </a:moveTo>
                <a:lnTo>
                  <a:pt x="0" y="101600"/>
                </a:lnTo>
                <a:arcTo hR="101600" wR="101600" stAng="10800000" swAng="5400000"/>
                <a:lnTo>
                  <a:pt x="3318933" y="0"/>
                </a:lnTo>
                <a:arcTo hR="101600" wR="101600" stAng="16200000" swAng="5400000"/>
                <a:lnTo>
                  <a:pt x="3420533" y="101600"/>
                </a:lnTo>
                <a:arcTo hR="63500" wR="101600" stAng="0" swAng="-5400000"/>
                <a:lnTo>
                  <a:pt x="101600" y="38100"/>
                </a:lnTo>
                <a:arcTo hR="63500" wR="101600" stAng="16200000" swAng="-5400000"/>
                <a:close/>
              </a:path>
            </a:pathLst>
          </a:custGeom>
          <a:solidFill>
            <a:srgbClr val="F5A623"/>
          </a:solidFill>
          <a:ln/>
        </p:spPr>
      </p:sp>
      <p:sp>
        <p:nvSpPr>
          <p:cNvPr id="25" name="Text 23"/>
          <p:cNvSpPr/>
          <p:nvPr/>
        </p:nvSpPr>
        <p:spPr>
          <a:xfrm>
            <a:off x="8149167" y="2800226"/>
            <a:ext cx="3130719"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545"/>
                </a:solidFill>
                <a:latin typeface="Public Sans" pitchFamily="34" charset="0"/>
                <a:ea typeface="Public Sans" pitchFamily="34" charset="-122"/>
                <a:cs typeface="Public Sans" pitchFamily="34" charset="-120"/>
              </a:rPr>
              <a:t>AI never auto-applies</a:t>
            </a:r>
            <a:endParaRPr lang="en-US" sz="1600" dirty="0"/>
          </a:p>
        </p:txBody>
      </p:sp>
      <p:sp>
        <p:nvSpPr>
          <p:cNvPr id="26" name="Text 24"/>
          <p:cNvSpPr/>
          <p:nvPr/>
        </p:nvSpPr>
        <p:spPr>
          <a:xfrm>
            <a:off x="8149167" y="3107531"/>
            <a:ext cx="313071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0B2545"/>
                </a:solidFill>
                <a:latin typeface="Public Sans" pitchFamily="34" charset="0"/>
                <a:ea typeface="Public Sans" pitchFamily="34" charset="-122"/>
                <a:cs typeface="Public Sans" pitchFamily="34" charset="-120"/>
              </a:rPr>
              <a:t>Agent suggestions need a person to apply them, then approval.</a:t>
            </a:r>
            <a:endParaRPr lang="en-US" sz="1300" dirty="0"/>
          </a:p>
        </p:txBody>
      </p:sp>
      <p:sp>
        <p:nvSpPr>
          <p:cNvPr id="27" name="Shape 25"/>
          <p:cNvSpPr/>
          <p:nvPr/>
        </p:nvSpPr>
        <p:spPr>
          <a:xfrm>
            <a:off x="812800" y="3883422"/>
            <a:ext cx="3420533" cy="1146704"/>
          </a:xfrm>
          <a:prstGeom prst="roundRect">
            <a:avLst>
              <a:gd name="adj" fmla="val 8860"/>
            </a:avLst>
          </a:prstGeom>
          <a:solidFill>
            <a:srgbClr val="FEF3DD"/>
          </a:solidFill>
          <a:ln/>
        </p:spPr>
      </p:sp>
      <p:sp>
        <p:nvSpPr>
          <p:cNvPr id="28" name="Shape 26"/>
          <p:cNvSpPr/>
          <p:nvPr/>
        </p:nvSpPr>
        <p:spPr>
          <a:xfrm>
            <a:off x="812800" y="3883422"/>
            <a:ext cx="3420533" cy="1146704"/>
          </a:xfrm>
          <a:custGeom>
            <a:avLst/>
            <a:gdLst/>
            <a:ahLst/>
            <a:cxnLst/>
            <a:rect l="l" t="t" r="r" b="b"/>
            <a:pathLst>
              <a:path w="3420533" h="1146704">
                <a:moveTo>
                  <a:pt x="0" y="101600"/>
                </a:moveTo>
                <a:lnTo>
                  <a:pt x="0" y="101600"/>
                </a:lnTo>
                <a:arcTo hR="101600" wR="101600" stAng="10800000" swAng="5400000"/>
                <a:lnTo>
                  <a:pt x="3318933" y="0"/>
                </a:lnTo>
                <a:arcTo hR="101600" wR="101600" stAng="16200000" swAng="5400000"/>
                <a:lnTo>
                  <a:pt x="3420533" y="101600"/>
                </a:lnTo>
                <a:arcTo hR="63500" wR="101600" stAng="0" swAng="-5400000"/>
                <a:lnTo>
                  <a:pt x="101600" y="38100"/>
                </a:lnTo>
                <a:arcTo hR="63500" wR="101600" stAng="16200000" swAng="-5400000"/>
                <a:close/>
              </a:path>
            </a:pathLst>
          </a:custGeom>
          <a:solidFill>
            <a:srgbClr val="F5A623"/>
          </a:solidFill>
          <a:ln/>
        </p:spPr>
      </p:sp>
      <p:sp>
        <p:nvSpPr>
          <p:cNvPr id="29" name="Text 27"/>
          <p:cNvSpPr/>
          <p:nvPr/>
        </p:nvSpPr>
        <p:spPr>
          <a:xfrm>
            <a:off x="1003300" y="4099322"/>
            <a:ext cx="3130719"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545"/>
                </a:solidFill>
                <a:latin typeface="Public Sans" pitchFamily="34" charset="0"/>
                <a:ea typeface="Public Sans" pitchFamily="34" charset="-122"/>
                <a:cs typeface="Public Sans" pitchFamily="34" charset="-120"/>
              </a:rPr>
              <a:t>Chat asks first</a:t>
            </a:r>
            <a:endParaRPr lang="en-US" sz="1600" dirty="0"/>
          </a:p>
        </p:txBody>
      </p:sp>
      <p:sp>
        <p:nvSpPr>
          <p:cNvPr id="30" name="Text 28"/>
          <p:cNvSpPr/>
          <p:nvPr/>
        </p:nvSpPr>
        <p:spPr>
          <a:xfrm>
            <a:off x="1003300" y="4406640"/>
            <a:ext cx="313071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0B2545"/>
                </a:solidFill>
                <a:latin typeface="Public Sans" pitchFamily="34" charset="0"/>
                <a:ea typeface="Public Sans" pitchFamily="34" charset="-122"/>
                <a:cs typeface="Public Sans" pitchFamily="34" charset="-120"/>
              </a:rPr>
              <a:t>Any change made through chat pauses for your confirmation.</a:t>
            </a:r>
            <a:endParaRPr lang="en-US" sz="1300" dirty="0"/>
          </a:p>
        </p:txBody>
      </p:sp>
      <p:sp>
        <p:nvSpPr>
          <p:cNvPr id="31" name="Shape 29"/>
          <p:cNvSpPr/>
          <p:nvPr/>
        </p:nvSpPr>
        <p:spPr>
          <a:xfrm>
            <a:off x="4385733" y="3883422"/>
            <a:ext cx="3420533" cy="1146704"/>
          </a:xfrm>
          <a:prstGeom prst="roundRect">
            <a:avLst>
              <a:gd name="adj" fmla="val 8860"/>
            </a:avLst>
          </a:prstGeom>
          <a:solidFill>
            <a:srgbClr val="FEF3DD"/>
          </a:solidFill>
          <a:ln/>
        </p:spPr>
      </p:sp>
      <p:sp>
        <p:nvSpPr>
          <p:cNvPr id="32" name="Shape 30"/>
          <p:cNvSpPr/>
          <p:nvPr/>
        </p:nvSpPr>
        <p:spPr>
          <a:xfrm>
            <a:off x="4385733" y="3883422"/>
            <a:ext cx="3420533" cy="1146704"/>
          </a:xfrm>
          <a:custGeom>
            <a:avLst/>
            <a:gdLst/>
            <a:ahLst/>
            <a:cxnLst/>
            <a:rect l="l" t="t" r="r" b="b"/>
            <a:pathLst>
              <a:path w="3420533" h="1146704">
                <a:moveTo>
                  <a:pt x="0" y="101600"/>
                </a:moveTo>
                <a:lnTo>
                  <a:pt x="0" y="101600"/>
                </a:lnTo>
                <a:arcTo hR="101600" wR="101600" stAng="10800000" swAng="5400000"/>
                <a:lnTo>
                  <a:pt x="3318933" y="0"/>
                </a:lnTo>
                <a:arcTo hR="101600" wR="101600" stAng="16200000" swAng="5400000"/>
                <a:lnTo>
                  <a:pt x="3420533" y="101600"/>
                </a:lnTo>
                <a:arcTo hR="63500" wR="101600" stAng="0" swAng="-5400000"/>
                <a:lnTo>
                  <a:pt x="101600" y="38100"/>
                </a:lnTo>
                <a:arcTo hR="63500" wR="101600" stAng="16200000" swAng="-5400000"/>
                <a:close/>
              </a:path>
            </a:pathLst>
          </a:custGeom>
          <a:solidFill>
            <a:srgbClr val="F5A623"/>
          </a:solidFill>
          <a:ln/>
        </p:spPr>
      </p:sp>
      <p:sp>
        <p:nvSpPr>
          <p:cNvPr id="33" name="Text 31"/>
          <p:cNvSpPr/>
          <p:nvPr/>
        </p:nvSpPr>
        <p:spPr>
          <a:xfrm>
            <a:off x="4576233" y="4099322"/>
            <a:ext cx="3130719"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545"/>
                </a:solidFill>
                <a:latin typeface="Public Sans" pitchFamily="34" charset="0"/>
                <a:ea typeface="Public Sans" pitchFamily="34" charset="-122"/>
                <a:cs typeface="Public Sans" pitchFamily="34" charset="-120"/>
              </a:rPr>
              <a:t>Same rights as you</a:t>
            </a:r>
            <a:endParaRPr lang="en-US" sz="1600" dirty="0"/>
          </a:p>
        </p:txBody>
      </p:sp>
      <p:sp>
        <p:nvSpPr>
          <p:cNvPr id="34" name="Text 32"/>
          <p:cNvSpPr/>
          <p:nvPr/>
        </p:nvSpPr>
        <p:spPr>
          <a:xfrm>
            <a:off x="4576233" y="4406640"/>
            <a:ext cx="313071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0B2545"/>
                </a:solidFill>
                <a:latin typeface="Public Sans" pitchFamily="34" charset="0"/>
                <a:ea typeface="Public Sans" pitchFamily="34" charset="-122"/>
                <a:cs typeface="Public Sans" pitchFamily="34" charset="-120"/>
              </a:rPr>
              <a:t>The assistant uses your own sign-in and role, nothing more.</a:t>
            </a:r>
            <a:endParaRPr lang="en-US" sz="1300" dirty="0"/>
          </a:p>
        </p:txBody>
      </p:sp>
      <p:sp>
        <p:nvSpPr>
          <p:cNvPr id="35" name="Shape 33"/>
          <p:cNvSpPr/>
          <p:nvPr/>
        </p:nvSpPr>
        <p:spPr>
          <a:xfrm>
            <a:off x="7958667" y="3883422"/>
            <a:ext cx="3420533" cy="1146704"/>
          </a:xfrm>
          <a:prstGeom prst="roundRect">
            <a:avLst>
              <a:gd name="adj" fmla="val 8860"/>
            </a:avLst>
          </a:prstGeom>
          <a:solidFill>
            <a:srgbClr val="FEF3DD"/>
          </a:solidFill>
          <a:ln/>
        </p:spPr>
      </p:sp>
      <p:sp>
        <p:nvSpPr>
          <p:cNvPr id="36" name="Shape 34"/>
          <p:cNvSpPr/>
          <p:nvPr/>
        </p:nvSpPr>
        <p:spPr>
          <a:xfrm>
            <a:off x="7958667" y="3883422"/>
            <a:ext cx="3420533" cy="1146704"/>
          </a:xfrm>
          <a:custGeom>
            <a:avLst/>
            <a:gdLst/>
            <a:ahLst/>
            <a:cxnLst/>
            <a:rect l="l" t="t" r="r" b="b"/>
            <a:pathLst>
              <a:path w="3420533" h="1146704">
                <a:moveTo>
                  <a:pt x="0" y="101600"/>
                </a:moveTo>
                <a:lnTo>
                  <a:pt x="0" y="101600"/>
                </a:lnTo>
                <a:arcTo hR="101600" wR="101600" stAng="10800000" swAng="5400000"/>
                <a:lnTo>
                  <a:pt x="3318933" y="0"/>
                </a:lnTo>
                <a:arcTo hR="101600" wR="101600" stAng="16200000" swAng="5400000"/>
                <a:lnTo>
                  <a:pt x="3420533" y="101600"/>
                </a:lnTo>
                <a:arcTo hR="63500" wR="101600" stAng="0" swAng="-5400000"/>
                <a:lnTo>
                  <a:pt x="101600" y="38100"/>
                </a:lnTo>
                <a:arcTo hR="63500" wR="101600" stAng="16200000" swAng="-5400000"/>
                <a:close/>
              </a:path>
            </a:pathLst>
          </a:custGeom>
          <a:solidFill>
            <a:srgbClr val="F5A623"/>
          </a:solidFill>
          <a:ln/>
        </p:spPr>
      </p:sp>
      <p:sp>
        <p:nvSpPr>
          <p:cNvPr id="37" name="Text 35"/>
          <p:cNvSpPr/>
          <p:nvPr/>
        </p:nvSpPr>
        <p:spPr>
          <a:xfrm>
            <a:off x="8149167" y="4099322"/>
            <a:ext cx="3130719"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545"/>
                </a:solidFill>
                <a:latin typeface="Public Sans" pitchFamily="34" charset="0"/>
                <a:ea typeface="Public Sans" pitchFamily="34" charset="-122"/>
                <a:cs typeface="Public Sans" pitchFamily="34" charset="-120"/>
              </a:rPr>
              <a:t>Approved catalog only</a:t>
            </a:r>
            <a:endParaRPr lang="en-US" sz="1600" dirty="0"/>
          </a:p>
        </p:txBody>
      </p:sp>
      <p:sp>
        <p:nvSpPr>
          <p:cNvPr id="38" name="Text 36"/>
          <p:cNvSpPr/>
          <p:nvPr/>
        </p:nvSpPr>
        <p:spPr>
          <a:xfrm>
            <a:off x="8149167" y="4406640"/>
            <a:ext cx="313071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0B2545"/>
                </a:solidFill>
                <a:latin typeface="Public Sans" pitchFamily="34" charset="0"/>
                <a:ea typeface="Public Sans" pitchFamily="34" charset="-122"/>
                <a:cs typeface="Public Sans" pitchFamily="34" charset="-120"/>
              </a:rPr>
              <a:t>The plan builder can only pick from approved fixes.</a:t>
            </a:r>
            <a:endParaRPr lang="en-US" sz="1300" dirty="0"/>
          </a:p>
        </p:txBody>
      </p:sp>
      <p:sp>
        <p:nvSpPr>
          <p:cNvPr id="39" name="Text 37"/>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Bulwark | Innova Solutions</a:t>
            </a:r>
            <a:endParaRPr lang="en-US" sz="1200" dirty="0"/>
          </a:p>
        </p:txBody>
      </p:sp>
      <p:sp>
        <p:nvSpPr>
          <p:cNvPr id="40" name="Text 3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9FD"/>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2545"/>
                </a:solidFill>
                <a:latin typeface="Source Serif 4" pitchFamily="18" charset="0"/>
                <a:ea typeface="Source Serif 4" pitchFamily="18" charset="-122"/>
                <a:cs typeface="Source Serif 4" pitchFamily="18" charset="-120"/>
              </a:rPr>
              <a:t>Data model: 26 tables and one view</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297918"/>
          <a:ext cx="10553700" cy="2950633"/>
        </p:xfrm>
        <a:graphic>
          <a:graphicData uri="http://schemas.openxmlformats.org/drawingml/2006/table">
            <a:tbl>
              <a:tblPr/>
              <a:tblGrid>
                <a:gridCol w="2532888"/>
                <a:gridCol w="8020812"/>
              </a:tblGrid>
              <a:tr h="385961">
                <a:tc>
                  <a:txBody>
                    <a:bodyPr/>
                    <a:lstStyle/>
                    <a:p>
                      <a:pPr indent="0" marL="0">
                        <a:lnSpc>
                          <a:spcPts val="1960"/>
                        </a:lnSpc>
                        <a:buNone/>
                      </a:pPr>
                      <a:r>
                        <a:rPr lang="en-US" sz="1400" b="1" dirty="0">
                          <a:solidFill>
                            <a:srgbClr val="0B2545"/>
                          </a:solidFill>
                          <a:latin typeface="Public Sans" pitchFamily="34" charset="0"/>
                          <a:ea typeface="Public Sans" pitchFamily="34" charset="-122"/>
                          <a:cs typeface="Public Sans" pitchFamily="34" charset="-120"/>
                        </a:rPr>
                        <a:t>Group</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7CA"/>
                      </a:solidFill>
                      <a:prstDash val="solid"/>
                      <a:round/>
                      <a:headEnd type="none" w="med" len="med"/>
                      <a:tailEnd type="none" w="med" len="med"/>
                    </a:lnL>
                    <a:lnR w="12700" cap="flat" cmpd="sng" algn="ctr">
                      <a:solidFill>
                        <a:srgbClr val="B5B9BB"/>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B5B9BB"/>
                      </a:solidFill>
                      <a:prstDash val="solid"/>
                      <a:round/>
                      <a:headEnd type="none" w="med" len="med"/>
                      <a:tailEnd type="none" w="med" len="med"/>
                    </a:lnB>
                    <a:solidFill>
                      <a:srgbClr val="E3E7EA"/>
                    </a:solidFill>
                  </a:tcPr>
                </a:tc>
                <a:tc>
                  <a:txBody>
                    <a:bodyPr/>
                    <a:lstStyle/>
                    <a:p>
                      <a:pPr indent="0" marL="0">
                        <a:lnSpc>
                          <a:spcPts val="1960"/>
                        </a:lnSpc>
                        <a:buNone/>
                      </a:pPr>
                      <a:r>
                        <a:rPr lang="en-US" sz="1400" b="1" dirty="0">
                          <a:solidFill>
                            <a:srgbClr val="0B2545"/>
                          </a:solidFill>
                          <a:latin typeface="Public Sans" pitchFamily="34" charset="0"/>
                          <a:ea typeface="Public Sans" pitchFamily="34" charset="-122"/>
                          <a:cs typeface="Public Sans" pitchFamily="34" charset="-120"/>
                        </a:rPr>
                        <a:t>Main tables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5B9BB"/>
                      </a:solidFill>
                      <a:prstDash val="solid"/>
                      <a:round/>
                      <a:headEnd type="none" w="med" len="med"/>
                      <a:tailEnd type="none" w="med" len="med"/>
                    </a:lnL>
                    <a:lnR w="12700" cap="flat" cmpd="sng" algn="ctr">
                      <a:solidFill>
                        <a:srgbClr val="B5B9BB"/>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B5B9BB"/>
                      </a:solidFill>
                      <a:prstDash val="solid"/>
                      <a:round/>
                      <a:headEnd type="none" w="med" len="med"/>
                      <a:tailEnd type="none" w="med" len="med"/>
                    </a:lnB>
                    <a:solidFill>
                      <a:srgbClr val="E3E7EA"/>
                    </a:solidFill>
                  </a:tcPr>
                </a:tc>
              </a:tr>
              <a:tr h="385961">
                <a:tc>
                  <a:txBody>
                    <a:bodyPr/>
                    <a:lstStyle/>
                    <a:p>
                      <a:pPr indent="0" marL="0">
                        <a:lnSpc>
                          <a:spcPts val="1960"/>
                        </a:lnSpc>
                        <a:buNone/>
                      </a:pPr>
                      <a:r>
                        <a:rPr lang="en-US" sz="1400" dirty="0">
                          <a:solidFill>
                            <a:srgbClr val="0B2545"/>
                          </a:solidFill>
                          <a:latin typeface="Public Sans" pitchFamily="34" charset="0"/>
                          <a:ea typeface="Public Sans" pitchFamily="34" charset="-122"/>
                          <a:cs typeface="Public Sans" pitchFamily="34" charset="-120"/>
                        </a:rPr>
                        <a:t>Access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B5B9BB"/>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960"/>
                        </a:lnSpc>
                        <a:buNone/>
                      </a:pPr>
                      <a:r>
                        <a:rPr lang="en-US" sz="1400" dirty="0">
                          <a:solidFill>
                            <a:srgbClr val="0B2545"/>
                          </a:solidFill>
                          <a:latin typeface="Public Sans" pitchFamily="34" charset="0"/>
                          <a:ea typeface="Public Sans" pitchFamily="34" charset="-122"/>
                          <a:cs typeface="Public Sans" pitchFamily="34" charset="-120"/>
                        </a:rPr>
                        <a:t>users, refresh_tokens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B5B9BB"/>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r>
              <a:tr h="385961">
                <a:tc>
                  <a:txBody>
                    <a:bodyPr/>
                    <a:lstStyle/>
                    <a:p>
                      <a:pPr indent="0" marL="0">
                        <a:lnSpc>
                          <a:spcPts val="1960"/>
                        </a:lnSpc>
                        <a:buNone/>
                      </a:pPr>
                      <a:r>
                        <a:rPr lang="en-US" sz="1400" dirty="0">
                          <a:solidFill>
                            <a:srgbClr val="0B2545"/>
                          </a:solidFill>
                          <a:latin typeface="Public Sans" pitchFamily="34" charset="0"/>
                          <a:ea typeface="Public Sans" pitchFamily="34" charset="-122"/>
                          <a:cs typeface="Public Sans" pitchFamily="34" charset="-120"/>
                        </a:rPr>
                        <a:t>Inventory</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960"/>
                        </a:lnSpc>
                        <a:buNone/>
                      </a:pPr>
                      <a:r>
                        <a:rPr lang="en-US" sz="1400" dirty="0">
                          <a:solidFill>
                            <a:srgbClr val="0B2545"/>
                          </a:solidFill>
                          <a:latin typeface="Public Sans" pitchFamily="34" charset="0"/>
                          <a:ea typeface="Public Sans" pitchFamily="34" charset="-122"/>
                          <a:cs typeface="Public Sans" pitchFamily="34" charset="-120"/>
                        </a:rPr>
                        <a:t>assets, vulnerabilities, vulnerability_assets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r>
              <a:tr h="385961">
                <a:tc>
                  <a:txBody>
                    <a:bodyPr/>
                    <a:lstStyle/>
                    <a:p>
                      <a:pPr indent="0" marL="0">
                        <a:lnSpc>
                          <a:spcPts val="1960"/>
                        </a:lnSpc>
                        <a:buNone/>
                      </a:pPr>
                      <a:r>
                        <a:rPr lang="en-US" sz="1400" dirty="0">
                          <a:solidFill>
                            <a:srgbClr val="0B2545"/>
                          </a:solidFill>
                          <a:latin typeface="Public Sans" pitchFamily="34" charset="0"/>
                          <a:ea typeface="Public Sans" pitchFamily="34" charset="-122"/>
                          <a:cs typeface="Public Sans" pitchFamily="34" charset="-120"/>
                        </a:rPr>
                        <a:t>Solutions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960"/>
                        </a:lnSpc>
                        <a:buNone/>
                      </a:pPr>
                      <a:r>
                        <a:rPr lang="en-US" sz="1400" dirty="0">
                          <a:solidFill>
                            <a:srgbClr val="0B2545"/>
                          </a:solidFill>
                          <a:latin typeface="Public Sans" pitchFamily="34" charset="0"/>
                          <a:ea typeface="Public Sans" pitchFamily="34" charset="-122"/>
                          <a:cs typeface="Public Sans" pitchFamily="34" charset="-120"/>
                        </a:rPr>
                        <a:t>solutions, solution_versions, solution_reviews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r>
              <a:tr h="634868">
                <a:tc>
                  <a:txBody>
                    <a:bodyPr/>
                    <a:lstStyle/>
                    <a:p>
                      <a:pPr indent="0" marL="0">
                        <a:lnSpc>
                          <a:spcPts val="1960"/>
                        </a:lnSpc>
                        <a:buNone/>
                      </a:pPr>
                      <a:r>
                        <a:rPr lang="en-US" sz="1400" dirty="0">
                          <a:solidFill>
                            <a:srgbClr val="0B2545"/>
                          </a:solidFill>
                          <a:latin typeface="Public Sans" pitchFamily="34" charset="0"/>
                          <a:ea typeface="Public Sans" pitchFamily="34" charset="-122"/>
                          <a:cs typeface="Public Sans" pitchFamily="34" charset="-120"/>
                        </a:rPr>
                        <a:t>Workflow</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960"/>
                        </a:lnSpc>
                        <a:buNone/>
                      </a:pPr>
                      <a:r>
                        <a:rPr lang="en-US" sz="1400" dirty="0">
                          <a:solidFill>
                            <a:srgbClr val="0B2545"/>
                          </a:solidFill>
                          <a:latin typeface="Public Sans" pitchFamily="34" charset="0"/>
                          <a:ea typeface="Public Sans" pitchFamily="34" charset="-122"/>
                          <a:cs typeface="Public Sans" pitchFamily="34" charset="-120"/>
                        </a:rPr>
                        <a:t>incidents, incident_assets, incident_plan_steps, incident_approvals, job_runs, job_run_logs, audit_logs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r>
              <a:tr h="385961">
                <a:tc>
                  <a:txBody>
                    <a:bodyPr/>
                    <a:lstStyle/>
                    <a:p>
                      <a:pPr indent="0" marL="0">
                        <a:lnSpc>
                          <a:spcPts val="1960"/>
                        </a:lnSpc>
                        <a:buNone/>
                      </a:pPr>
                      <a:r>
                        <a:rPr lang="en-US" sz="1400" dirty="0">
                          <a:solidFill>
                            <a:srgbClr val="0B2545"/>
                          </a:solidFill>
                          <a:latin typeface="Public Sans" pitchFamily="34" charset="0"/>
                          <a:ea typeface="Public Sans" pitchFamily="34" charset="-122"/>
                          <a:cs typeface="Public Sans" pitchFamily="34" charset="-120"/>
                        </a:rPr>
                        <a:t>AI agents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960"/>
                        </a:lnSpc>
                        <a:buNone/>
                      </a:pPr>
                      <a:r>
                        <a:rPr lang="en-US" sz="1400" dirty="0">
                          <a:solidFill>
                            <a:srgbClr val="0B2545"/>
                          </a:solidFill>
                          <a:latin typeface="Public Sans" pitchFamily="34" charset="0"/>
                          <a:ea typeface="Public Sans" pitchFamily="34" charset="-122"/>
                          <a:cs typeface="Public Sans" pitchFamily="34" charset="-120"/>
                        </a:rPr>
                        <a:t>suggestion runs, similar matches, AI plans and steps, solution drafts, dead letters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r>
              <a:tr h="385961">
                <a:tc>
                  <a:txBody>
                    <a:bodyPr/>
                    <a:lstStyle/>
                    <a:p>
                      <a:pPr indent="0" marL="0">
                        <a:lnSpc>
                          <a:spcPts val="1960"/>
                        </a:lnSpc>
                        <a:buNone/>
                      </a:pPr>
                      <a:r>
                        <a:rPr lang="en-US" sz="1400" dirty="0">
                          <a:solidFill>
                            <a:srgbClr val="0B2545"/>
                          </a:solidFill>
                          <a:latin typeface="Public Sans" pitchFamily="34" charset="0"/>
                          <a:ea typeface="Public Sans" pitchFamily="34" charset="-122"/>
                          <a:cs typeface="Public Sans" pitchFamily="34" charset="-120"/>
                        </a:rPr>
                        <a:t>Chat</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960"/>
                        </a:lnSpc>
                        <a:buNone/>
                      </a:pPr>
                      <a:r>
                        <a:rPr lang="en-US" sz="1400" dirty="0">
                          <a:solidFill>
                            <a:srgbClr val="0B2545"/>
                          </a:solidFill>
                          <a:latin typeface="Public Sans" pitchFamily="34" charset="0"/>
                          <a:ea typeface="Public Sans" pitchFamily="34" charset="-122"/>
                          <a:cs typeface="Public Sans" pitchFamily="34" charset="-120"/>
                        </a:rPr>
                        <a:t>chat threads and checkpoints, in the separate bulwark_chat schema</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r>
            </a:tbl>
          </a:graphicData>
        </a:graphic>
      </p:graphicFrame>
      <p:sp>
        <p:nvSpPr>
          <p:cNvPr id="4" name="Text 1"/>
          <p:cNvSpPr/>
          <p:nvPr/>
        </p:nvSpPr>
        <p:spPr>
          <a:xfrm>
            <a:off x="812800" y="4477147"/>
            <a:ext cx="1088339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6B7C"/>
                </a:solidFill>
                <a:latin typeface="Public Sans" pitchFamily="34" charset="0"/>
                <a:ea typeface="Public Sans" pitchFamily="34" charset="-122"/>
                <a:cs typeface="Public Sans" pitchFamily="34" charset="-120"/>
              </a:rPr>
              <a:t>Column-level detail is in the database tables document. One DDL script builds everything and one insert script loads demo data.</a:t>
            </a:r>
            <a:endParaRPr lang="en-US" sz="1300" dirty="0"/>
          </a:p>
        </p:txBody>
      </p:sp>
      <p:sp>
        <p:nvSpPr>
          <p:cNvPr id="5" name="Text 2"/>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Bulwark | Innova Solutions</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9FD"/>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2545"/>
                </a:solidFill>
                <a:latin typeface="Source Serif 4" pitchFamily="18" charset="0"/>
                <a:ea typeface="Source Serif 4" pitchFamily="18" charset="-122"/>
                <a:cs typeface="Source Serif 4" pitchFamily="18" charset="-120"/>
              </a:rPr>
              <a:t>Live demo walkthrough</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297918"/>
          <a:ext cx="10553700" cy="3087688"/>
        </p:xfrm>
        <a:graphic>
          <a:graphicData uri="http://schemas.openxmlformats.org/drawingml/2006/table">
            <a:tbl>
              <a:tblPr/>
              <a:tblGrid>
                <a:gridCol w="738759"/>
                <a:gridCol w="2955036"/>
                <a:gridCol w="6859905"/>
              </a:tblGrid>
              <a:tr h="385961">
                <a:tc>
                  <a:txBody>
                    <a:bodyPr/>
                    <a:lstStyle/>
                    <a:p>
                      <a:pPr indent="0" marL="0">
                        <a:lnSpc>
                          <a:spcPts val="1960"/>
                        </a:lnSpc>
                        <a:buNone/>
                      </a:pPr>
                      <a:r>
                        <a:rPr lang="en-US" sz="1400" b="1" dirty="0">
                          <a:solidFill>
                            <a:srgbClr val="0B2545"/>
                          </a:solidFill>
                          <a:latin typeface="Public Sans" pitchFamily="34" charset="0"/>
                          <a:ea typeface="Public Sans" pitchFamily="34" charset="-122"/>
                          <a:cs typeface="Public Sans" pitchFamily="34" charset="-120"/>
                        </a:rPr>
                        <a:t>#</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7CA"/>
                      </a:solidFill>
                      <a:prstDash val="solid"/>
                      <a:round/>
                      <a:headEnd type="none" w="med" len="med"/>
                      <a:tailEnd type="none" w="med" len="med"/>
                    </a:lnL>
                    <a:lnR w="12700" cap="flat" cmpd="sng" algn="ctr">
                      <a:solidFill>
                        <a:srgbClr val="B5B9BB"/>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B5B9BB"/>
                      </a:solidFill>
                      <a:prstDash val="solid"/>
                      <a:round/>
                      <a:headEnd type="none" w="med" len="med"/>
                      <a:tailEnd type="none" w="med" len="med"/>
                    </a:lnB>
                    <a:solidFill>
                      <a:srgbClr val="E3E7EA"/>
                    </a:solidFill>
                  </a:tcPr>
                </a:tc>
                <a:tc>
                  <a:txBody>
                    <a:bodyPr/>
                    <a:lstStyle/>
                    <a:p>
                      <a:pPr indent="0" marL="0">
                        <a:lnSpc>
                          <a:spcPts val="1960"/>
                        </a:lnSpc>
                        <a:buNone/>
                      </a:pPr>
                      <a:r>
                        <a:rPr lang="en-US" sz="1400" b="1" dirty="0">
                          <a:solidFill>
                            <a:srgbClr val="0B2545"/>
                          </a:solidFill>
                          <a:latin typeface="Public Sans" pitchFamily="34" charset="0"/>
                          <a:ea typeface="Public Sans" pitchFamily="34" charset="-122"/>
                          <a:cs typeface="Public Sans" pitchFamily="34" charset="-120"/>
                        </a:rPr>
                        <a:t>Step</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5B9BB"/>
                      </a:solidFill>
                      <a:prstDash val="solid"/>
                      <a:round/>
                      <a:headEnd type="none" w="med" len="med"/>
                      <a:tailEnd type="none" w="med" len="med"/>
                    </a:lnL>
                    <a:lnR w="12700" cap="flat" cmpd="sng" algn="ctr">
                      <a:solidFill>
                        <a:srgbClr val="B5B9BB"/>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B5B9BB"/>
                      </a:solidFill>
                      <a:prstDash val="solid"/>
                      <a:round/>
                      <a:headEnd type="none" w="med" len="med"/>
                      <a:tailEnd type="none" w="med" len="med"/>
                    </a:lnB>
                    <a:solidFill>
                      <a:srgbClr val="E3E7EA"/>
                    </a:solidFill>
                  </a:tcPr>
                </a:tc>
                <a:tc>
                  <a:txBody>
                    <a:bodyPr/>
                    <a:lstStyle/>
                    <a:p>
                      <a:pPr indent="0" marL="0">
                        <a:lnSpc>
                          <a:spcPts val="1960"/>
                        </a:lnSpc>
                        <a:buNone/>
                      </a:pPr>
                      <a:r>
                        <a:rPr lang="en-US" sz="1400" b="1" dirty="0">
                          <a:solidFill>
                            <a:srgbClr val="0B2545"/>
                          </a:solidFill>
                          <a:latin typeface="Public Sans" pitchFamily="34" charset="0"/>
                          <a:ea typeface="Public Sans" pitchFamily="34" charset="-122"/>
                          <a:cs typeface="Public Sans" pitchFamily="34" charset="-120"/>
                        </a:rPr>
                        <a:t>What to show</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5B9BB"/>
                      </a:solidFill>
                      <a:prstDash val="solid"/>
                      <a:round/>
                      <a:headEnd type="none" w="med" len="med"/>
                      <a:tailEnd type="none" w="med" len="med"/>
                    </a:lnL>
                    <a:lnR w="12700" cap="flat" cmpd="sng" algn="ctr">
                      <a:solidFill>
                        <a:srgbClr val="B5B9BB"/>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B5B9BB"/>
                      </a:solidFill>
                      <a:prstDash val="solid"/>
                      <a:round/>
                      <a:headEnd type="none" w="med" len="med"/>
                      <a:tailEnd type="none" w="med" len="med"/>
                    </a:lnB>
                    <a:solidFill>
                      <a:srgbClr val="E3E7EA"/>
                    </a:solidFill>
                  </a:tcPr>
                </a:tc>
              </a:tr>
              <a:tr h="385961">
                <a:tc>
                  <a:txBody>
                    <a:bodyPr/>
                    <a:lstStyle/>
                    <a:p>
                      <a:pPr indent="0" marL="0">
                        <a:lnSpc>
                          <a:spcPts val="1960"/>
                        </a:lnSpc>
                        <a:buNone/>
                      </a:pPr>
                      <a:r>
                        <a:rPr lang="en-US" sz="1400" dirty="0">
                          <a:solidFill>
                            <a:srgbClr val="0B2545"/>
                          </a:solidFill>
                          <a:latin typeface="Public Sans" pitchFamily="34" charset="0"/>
                          <a:ea typeface="Public Sans" pitchFamily="34" charset="-122"/>
                          <a:cs typeface="Public Sans" pitchFamily="34" charset="-120"/>
                        </a:rPr>
                        <a:t>1</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B5B9BB"/>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960"/>
                        </a:lnSpc>
                        <a:buNone/>
                      </a:pPr>
                      <a:r>
                        <a:rPr lang="en-US" sz="1400" dirty="0">
                          <a:solidFill>
                            <a:srgbClr val="0B2545"/>
                          </a:solidFill>
                          <a:latin typeface="Public Sans" pitchFamily="34" charset="0"/>
                          <a:ea typeface="Public Sans" pitchFamily="34" charset="-122"/>
                          <a:cs typeface="Public Sans" pitchFamily="34" charset="-120"/>
                        </a:rPr>
                        <a:t>Dashboard</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B5B9BB"/>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960"/>
                        </a:lnSpc>
                        <a:buNone/>
                      </a:pPr>
                      <a:r>
                        <a:rPr lang="en-US" sz="1400" dirty="0">
                          <a:solidFill>
                            <a:srgbClr val="0B2545"/>
                          </a:solidFill>
                          <a:latin typeface="Public Sans" pitchFamily="34" charset="0"/>
                          <a:ea typeface="Public Sans" pitchFamily="34" charset="-122"/>
                          <a:cs typeface="Public Sans" pitchFamily="34" charset="-120"/>
                        </a:rPr>
                        <a:t>Open incidents and items needing attention</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B5B9BB"/>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r>
              <a:tr h="385961">
                <a:tc>
                  <a:txBody>
                    <a:bodyPr/>
                    <a:lstStyle/>
                    <a:p>
                      <a:pPr indent="0" marL="0">
                        <a:lnSpc>
                          <a:spcPts val="1960"/>
                        </a:lnSpc>
                        <a:buNone/>
                      </a:pPr>
                      <a:r>
                        <a:rPr lang="en-US" sz="1400" dirty="0">
                          <a:solidFill>
                            <a:srgbClr val="0B2545"/>
                          </a:solidFill>
                          <a:latin typeface="Public Sans" pitchFamily="34" charset="0"/>
                          <a:ea typeface="Public Sans" pitchFamily="34" charset="-122"/>
                          <a:cs typeface="Public Sans" pitchFamily="34" charset="-120"/>
                        </a:rPr>
                        <a:t>2</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960"/>
                        </a:lnSpc>
                        <a:buNone/>
                      </a:pPr>
                      <a:r>
                        <a:rPr lang="en-US" sz="1400" dirty="0">
                          <a:solidFill>
                            <a:srgbClr val="0B2545"/>
                          </a:solidFill>
                          <a:latin typeface="Public Sans" pitchFamily="34" charset="0"/>
                          <a:ea typeface="Public Sans" pitchFamily="34" charset="-122"/>
                          <a:cs typeface="Public Sans" pitchFamily="34" charset="-120"/>
                        </a:rPr>
                        <a:t>Run the scan ingestor</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960"/>
                        </a:lnSpc>
                        <a:buNone/>
                      </a:pPr>
                      <a:r>
                        <a:rPr lang="en-US" sz="1400" dirty="0">
                          <a:solidFill>
                            <a:srgbClr val="0B2545"/>
                          </a:solidFill>
                          <a:latin typeface="Public Sans" pitchFamily="34" charset="0"/>
                          <a:ea typeface="Public Sans" pitchFamily="34" charset="-122"/>
                          <a:cs typeface="Public Sans" pitchFamily="34" charset="-120"/>
                        </a:rPr>
                        <a:t>100 findings become 100 incidents; events reach Kafka</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r>
              <a:tr h="385961">
                <a:tc>
                  <a:txBody>
                    <a:bodyPr/>
                    <a:lstStyle/>
                    <a:p>
                      <a:pPr indent="0" marL="0">
                        <a:lnSpc>
                          <a:spcPts val="1960"/>
                        </a:lnSpc>
                        <a:buNone/>
                      </a:pPr>
                      <a:r>
                        <a:rPr lang="en-US" sz="1400" dirty="0">
                          <a:solidFill>
                            <a:srgbClr val="0B2545"/>
                          </a:solidFill>
                          <a:latin typeface="Public Sans" pitchFamily="34" charset="0"/>
                          <a:ea typeface="Public Sans" pitchFamily="34" charset="-122"/>
                          <a:cs typeface="Public Sans" pitchFamily="34" charset="-120"/>
                        </a:rPr>
                        <a:t>3</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960"/>
                        </a:lnSpc>
                        <a:buNone/>
                      </a:pPr>
                      <a:r>
                        <a:rPr lang="en-US" sz="1400" dirty="0">
                          <a:solidFill>
                            <a:srgbClr val="0B2545"/>
                          </a:solidFill>
                          <a:latin typeface="Public Sans" pitchFamily="34" charset="0"/>
                          <a:ea typeface="Public Sans" pitchFamily="34" charset="-122"/>
                          <a:cs typeface="Public Sans" pitchFamily="34" charset="-120"/>
                        </a:rPr>
                        <a:t>Open an incident</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960"/>
                        </a:lnSpc>
                        <a:buNone/>
                      </a:pPr>
                      <a:r>
                        <a:rPr lang="en-US" sz="1400" dirty="0">
                          <a:solidFill>
                            <a:srgbClr val="0B2545"/>
                          </a:solidFill>
                          <a:latin typeface="Public Sans" pitchFamily="34" charset="0"/>
                          <a:ea typeface="Public Sans" pitchFamily="34" charset="-122"/>
                          <a:cs typeface="Public Sans" pitchFamily="34" charset="-120"/>
                        </a:rPr>
                        <a:t>Similar incidents and the AI Suggested tab; apply the plan</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r>
              <a:tr h="385961">
                <a:tc>
                  <a:txBody>
                    <a:bodyPr/>
                    <a:lstStyle/>
                    <a:p>
                      <a:pPr indent="0" marL="0">
                        <a:lnSpc>
                          <a:spcPts val="1960"/>
                        </a:lnSpc>
                        <a:buNone/>
                      </a:pPr>
                      <a:r>
                        <a:rPr lang="en-US" sz="1400" dirty="0">
                          <a:solidFill>
                            <a:srgbClr val="0B2545"/>
                          </a:solidFill>
                          <a:latin typeface="Public Sans" pitchFamily="34" charset="0"/>
                          <a:ea typeface="Public Sans" pitchFamily="34" charset="-122"/>
                          <a:cs typeface="Public Sans" pitchFamily="34" charset="-120"/>
                        </a:rPr>
                        <a:t>4</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960"/>
                        </a:lnSpc>
                        <a:buNone/>
                      </a:pPr>
                      <a:r>
                        <a:rPr lang="en-US" sz="1400" dirty="0">
                          <a:solidFill>
                            <a:srgbClr val="0B2545"/>
                          </a:solidFill>
                          <a:latin typeface="Public Sans" pitchFamily="34" charset="0"/>
                          <a:ea typeface="Public Sans" pitchFamily="34" charset="-122"/>
                          <a:cs typeface="Public Sans" pitchFamily="34" charset="-120"/>
                        </a:rPr>
                        <a:t>Ask the chat assistant</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960"/>
                        </a:lnSpc>
                        <a:buNone/>
                      </a:pPr>
                      <a:r>
                        <a:rPr lang="en-US" sz="1400" dirty="0">
                          <a:solidFill>
                            <a:srgbClr val="0B2545"/>
                          </a:solidFill>
                          <a:latin typeface="Public Sans" pitchFamily="34" charset="0"/>
                          <a:ea typeface="Public Sans" pitchFamily="34" charset="-122"/>
                          <a:cs typeface="Public Sans" pitchFamily="34" charset="-120"/>
                        </a:rPr>
                        <a:t>Ask a question, then trigger a change and confirm it</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r>
              <a:tr h="385961">
                <a:tc>
                  <a:txBody>
                    <a:bodyPr/>
                    <a:lstStyle/>
                    <a:p>
                      <a:pPr indent="0" marL="0">
                        <a:lnSpc>
                          <a:spcPts val="1960"/>
                        </a:lnSpc>
                        <a:buNone/>
                      </a:pPr>
                      <a:r>
                        <a:rPr lang="en-US" sz="1400" dirty="0">
                          <a:solidFill>
                            <a:srgbClr val="0B2545"/>
                          </a:solidFill>
                          <a:latin typeface="Public Sans" pitchFamily="34" charset="0"/>
                          <a:ea typeface="Public Sans" pitchFamily="34" charset="-122"/>
                          <a:cs typeface="Public Sans" pitchFamily="34" charset="-120"/>
                        </a:rPr>
                        <a:t>5</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960"/>
                        </a:lnSpc>
                        <a:buNone/>
                      </a:pPr>
                      <a:r>
                        <a:rPr lang="en-US" sz="1400" dirty="0">
                          <a:solidFill>
                            <a:srgbClr val="0B2545"/>
                          </a:solidFill>
                          <a:latin typeface="Public Sans" pitchFamily="34" charset="0"/>
                          <a:ea typeface="Public Sans" pitchFamily="34" charset="-122"/>
                          <a:cs typeface="Public Sans" pitchFamily="34" charset="-120"/>
                        </a:rPr>
                        <a:t>Submit and approve</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960"/>
                        </a:lnSpc>
                        <a:buNone/>
                      </a:pPr>
                      <a:r>
                        <a:rPr lang="en-US" sz="1400" dirty="0">
                          <a:solidFill>
                            <a:srgbClr val="0B2545"/>
                          </a:solidFill>
                          <a:latin typeface="Public Sans" pitchFamily="34" charset="0"/>
                          <a:ea typeface="Public Sans" pitchFamily="34" charset="-122"/>
                          <a:cs typeface="Public Sans" pitchFamily="34" charset="-120"/>
                        </a:rPr>
                        <a:t>Switch to the Approver and approve the plan</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r>
              <a:tr h="385961">
                <a:tc>
                  <a:txBody>
                    <a:bodyPr/>
                    <a:lstStyle/>
                    <a:p>
                      <a:pPr indent="0" marL="0">
                        <a:lnSpc>
                          <a:spcPts val="1960"/>
                        </a:lnSpc>
                        <a:buNone/>
                      </a:pPr>
                      <a:r>
                        <a:rPr lang="en-US" sz="1400" dirty="0">
                          <a:solidFill>
                            <a:srgbClr val="0B2545"/>
                          </a:solidFill>
                          <a:latin typeface="Public Sans" pitchFamily="34" charset="0"/>
                          <a:ea typeface="Public Sans" pitchFamily="34" charset="-122"/>
                          <a:cs typeface="Public Sans" pitchFamily="34" charset="-120"/>
                        </a:rPr>
                        <a:t>6</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960"/>
                        </a:lnSpc>
                        <a:buNone/>
                      </a:pPr>
                      <a:r>
                        <a:rPr lang="en-US" sz="1400" dirty="0">
                          <a:solidFill>
                            <a:srgbClr val="0B2545"/>
                          </a:solidFill>
                          <a:latin typeface="Public Sans" pitchFamily="34" charset="0"/>
                          <a:ea typeface="Public Sans" pitchFamily="34" charset="-122"/>
                          <a:cs typeface="Public Sans" pitchFamily="34" charset="-120"/>
                        </a:rPr>
                        <a:t>Execute</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960"/>
                        </a:lnSpc>
                        <a:buNone/>
                      </a:pPr>
                      <a:r>
                        <a:rPr lang="en-US" sz="1400" dirty="0">
                          <a:solidFill>
                            <a:srgbClr val="0B2545"/>
                          </a:solidFill>
                          <a:latin typeface="Public Sans" pitchFamily="34" charset="0"/>
                          <a:ea typeface="Public Sans" pitchFamily="34" charset="-122"/>
                          <a:cs typeface="Public Sans" pitchFamily="34" charset="-120"/>
                        </a:rPr>
                        <a:t>Run steps from the Execution grid; watch live logs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r>
              <a:tr h="385961">
                <a:tc>
                  <a:txBody>
                    <a:bodyPr/>
                    <a:lstStyle/>
                    <a:p>
                      <a:pPr indent="0" marL="0">
                        <a:lnSpc>
                          <a:spcPts val="1960"/>
                        </a:lnSpc>
                        <a:buNone/>
                      </a:pPr>
                      <a:r>
                        <a:rPr lang="en-US" sz="1400" dirty="0">
                          <a:solidFill>
                            <a:srgbClr val="0B2545"/>
                          </a:solidFill>
                          <a:latin typeface="Public Sans" pitchFamily="34" charset="0"/>
                          <a:ea typeface="Public Sans" pitchFamily="34" charset="-122"/>
                          <a:cs typeface="Public Sans" pitchFamily="34" charset="-120"/>
                        </a:rPr>
                        <a:t>7</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960"/>
                        </a:lnSpc>
                        <a:buNone/>
                      </a:pPr>
                      <a:r>
                        <a:rPr lang="en-US" sz="1400" dirty="0">
                          <a:solidFill>
                            <a:srgbClr val="0B2545"/>
                          </a:solidFill>
                          <a:latin typeface="Public Sans" pitchFamily="34" charset="0"/>
                          <a:ea typeface="Public Sans" pitchFamily="34" charset="-122"/>
                          <a:cs typeface="Public Sans" pitchFamily="34" charset="-120"/>
                        </a:rPr>
                        <a:t>Resolve and audit</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960"/>
                        </a:lnSpc>
                        <a:buNone/>
                      </a:pPr>
                      <a:r>
                        <a:rPr lang="en-US" sz="1400" dirty="0">
                          <a:solidFill>
                            <a:srgbClr val="0B2545"/>
                          </a:solidFill>
                          <a:latin typeface="Public Sans" pitchFamily="34" charset="0"/>
                          <a:ea typeface="Public Sans" pitchFamily="34" charset="-122"/>
                          <a:cs typeface="Public Sans" pitchFamily="34" charset="-120"/>
                        </a:rPr>
                        <a:t>Incident auto-resolves; show the audit trail</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r>
            </a:tbl>
          </a:graphicData>
        </a:graphic>
      </p:graphicFrame>
      <p:sp>
        <p:nvSpPr>
          <p:cNvPr id="4" name="Text 1"/>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Bulwark | Innova Solutions</a:t>
            </a:r>
            <a:endParaRPr lang="en-US" sz="1200" dirty="0"/>
          </a:p>
        </p:txBody>
      </p:sp>
      <p:sp>
        <p:nvSpPr>
          <p:cNvPr id="5" name="Text 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9FD"/>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2545"/>
                </a:solidFill>
                <a:latin typeface="Source Serif 4" pitchFamily="18" charset="0"/>
                <a:ea typeface="Source Serif 4" pitchFamily="18" charset="-122"/>
                <a:cs typeface="Source Serif 4" pitchFamily="18" charset="-120"/>
              </a:rPr>
              <a:t>Scope of functions</a:t>
            </a:r>
            <a:endParaRPr lang="en-US" sz="3200" dirty="0"/>
          </a:p>
        </p:txBody>
      </p:sp>
      <p:sp>
        <p:nvSpPr>
          <p:cNvPr id="3" name="Shape 1"/>
          <p:cNvSpPr/>
          <p:nvPr/>
        </p:nvSpPr>
        <p:spPr>
          <a:xfrm>
            <a:off x="812800" y="1285218"/>
            <a:ext cx="5181600" cy="2611239"/>
          </a:xfrm>
          <a:prstGeom prst="roundRect">
            <a:avLst>
              <a:gd name="adj" fmla="val 3891"/>
            </a:avLst>
          </a:prstGeom>
          <a:solidFill>
            <a:srgbClr val="FFFFFF"/>
          </a:solidFill>
          <a:ln/>
        </p:spPr>
      </p:sp>
      <p:sp>
        <p:nvSpPr>
          <p:cNvPr id="4" name="Shape 2"/>
          <p:cNvSpPr/>
          <p:nvPr/>
        </p:nvSpPr>
        <p:spPr>
          <a:xfrm>
            <a:off x="812800" y="1285218"/>
            <a:ext cx="5181600" cy="2611239"/>
          </a:xfrm>
          <a:custGeom>
            <a:avLst/>
            <a:gdLst/>
            <a:ahLst/>
            <a:cxnLst/>
            <a:rect l="l" t="t" r="r" b="b"/>
            <a:pathLst>
              <a:path w="5181600" h="2611239">
                <a:moveTo>
                  <a:pt x="0" y="101600"/>
                </a:moveTo>
                <a:lnTo>
                  <a:pt x="0" y="101600"/>
                </a:lnTo>
                <a:arcTo hR="101600" wR="101600" stAng="10800000" swAng="5400000"/>
                <a:lnTo>
                  <a:pt x="5080000" y="0"/>
                </a:lnTo>
                <a:arcTo hR="101600" wR="101600" stAng="16200000" swAng="5400000"/>
                <a:lnTo>
                  <a:pt x="5181600" y="101600"/>
                </a:lnTo>
                <a:arcTo hR="50800" wR="101600" stAng="0" swAng="-5400000"/>
                <a:lnTo>
                  <a:pt x="101600" y="50800"/>
                </a:lnTo>
                <a:arcTo hR="50800" wR="101600" stAng="16200000" swAng="-5400000"/>
                <a:close/>
              </a:path>
            </a:pathLst>
          </a:custGeom>
          <a:solidFill>
            <a:srgbClr val="0072CE"/>
          </a:solidFill>
          <a:ln/>
        </p:spPr>
      </p:sp>
      <p:sp>
        <p:nvSpPr>
          <p:cNvPr id="5" name="Text 3"/>
          <p:cNvSpPr/>
          <p:nvPr/>
        </p:nvSpPr>
        <p:spPr>
          <a:xfrm>
            <a:off x="1066800" y="1564618"/>
            <a:ext cx="4813808"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072CE"/>
                </a:solidFill>
                <a:latin typeface="Public Sans" pitchFamily="34" charset="0"/>
                <a:ea typeface="Public Sans" pitchFamily="34" charset="-122"/>
                <a:cs typeface="Public Sans" pitchFamily="34" charset="-120"/>
              </a:rPr>
              <a:t>Delivered and working</a:t>
            </a:r>
            <a:endParaRPr lang="en-US" sz="1800" dirty="0"/>
          </a:p>
        </p:txBody>
      </p:sp>
      <p:sp>
        <p:nvSpPr>
          <p:cNvPr id="6" name="Text 4"/>
          <p:cNvSpPr/>
          <p:nvPr/>
        </p:nvSpPr>
        <p:spPr>
          <a:xfrm>
            <a:off x="1158113" y="1927820"/>
            <a:ext cx="4714875" cy="1765432"/>
          </a:xfrm>
          <a:prstGeom prst="rect">
            <a:avLst/>
          </a:prstGeom>
          <a:noFill/>
          <a:ln/>
        </p:spPr>
        <p:txBody>
          <a:bodyPr wrap="square" lIns="0" tIns="0" rIns="0" bIns="0" rtlCol="0" anchor="t">
            <a:normAutofit/>
          </a:bodyPr>
          <a:lstStyle/>
          <a:p>
            <a:pPr algn="l" marL="162687" indent="-162687">
              <a:lnSpc>
                <a:spcPts val="1958"/>
              </a:lnSpc>
              <a:buSzPct val="100000"/>
              <a:buChar char="•"/>
            </a:pPr>
            <a:r>
              <a:rPr lang="en-US" sz="1350" dirty="0">
                <a:solidFill>
                  <a:srgbClr val="0B2545"/>
                </a:solidFill>
                <a:latin typeface="Public Sans" pitchFamily="34" charset="0"/>
                <a:ea typeface="Public Sans" pitchFamily="34" charset="-122"/>
                <a:cs typeface="Public Sans" pitchFamily="34" charset="-120"/>
              </a:rPr>
              <a:t>Scan ingestion from Excel workbooks</a:t>
            </a:r>
            <a:endParaRPr lang="en-US" sz="1350" dirty="0"/>
          </a:p>
          <a:p>
            <a:pPr algn="l" marL="162687" indent="-162687">
              <a:lnSpc>
                <a:spcPts val="1958"/>
              </a:lnSpc>
              <a:buSzPct val="100000"/>
              <a:buChar char="•"/>
            </a:pPr>
            <a:r>
              <a:rPr lang="en-US" sz="1350" dirty="0">
                <a:solidFill>
                  <a:srgbClr val="0B2545"/>
                </a:solidFill>
                <a:latin typeface="Public Sans" pitchFamily="34" charset="0"/>
                <a:ea typeface="Public Sans" pitchFamily="34" charset="-122"/>
                <a:cs typeface="Public Sans" pitchFamily="34" charset="-120"/>
              </a:rPr>
              <a:t>Incident creation and Kafka events</a:t>
            </a:r>
            <a:endParaRPr lang="en-US" sz="1350" dirty="0"/>
          </a:p>
          <a:p>
            <a:pPr algn="l" marL="162687" indent="-162687">
              <a:lnSpc>
                <a:spcPts val="1958"/>
              </a:lnSpc>
              <a:buSzPct val="100000"/>
              <a:buChar char="•"/>
            </a:pPr>
            <a:r>
              <a:rPr lang="en-US" sz="1350" dirty="0">
                <a:solidFill>
                  <a:srgbClr val="0B2545"/>
                </a:solidFill>
                <a:latin typeface="Public Sans" pitchFamily="34" charset="0"/>
                <a:ea typeface="Public Sans" pitchFamily="34" charset="-122"/>
                <a:cs typeface="Public Sans" pitchFamily="34" charset="-120"/>
              </a:rPr>
              <a:t>Similar-fix finder and AI plan builder</a:t>
            </a:r>
            <a:endParaRPr lang="en-US" sz="1350" dirty="0"/>
          </a:p>
          <a:p>
            <a:pPr algn="l" marL="162687" indent="-162687">
              <a:lnSpc>
                <a:spcPts val="1958"/>
              </a:lnSpc>
              <a:buSzPct val="100000"/>
              <a:buChar char="•"/>
            </a:pPr>
            <a:r>
              <a:rPr lang="en-US" sz="1350" dirty="0">
                <a:solidFill>
                  <a:srgbClr val="0B2545"/>
                </a:solidFill>
                <a:latin typeface="Public Sans" pitchFamily="34" charset="0"/>
                <a:ea typeface="Public Sans" pitchFamily="34" charset="-122"/>
                <a:cs typeface="Public Sans" pitchFamily="34" charset="-120"/>
              </a:rPr>
              <a:t>Chat assistant with 60 tools and a confirm step</a:t>
            </a:r>
            <a:endParaRPr lang="en-US" sz="1350" dirty="0"/>
          </a:p>
          <a:p>
            <a:pPr algn="l" marL="162687" indent="-162687">
              <a:lnSpc>
                <a:spcPts val="1958"/>
              </a:lnSpc>
              <a:buSzPct val="100000"/>
              <a:buChar char="•"/>
            </a:pPr>
            <a:r>
              <a:rPr lang="en-US" sz="1350" dirty="0">
                <a:solidFill>
                  <a:srgbClr val="0B2545"/>
                </a:solidFill>
                <a:latin typeface="Public Sans" pitchFamily="34" charset="0"/>
                <a:ea typeface="Public Sans" pitchFamily="34" charset="-122"/>
                <a:cs typeface="Public Sans" pitchFamily="34" charset="-120"/>
              </a:rPr>
              <a:t>Plan, approval and execution workflow</a:t>
            </a:r>
            <a:endParaRPr lang="en-US" sz="1350" dirty="0"/>
          </a:p>
          <a:p>
            <a:pPr algn="l" marL="162687" indent="-162687">
              <a:lnSpc>
                <a:spcPts val="1958"/>
              </a:lnSpc>
              <a:buSzPct val="100000"/>
              <a:buChar char="•"/>
            </a:pPr>
            <a:r>
              <a:rPr lang="en-US" sz="1350" dirty="0">
                <a:solidFill>
                  <a:srgbClr val="0B2545"/>
                </a:solidFill>
                <a:latin typeface="Public Sans" pitchFamily="34" charset="0"/>
                <a:ea typeface="Public Sans" pitchFamily="34" charset="-122"/>
                <a:cs typeface="Public Sans" pitchFamily="34" charset="-120"/>
              </a:rPr>
              <a:t>Role-based access with JWT sign-in</a:t>
            </a:r>
            <a:endParaRPr lang="en-US" sz="1350" dirty="0"/>
          </a:p>
          <a:p>
            <a:pPr algn="l" marL="162687" indent="-162687">
              <a:lnSpc>
                <a:spcPts val="1958"/>
              </a:lnSpc>
              <a:buSzPct val="100000"/>
              <a:buChar char="•"/>
            </a:pPr>
            <a:r>
              <a:rPr lang="en-US" sz="1350" dirty="0">
                <a:solidFill>
                  <a:srgbClr val="0B2545"/>
                </a:solidFill>
                <a:latin typeface="Public Sans" pitchFamily="34" charset="0"/>
                <a:ea typeface="Public Sans" pitchFamily="34" charset="-122"/>
                <a:cs typeface="Public Sans" pitchFamily="34" charset="-120"/>
              </a:rPr>
              <a:t>Queue worker with retries and live logs</a:t>
            </a:r>
            <a:endParaRPr lang="en-US" sz="1350" dirty="0"/>
          </a:p>
        </p:txBody>
      </p:sp>
      <p:sp>
        <p:nvSpPr>
          <p:cNvPr id="7" name="Shape 5"/>
          <p:cNvSpPr/>
          <p:nvPr/>
        </p:nvSpPr>
        <p:spPr>
          <a:xfrm>
            <a:off x="6197600" y="1285218"/>
            <a:ext cx="5181600" cy="2611239"/>
          </a:xfrm>
          <a:prstGeom prst="roundRect">
            <a:avLst>
              <a:gd name="adj" fmla="val 3891"/>
            </a:avLst>
          </a:prstGeom>
          <a:solidFill>
            <a:srgbClr val="FFFFFF"/>
          </a:solidFill>
          <a:ln/>
        </p:spPr>
      </p:sp>
      <p:sp>
        <p:nvSpPr>
          <p:cNvPr id="8" name="Shape 6"/>
          <p:cNvSpPr/>
          <p:nvPr/>
        </p:nvSpPr>
        <p:spPr>
          <a:xfrm>
            <a:off x="6197600" y="1285218"/>
            <a:ext cx="5181600" cy="2611239"/>
          </a:xfrm>
          <a:custGeom>
            <a:avLst/>
            <a:gdLst/>
            <a:ahLst/>
            <a:cxnLst/>
            <a:rect l="l" t="t" r="r" b="b"/>
            <a:pathLst>
              <a:path w="5181600" h="2611239">
                <a:moveTo>
                  <a:pt x="0" y="101600"/>
                </a:moveTo>
                <a:lnTo>
                  <a:pt x="0" y="101600"/>
                </a:lnTo>
                <a:arcTo hR="101600" wR="101600" stAng="10800000" swAng="5400000"/>
                <a:lnTo>
                  <a:pt x="5080000" y="0"/>
                </a:lnTo>
                <a:arcTo hR="101600" wR="101600" stAng="16200000" swAng="5400000"/>
                <a:lnTo>
                  <a:pt x="5181600" y="101600"/>
                </a:lnTo>
                <a:arcTo hR="50800" wR="101600" stAng="0" swAng="-5400000"/>
                <a:lnTo>
                  <a:pt x="101600" y="50800"/>
                </a:lnTo>
                <a:arcTo hR="50800" wR="101600" stAng="16200000" swAng="-5400000"/>
                <a:close/>
              </a:path>
            </a:pathLst>
          </a:custGeom>
          <a:solidFill>
            <a:srgbClr val="F5A623"/>
          </a:solidFill>
          <a:ln/>
        </p:spPr>
      </p:sp>
      <p:sp>
        <p:nvSpPr>
          <p:cNvPr id="9" name="Text 7"/>
          <p:cNvSpPr/>
          <p:nvPr/>
        </p:nvSpPr>
        <p:spPr>
          <a:xfrm>
            <a:off x="6451600" y="1564618"/>
            <a:ext cx="4813808"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26A00"/>
                </a:solidFill>
                <a:latin typeface="Public Sans" pitchFamily="34" charset="0"/>
                <a:ea typeface="Public Sans" pitchFamily="34" charset="-122"/>
                <a:cs typeface="Public Sans" pitchFamily="34" charset="-120"/>
              </a:rPr>
              <a:t>Next, outside this demo</a:t>
            </a:r>
            <a:endParaRPr lang="en-US" sz="1800" dirty="0"/>
          </a:p>
        </p:txBody>
      </p:sp>
      <p:sp>
        <p:nvSpPr>
          <p:cNvPr id="10" name="Text 8"/>
          <p:cNvSpPr/>
          <p:nvPr/>
        </p:nvSpPr>
        <p:spPr>
          <a:xfrm>
            <a:off x="6542913" y="1927820"/>
            <a:ext cx="4714875" cy="1765432"/>
          </a:xfrm>
          <a:prstGeom prst="rect">
            <a:avLst/>
          </a:prstGeom>
          <a:noFill/>
          <a:ln/>
        </p:spPr>
        <p:txBody>
          <a:bodyPr wrap="square" lIns="0" tIns="0" rIns="0" bIns="0" rtlCol="0" anchor="t">
            <a:normAutofit/>
          </a:bodyPr>
          <a:lstStyle/>
          <a:p>
            <a:pPr algn="l" marL="162687" indent="-162687">
              <a:lnSpc>
                <a:spcPts val="1958"/>
              </a:lnSpc>
              <a:buSzPct val="100000"/>
              <a:buChar char="•"/>
            </a:pPr>
            <a:r>
              <a:rPr lang="en-US" sz="1350" dirty="0">
                <a:solidFill>
                  <a:srgbClr val="0B2545"/>
                </a:solidFill>
                <a:latin typeface="Public Sans" pitchFamily="34" charset="0"/>
                <a:ea typeface="Public Sans" pitchFamily="34" charset="-122"/>
                <a:cs typeface="Public Sans" pitchFamily="34" charset="-120"/>
              </a:rPr>
              <a:t>Real executors: Ansible and AWS SSM (simulated today)</a:t>
            </a:r>
            <a:endParaRPr lang="en-US" sz="1350" dirty="0"/>
          </a:p>
          <a:p>
            <a:pPr algn="l" marL="162687" indent="-162687">
              <a:lnSpc>
                <a:spcPts val="1958"/>
              </a:lnSpc>
              <a:buSzPct val="100000"/>
              <a:buChar char="•"/>
            </a:pPr>
            <a:r>
              <a:rPr lang="en-US" sz="1350" dirty="0">
                <a:solidFill>
                  <a:srgbClr val="0B2545"/>
                </a:solidFill>
                <a:latin typeface="Public Sans" pitchFamily="34" charset="0"/>
                <a:ea typeface="Public Sans" pitchFamily="34" charset="-122"/>
                <a:cs typeface="Public Sans" pitchFamily="34" charset="-120"/>
              </a:rPr>
              <a:t>Single sign-on through the identity provider</a:t>
            </a:r>
            <a:endParaRPr lang="en-US" sz="1350" dirty="0"/>
          </a:p>
          <a:p>
            <a:pPr algn="l" marL="162687" indent="-162687">
              <a:lnSpc>
                <a:spcPts val="1958"/>
              </a:lnSpc>
              <a:buSzPct val="100000"/>
              <a:buChar char="•"/>
            </a:pPr>
            <a:r>
              <a:rPr lang="en-US" sz="1350" dirty="0">
                <a:solidFill>
                  <a:srgbClr val="0B2545"/>
                </a:solidFill>
                <a:latin typeface="Public Sans" pitchFamily="34" charset="0"/>
                <a:ea typeface="Public Sans" pitchFamily="34" charset="-122"/>
                <a:cs typeface="Public Sans" pitchFamily="34" charset="-120"/>
              </a:rPr>
              <a:t>Prove live Gemini, Kafka and Docker runs end to end</a:t>
            </a:r>
            <a:endParaRPr lang="en-US" sz="1350" dirty="0"/>
          </a:p>
          <a:p>
            <a:pPr algn="l" marL="162687" indent="-162687">
              <a:lnSpc>
                <a:spcPts val="1958"/>
              </a:lnSpc>
              <a:buSzPct val="100000"/>
              <a:buChar char="•"/>
            </a:pPr>
            <a:r>
              <a:rPr lang="en-US" sz="1350" dirty="0">
                <a:solidFill>
                  <a:srgbClr val="0B2545"/>
                </a:solidFill>
                <a:latin typeface="Public Sans" pitchFamily="34" charset="0"/>
                <a:ea typeface="Public Sans" pitchFamily="34" charset="-122"/>
                <a:cs typeface="Public Sans" pitchFamily="34" charset="-120"/>
              </a:rPr>
              <a:t>Tune the similarity threshold on live history</a:t>
            </a:r>
            <a:endParaRPr lang="en-US" sz="1350" dirty="0"/>
          </a:p>
          <a:p>
            <a:pPr algn="l" marL="162687" indent="-162687">
              <a:lnSpc>
                <a:spcPts val="1958"/>
              </a:lnSpc>
              <a:buSzPct val="100000"/>
              <a:buChar char="•"/>
            </a:pPr>
            <a:r>
              <a:rPr lang="en-US" sz="1350" dirty="0">
                <a:solidFill>
                  <a:srgbClr val="0B2545"/>
                </a:solidFill>
                <a:latin typeface="Public Sans" pitchFamily="34" charset="0"/>
                <a:ea typeface="Public Sans" pitchFamily="34" charset="-122"/>
                <a:cs typeface="Public Sans" pitchFamily="34" charset="-120"/>
              </a:rPr>
              <a:t>More agents through the same plug-in interface</a:t>
            </a:r>
            <a:endParaRPr lang="en-US" sz="1350" dirty="0"/>
          </a:p>
          <a:p>
            <a:pPr algn="l" marL="162687" indent="-162687">
              <a:lnSpc>
                <a:spcPts val="1958"/>
              </a:lnSpc>
              <a:buSzPct val="100000"/>
              <a:buChar char="•"/>
            </a:pPr>
            <a:r>
              <a:rPr lang="en-US" sz="1350" dirty="0">
                <a:solidFill>
                  <a:srgbClr val="0B2545"/>
                </a:solidFill>
                <a:latin typeface="Public Sans" pitchFamily="34" charset="0"/>
                <a:ea typeface="Public Sans" pitchFamily="34" charset="-122"/>
                <a:cs typeface="Public Sans" pitchFamily="34" charset="-120"/>
              </a:rPr>
              <a:t>Rotate the sample credentials before any shared use</a:t>
            </a:r>
            <a:endParaRPr lang="en-US" sz="1350" dirty="0"/>
          </a:p>
        </p:txBody>
      </p:sp>
      <p:sp>
        <p:nvSpPr>
          <p:cNvPr id="11" name="Text 9"/>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Bulwark | Innova Solutions</a:t>
            </a:r>
            <a:endParaRPr lang="en-US" sz="1200" dirty="0"/>
          </a:p>
        </p:txBody>
      </p:sp>
      <p:sp>
        <p:nvSpPr>
          <p:cNvPr id="12" name="Text 1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2545"/>
        </a:solidFill>
      </p:bgPr>
    </p:bg>
    <p:spTree>
      <p:nvGrpSpPr>
        <p:cNvPr id="1" name=""/>
        <p:cNvGrpSpPr/>
        <p:nvPr/>
      </p:nvGrpSpPr>
      <p:grpSpPr>
        <a:xfrm>
          <a:off x="0" y="0"/>
          <a:ext cx="0" cy="0"/>
          <a:chOff x="0" y="0"/>
          <a:chExt cx="0" cy="0"/>
        </a:xfrm>
      </p:grpSpPr>
      <p:sp>
        <p:nvSpPr>
          <p:cNvPr id="2" name="Text 0"/>
          <p:cNvSpPr/>
          <p:nvPr/>
        </p:nvSpPr>
        <p:spPr>
          <a:xfrm>
            <a:off x="812800" y="6096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F5F9FD"/>
                </a:solidFill>
                <a:latin typeface="Source Serif 4" pitchFamily="18" charset="0"/>
                <a:ea typeface="Source Serif 4" pitchFamily="18" charset="-122"/>
                <a:cs typeface="Source Serif 4" pitchFamily="18" charset="-120"/>
              </a:rPr>
              <a:t>Next steps</a:t>
            </a:r>
            <a:endParaRPr lang="en-US" sz="3200" dirty="0"/>
          </a:p>
        </p:txBody>
      </p:sp>
      <p:sp>
        <p:nvSpPr>
          <p:cNvPr id="3" name="Shape 1"/>
          <p:cNvSpPr/>
          <p:nvPr/>
        </p:nvSpPr>
        <p:spPr>
          <a:xfrm>
            <a:off x="812800" y="1361418"/>
            <a:ext cx="2527300" cy="1457854"/>
          </a:xfrm>
          <a:prstGeom prst="roundRect">
            <a:avLst>
              <a:gd name="adj" fmla="val 6969"/>
            </a:avLst>
          </a:prstGeom>
          <a:solidFill>
            <a:srgbClr val="12345F"/>
          </a:solidFill>
          <a:ln/>
        </p:spPr>
      </p:sp>
      <p:sp>
        <p:nvSpPr>
          <p:cNvPr id="4" name="Shape 2"/>
          <p:cNvSpPr/>
          <p:nvPr/>
        </p:nvSpPr>
        <p:spPr>
          <a:xfrm>
            <a:off x="812800" y="1361418"/>
            <a:ext cx="2527300" cy="1457854"/>
          </a:xfrm>
          <a:custGeom>
            <a:avLst/>
            <a:gdLst/>
            <a:ahLst/>
            <a:cxnLst/>
            <a:rect l="l" t="t" r="r" b="b"/>
            <a:pathLst>
              <a:path w="2527300" h="1457854">
                <a:moveTo>
                  <a:pt x="0" y="101600"/>
                </a:moveTo>
                <a:lnTo>
                  <a:pt x="0" y="101600"/>
                </a:lnTo>
                <a:arcTo hR="101600" wR="101600" stAng="10800000" swAng="5400000"/>
                <a:lnTo>
                  <a:pt x="2425700" y="0"/>
                </a:lnTo>
                <a:arcTo hR="101600" wR="101600" stAng="16200000" swAng="5400000"/>
                <a:lnTo>
                  <a:pt x="2527300" y="101600"/>
                </a:lnTo>
                <a:arcTo hR="63500" wR="101600" stAng="0" swAng="-5400000"/>
                <a:lnTo>
                  <a:pt x="101600" y="38100"/>
                </a:lnTo>
                <a:arcTo hR="63500" wR="101600" stAng="16200000" swAng="-5400000"/>
                <a:close/>
              </a:path>
            </a:pathLst>
          </a:custGeom>
          <a:solidFill>
            <a:srgbClr val="0072CE"/>
          </a:solidFill>
          <a:ln/>
        </p:spPr>
      </p:sp>
      <p:sp>
        <p:nvSpPr>
          <p:cNvPr id="5" name="Text 3"/>
          <p:cNvSpPr/>
          <p:nvPr/>
        </p:nvSpPr>
        <p:spPr>
          <a:xfrm>
            <a:off x="1003300" y="1602718"/>
            <a:ext cx="2210689"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9FD"/>
                </a:solidFill>
                <a:latin typeface="Public Sans" pitchFamily="34" charset="0"/>
                <a:ea typeface="Public Sans" pitchFamily="34" charset="-122"/>
                <a:cs typeface="Public Sans" pitchFamily="34" charset="-120"/>
              </a:rPr>
              <a:t>Real executors</a:t>
            </a:r>
            <a:endParaRPr lang="en-US" sz="1600" dirty="0"/>
          </a:p>
        </p:txBody>
      </p:sp>
      <p:sp>
        <p:nvSpPr>
          <p:cNvPr id="6" name="Text 4"/>
          <p:cNvSpPr/>
          <p:nvPr/>
        </p:nvSpPr>
        <p:spPr>
          <a:xfrm>
            <a:off x="1003300" y="1922735"/>
            <a:ext cx="2210689"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DF2"/>
                </a:solidFill>
                <a:latin typeface="Public Sans" pitchFamily="34" charset="0"/>
                <a:ea typeface="Public Sans" pitchFamily="34" charset="-122"/>
                <a:cs typeface="Public Sans" pitchFamily="34" charset="-120"/>
              </a:rPr>
              <a:t>Ansible and AWS SSM in place of the simulator.</a:t>
            </a:r>
            <a:endParaRPr lang="en-US" sz="1300" dirty="0"/>
          </a:p>
        </p:txBody>
      </p:sp>
      <p:sp>
        <p:nvSpPr>
          <p:cNvPr id="7" name="Shape 5"/>
          <p:cNvSpPr/>
          <p:nvPr/>
        </p:nvSpPr>
        <p:spPr>
          <a:xfrm>
            <a:off x="3492500" y="1361418"/>
            <a:ext cx="2527300" cy="1457854"/>
          </a:xfrm>
          <a:prstGeom prst="roundRect">
            <a:avLst>
              <a:gd name="adj" fmla="val 6969"/>
            </a:avLst>
          </a:prstGeom>
          <a:solidFill>
            <a:srgbClr val="12345F"/>
          </a:solidFill>
          <a:ln/>
        </p:spPr>
      </p:sp>
      <p:sp>
        <p:nvSpPr>
          <p:cNvPr id="8" name="Shape 6"/>
          <p:cNvSpPr/>
          <p:nvPr/>
        </p:nvSpPr>
        <p:spPr>
          <a:xfrm>
            <a:off x="3492500" y="1361418"/>
            <a:ext cx="2527300" cy="1457854"/>
          </a:xfrm>
          <a:custGeom>
            <a:avLst/>
            <a:gdLst/>
            <a:ahLst/>
            <a:cxnLst/>
            <a:rect l="l" t="t" r="r" b="b"/>
            <a:pathLst>
              <a:path w="2527300" h="1457854">
                <a:moveTo>
                  <a:pt x="0" y="101600"/>
                </a:moveTo>
                <a:lnTo>
                  <a:pt x="0" y="101600"/>
                </a:lnTo>
                <a:arcTo hR="101600" wR="101600" stAng="10800000" swAng="5400000"/>
                <a:lnTo>
                  <a:pt x="2425700" y="0"/>
                </a:lnTo>
                <a:arcTo hR="101600" wR="101600" stAng="16200000" swAng="5400000"/>
                <a:lnTo>
                  <a:pt x="2527300" y="101600"/>
                </a:lnTo>
                <a:arcTo hR="63500" wR="101600" stAng="0" swAng="-5400000"/>
                <a:lnTo>
                  <a:pt x="101600" y="38100"/>
                </a:lnTo>
                <a:arcTo hR="63500" wR="101600" stAng="16200000" swAng="-5400000"/>
                <a:close/>
              </a:path>
            </a:pathLst>
          </a:custGeom>
          <a:solidFill>
            <a:srgbClr val="0072CE"/>
          </a:solidFill>
          <a:ln/>
        </p:spPr>
      </p:sp>
      <p:sp>
        <p:nvSpPr>
          <p:cNvPr id="9" name="Text 7"/>
          <p:cNvSpPr/>
          <p:nvPr/>
        </p:nvSpPr>
        <p:spPr>
          <a:xfrm>
            <a:off x="3683000" y="1602718"/>
            <a:ext cx="2210689"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9FD"/>
                </a:solidFill>
                <a:latin typeface="Public Sans" pitchFamily="34" charset="0"/>
                <a:ea typeface="Public Sans" pitchFamily="34" charset="-122"/>
                <a:cs typeface="Public Sans" pitchFamily="34" charset="-120"/>
              </a:rPr>
              <a:t>Single sign-on</a:t>
            </a:r>
            <a:endParaRPr lang="en-US" sz="1600" dirty="0"/>
          </a:p>
        </p:txBody>
      </p:sp>
      <p:sp>
        <p:nvSpPr>
          <p:cNvPr id="10" name="Text 8"/>
          <p:cNvSpPr/>
          <p:nvPr/>
        </p:nvSpPr>
        <p:spPr>
          <a:xfrm>
            <a:off x="3683000" y="1922735"/>
            <a:ext cx="2210689"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DF2"/>
                </a:solidFill>
                <a:latin typeface="Public Sans" pitchFamily="34" charset="0"/>
                <a:ea typeface="Public Sans" pitchFamily="34" charset="-122"/>
                <a:cs typeface="Public Sans" pitchFamily="34" charset="-120"/>
              </a:rPr>
              <a:t>Tokens issued by the identity provider.</a:t>
            </a:r>
            <a:endParaRPr lang="en-US" sz="1300" dirty="0"/>
          </a:p>
        </p:txBody>
      </p:sp>
      <p:sp>
        <p:nvSpPr>
          <p:cNvPr id="11" name="Shape 9"/>
          <p:cNvSpPr/>
          <p:nvPr/>
        </p:nvSpPr>
        <p:spPr>
          <a:xfrm>
            <a:off x="6172200" y="1361418"/>
            <a:ext cx="2527300" cy="1457854"/>
          </a:xfrm>
          <a:prstGeom prst="roundRect">
            <a:avLst>
              <a:gd name="adj" fmla="val 6969"/>
            </a:avLst>
          </a:prstGeom>
          <a:solidFill>
            <a:srgbClr val="12345F"/>
          </a:solidFill>
          <a:ln/>
        </p:spPr>
      </p:sp>
      <p:sp>
        <p:nvSpPr>
          <p:cNvPr id="12" name="Shape 10"/>
          <p:cNvSpPr/>
          <p:nvPr/>
        </p:nvSpPr>
        <p:spPr>
          <a:xfrm>
            <a:off x="6172200" y="1361418"/>
            <a:ext cx="2527300" cy="1457854"/>
          </a:xfrm>
          <a:custGeom>
            <a:avLst/>
            <a:gdLst/>
            <a:ahLst/>
            <a:cxnLst/>
            <a:rect l="l" t="t" r="r" b="b"/>
            <a:pathLst>
              <a:path w="2527300" h="1457854">
                <a:moveTo>
                  <a:pt x="0" y="101600"/>
                </a:moveTo>
                <a:lnTo>
                  <a:pt x="0" y="101600"/>
                </a:lnTo>
                <a:arcTo hR="101600" wR="101600" stAng="10800000" swAng="5400000"/>
                <a:lnTo>
                  <a:pt x="2425700" y="0"/>
                </a:lnTo>
                <a:arcTo hR="101600" wR="101600" stAng="16200000" swAng="5400000"/>
                <a:lnTo>
                  <a:pt x="2527300" y="101600"/>
                </a:lnTo>
                <a:arcTo hR="63500" wR="101600" stAng="0" swAng="-5400000"/>
                <a:lnTo>
                  <a:pt x="101600" y="38100"/>
                </a:lnTo>
                <a:arcTo hR="63500" wR="101600" stAng="16200000" swAng="-5400000"/>
                <a:close/>
              </a:path>
            </a:pathLst>
          </a:custGeom>
          <a:solidFill>
            <a:srgbClr val="0072CE"/>
          </a:solidFill>
          <a:ln/>
        </p:spPr>
      </p:sp>
      <p:sp>
        <p:nvSpPr>
          <p:cNvPr id="13" name="Text 11"/>
          <p:cNvSpPr/>
          <p:nvPr/>
        </p:nvSpPr>
        <p:spPr>
          <a:xfrm>
            <a:off x="6362700" y="1602718"/>
            <a:ext cx="2210689"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9FD"/>
                </a:solidFill>
                <a:latin typeface="Public Sans" pitchFamily="34" charset="0"/>
                <a:ea typeface="Public Sans" pitchFamily="34" charset="-122"/>
                <a:cs typeface="Public Sans" pitchFamily="34" charset="-120"/>
              </a:rPr>
              <a:t>Tune matching</a:t>
            </a:r>
            <a:endParaRPr lang="en-US" sz="1600" dirty="0"/>
          </a:p>
        </p:txBody>
      </p:sp>
      <p:sp>
        <p:nvSpPr>
          <p:cNvPr id="14" name="Text 12"/>
          <p:cNvSpPr/>
          <p:nvPr/>
        </p:nvSpPr>
        <p:spPr>
          <a:xfrm>
            <a:off x="6362700" y="1922735"/>
            <a:ext cx="2210689"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DF2"/>
                </a:solidFill>
                <a:latin typeface="Public Sans" pitchFamily="34" charset="0"/>
                <a:ea typeface="Public Sans" pitchFamily="34" charset="-122"/>
                <a:cs typeface="Public Sans" pitchFamily="34" charset="-120"/>
              </a:rPr>
              <a:t>Calibrate the similarity threshold on live history.</a:t>
            </a:r>
            <a:endParaRPr lang="en-US" sz="1300" dirty="0"/>
          </a:p>
        </p:txBody>
      </p:sp>
      <p:sp>
        <p:nvSpPr>
          <p:cNvPr id="15" name="Shape 13"/>
          <p:cNvSpPr/>
          <p:nvPr/>
        </p:nvSpPr>
        <p:spPr>
          <a:xfrm>
            <a:off x="8851900" y="1361418"/>
            <a:ext cx="2527300" cy="1457854"/>
          </a:xfrm>
          <a:prstGeom prst="roundRect">
            <a:avLst>
              <a:gd name="adj" fmla="val 6969"/>
            </a:avLst>
          </a:prstGeom>
          <a:solidFill>
            <a:srgbClr val="12345F"/>
          </a:solidFill>
          <a:ln/>
        </p:spPr>
      </p:sp>
      <p:sp>
        <p:nvSpPr>
          <p:cNvPr id="16" name="Shape 14"/>
          <p:cNvSpPr/>
          <p:nvPr/>
        </p:nvSpPr>
        <p:spPr>
          <a:xfrm>
            <a:off x="8851900" y="1361418"/>
            <a:ext cx="2527300" cy="1457854"/>
          </a:xfrm>
          <a:custGeom>
            <a:avLst/>
            <a:gdLst/>
            <a:ahLst/>
            <a:cxnLst/>
            <a:rect l="l" t="t" r="r" b="b"/>
            <a:pathLst>
              <a:path w="2527300" h="1457854">
                <a:moveTo>
                  <a:pt x="0" y="101600"/>
                </a:moveTo>
                <a:lnTo>
                  <a:pt x="0" y="101600"/>
                </a:lnTo>
                <a:arcTo hR="101600" wR="101600" stAng="10800000" swAng="5400000"/>
                <a:lnTo>
                  <a:pt x="2425700" y="0"/>
                </a:lnTo>
                <a:arcTo hR="101600" wR="101600" stAng="16200000" swAng="5400000"/>
                <a:lnTo>
                  <a:pt x="2527300" y="101600"/>
                </a:lnTo>
                <a:arcTo hR="63500" wR="101600" stAng="0" swAng="-5400000"/>
                <a:lnTo>
                  <a:pt x="101600" y="38100"/>
                </a:lnTo>
                <a:arcTo hR="63500" wR="101600" stAng="16200000" swAng="-5400000"/>
                <a:close/>
              </a:path>
            </a:pathLst>
          </a:custGeom>
          <a:solidFill>
            <a:srgbClr val="F5A623"/>
          </a:solidFill>
          <a:ln/>
        </p:spPr>
      </p:sp>
      <p:sp>
        <p:nvSpPr>
          <p:cNvPr id="17" name="Text 15"/>
          <p:cNvSpPr/>
          <p:nvPr/>
        </p:nvSpPr>
        <p:spPr>
          <a:xfrm>
            <a:off x="9042400" y="1602718"/>
            <a:ext cx="2210689"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9FD"/>
                </a:solidFill>
                <a:latin typeface="Public Sans" pitchFamily="34" charset="0"/>
                <a:ea typeface="Public Sans" pitchFamily="34" charset="-122"/>
                <a:cs typeface="Public Sans" pitchFamily="34" charset="-120"/>
              </a:rPr>
              <a:t>More agents</a:t>
            </a:r>
            <a:endParaRPr lang="en-US" sz="1600" dirty="0"/>
          </a:p>
        </p:txBody>
      </p:sp>
      <p:sp>
        <p:nvSpPr>
          <p:cNvPr id="18" name="Text 16"/>
          <p:cNvSpPr/>
          <p:nvPr/>
        </p:nvSpPr>
        <p:spPr>
          <a:xfrm>
            <a:off x="9042400" y="1922735"/>
            <a:ext cx="2210689"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DF2"/>
                </a:solidFill>
                <a:latin typeface="Public Sans" pitchFamily="34" charset="0"/>
                <a:ea typeface="Public Sans" pitchFamily="34" charset="-122"/>
                <a:cs typeface="Public Sans" pitchFamily="34" charset="-120"/>
              </a:rPr>
              <a:t>Add agents and chat skills through the same plug-in interface.</a:t>
            </a:r>
            <a:endParaRPr lang="en-US" sz="1300" dirty="0"/>
          </a:p>
        </p:txBody>
      </p:sp>
      <p:sp>
        <p:nvSpPr>
          <p:cNvPr id="19" name="Text 17"/>
          <p:cNvSpPr/>
          <p:nvPr/>
        </p:nvSpPr>
        <p:spPr>
          <a:xfrm>
            <a:off x="812800" y="52832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dirty="0">
                <a:solidFill>
                  <a:srgbClr val="F5A623"/>
                </a:solidFill>
                <a:latin typeface="Source Serif 4" pitchFamily="18" charset="0"/>
                <a:ea typeface="Source Serif 4" pitchFamily="18" charset="-122"/>
                <a:cs typeface="Source Serif 4" pitchFamily="18" charset="-120"/>
              </a:rPr>
              <a:t>Thank you. Questions?</a:t>
            </a:r>
            <a:endParaRPr lang="en-US" sz="4000" dirty="0"/>
          </a:p>
        </p:txBody>
      </p:sp>
      <p:sp>
        <p:nvSpPr>
          <p:cNvPr id="20" name="Text 18"/>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B4DC"/>
                </a:solidFill>
                <a:latin typeface="Public Sans" pitchFamily="34" charset="0"/>
                <a:ea typeface="Public Sans" pitchFamily="34" charset="-122"/>
                <a:cs typeface="Public Sans" pitchFamily="34" charset="-120"/>
              </a:rPr>
              <a:t>Bulwark | Innova Solutions</a:t>
            </a:r>
            <a:endParaRPr lang="en-US" sz="1200" dirty="0"/>
          </a:p>
        </p:txBody>
      </p:sp>
      <p:sp>
        <p:nvSpPr>
          <p:cNvPr id="21" name="Text 1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B4DC"/>
                </a:solidFill>
                <a:latin typeface="Public Sans" pitchFamily="34" charset="0"/>
                <a:ea typeface="Public Sans" pitchFamily="34" charset="-122"/>
                <a:cs typeface="Public Sans"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9FD"/>
        </a:solidFill>
      </p:bgPr>
    </p:bg>
    <p:spTree>
      <p:nvGrpSpPr>
        <p:cNvPr id="1" name=""/>
        <p:cNvGrpSpPr/>
        <p:nvPr/>
      </p:nvGrpSpPr>
      <p:grpSpPr>
        <a:xfrm>
          <a:off x="0" y="0"/>
          <a:ext cx="0" cy="0"/>
          <a:chOff x="0" y="0"/>
          <a:chExt cx="0" cy="0"/>
        </a:xfrm>
      </p:grpSpPr>
      <p:sp>
        <p:nvSpPr>
          <p:cNvPr id="2" name="Text 0"/>
          <p:cNvSpPr/>
          <p:nvPr/>
        </p:nvSpPr>
        <p:spPr>
          <a:xfrm>
            <a:off x="812800" y="6096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0072CE"/>
                </a:solidFill>
                <a:latin typeface="Public Sans" pitchFamily="34" charset="0"/>
                <a:ea typeface="Public Sans" pitchFamily="34" charset="-122"/>
                <a:cs typeface="Public Sans" pitchFamily="34" charset="-120"/>
              </a:rPr>
              <a:t>APPENDIX</a:t>
            </a:r>
            <a:endParaRPr lang="en-US" sz="1300" dirty="0"/>
          </a:p>
        </p:txBody>
      </p:sp>
      <p:sp>
        <p:nvSpPr>
          <p:cNvPr id="3" name="Text 1"/>
          <p:cNvSpPr/>
          <p:nvPr>
            <p:ph type="title"/>
          </p:nvPr>
        </p:nvSpPr>
        <p:spPr>
          <a:xfrm>
            <a:off x="812800" y="891518"/>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2545"/>
                </a:solidFill>
                <a:latin typeface="Source Serif 4" pitchFamily="18" charset="0"/>
                <a:ea typeface="Source Serif 4" pitchFamily="18" charset="-122"/>
                <a:cs typeface="Source Serif 4" pitchFamily="18" charset="-120"/>
              </a:rPr>
              <a:t>The six apps</a:t>
            </a:r>
            <a:endParaRPr lang="en-US" sz="3200" dirty="0"/>
          </a:p>
        </p:txBody>
      </p:sp>
      <p:sp>
        <p:nvSpPr>
          <p:cNvPr id="4" name="Shape 2"/>
          <p:cNvSpPr/>
          <p:nvPr/>
        </p:nvSpPr>
        <p:spPr>
          <a:xfrm>
            <a:off x="812800" y="1541735"/>
            <a:ext cx="3420533" cy="1790502"/>
          </a:xfrm>
          <a:prstGeom prst="roundRect">
            <a:avLst>
              <a:gd name="adj" fmla="val 5674"/>
            </a:avLst>
          </a:prstGeom>
          <a:solidFill>
            <a:srgbClr val="FFFFFF"/>
          </a:solidFill>
          <a:ln/>
        </p:spPr>
      </p:sp>
      <p:sp>
        <p:nvSpPr>
          <p:cNvPr id="5" name="Shape 3"/>
          <p:cNvSpPr/>
          <p:nvPr/>
        </p:nvSpPr>
        <p:spPr>
          <a:xfrm>
            <a:off x="812800" y="1541735"/>
            <a:ext cx="3420533" cy="1790502"/>
          </a:xfrm>
          <a:custGeom>
            <a:avLst/>
            <a:gdLst/>
            <a:ahLst/>
            <a:cxnLst/>
            <a:rect l="l" t="t" r="r" b="b"/>
            <a:pathLst>
              <a:path w="3420533" h="1790502">
                <a:moveTo>
                  <a:pt x="0" y="101600"/>
                </a:moveTo>
                <a:lnTo>
                  <a:pt x="0" y="101600"/>
                </a:lnTo>
                <a:arcTo hR="101600" wR="101600" stAng="10800000" swAng="5400000"/>
                <a:lnTo>
                  <a:pt x="3318933" y="0"/>
                </a:lnTo>
                <a:arcTo hR="101600" wR="101600" stAng="16200000" swAng="5400000"/>
                <a:lnTo>
                  <a:pt x="3420533" y="101600"/>
                </a:lnTo>
                <a:arcTo hR="63500" wR="101600" stAng="0" swAng="-5400000"/>
                <a:lnTo>
                  <a:pt x="101600" y="38100"/>
                </a:lnTo>
                <a:arcTo hR="63500" wR="101600" stAng="16200000" swAng="-5400000"/>
                <a:close/>
              </a:path>
            </a:pathLst>
          </a:custGeom>
          <a:solidFill>
            <a:srgbClr val="0072CE"/>
          </a:solidFill>
          <a:ln/>
        </p:spPr>
      </p:sp>
      <p:sp>
        <p:nvSpPr>
          <p:cNvPr id="6" name="Text 4"/>
          <p:cNvSpPr/>
          <p:nvPr/>
        </p:nvSpPr>
        <p:spPr>
          <a:xfrm>
            <a:off x="1003300" y="1744935"/>
            <a:ext cx="313071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B7C"/>
                </a:solidFill>
                <a:latin typeface="Public Sans" pitchFamily="34" charset="0"/>
                <a:ea typeface="Public Sans" pitchFamily="34" charset="-122"/>
                <a:cs typeface="Public Sans" pitchFamily="34" charset="-120"/>
              </a:rPr>
              <a:t>1 | BACKEND | PORT 8000</a:t>
            </a:r>
            <a:endParaRPr lang="en-US" sz="1200" dirty="0"/>
          </a:p>
        </p:txBody>
      </p:sp>
      <p:sp>
        <p:nvSpPr>
          <p:cNvPr id="7" name="Text 5"/>
          <p:cNvSpPr/>
          <p:nvPr/>
        </p:nvSpPr>
        <p:spPr>
          <a:xfrm>
            <a:off x="1003300" y="2021756"/>
            <a:ext cx="3130719"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072CE"/>
                </a:solidFill>
                <a:latin typeface="Public Sans" pitchFamily="34" charset="0"/>
                <a:ea typeface="Public Sans" pitchFamily="34" charset="-122"/>
                <a:cs typeface="Public Sans" pitchFamily="34" charset="-120"/>
              </a:rPr>
              <a:t>Bulwark API</a:t>
            </a:r>
            <a:endParaRPr lang="en-US" sz="1700" dirty="0"/>
          </a:p>
        </p:txBody>
      </p:sp>
      <p:sp>
        <p:nvSpPr>
          <p:cNvPr id="8" name="Text 6"/>
          <p:cNvSpPr/>
          <p:nvPr/>
        </p:nvSpPr>
        <p:spPr>
          <a:xfrm>
            <a:off x="1003300" y="2344279"/>
            <a:ext cx="3130719"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0B2545"/>
                </a:solidFill>
                <a:latin typeface="Public Sans" pitchFamily="34" charset="0"/>
                <a:ea typeface="Public Sans" pitchFamily="34" charset="-122"/>
                <a:cs typeface="Public Sans" pitchFamily="34" charset="-120"/>
              </a:rPr>
              <a:t>The brain and the only door to the data: sign-in, roles, 77 routes and the job worker that runs plans.</a:t>
            </a:r>
            <a:endParaRPr lang="en-US" sz="1200" dirty="0"/>
          </a:p>
        </p:txBody>
      </p:sp>
      <p:sp>
        <p:nvSpPr>
          <p:cNvPr id="9" name="Shape 7"/>
          <p:cNvSpPr/>
          <p:nvPr/>
        </p:nvSpPr>
        <p:spPr>
          <a:xfrm>
            <a:off x="4385733" y="1541735"/>
            <a:ext cx="3420533" cy="1790502"/>
          </a:xfrm>
          <a:prstGeom prst="roundRect">
            <a:avLst>
              <a:gd name="adj" fmla="val 5674"/>
            </a:avLst>
          </a:prstGeom>
          <a:solidFill>
            <a:srgbClr val="FFFFFF"/>
          </a:solidFill>
          <a:ln/>
        </p:spPr>
      </p:sp>
      <p:sp>
        <p:nvSpPr>
          <p:cNvPr id="10" name="Shape 8"/>
          <p:cNvSpPr/>
          <p:nvPr/>
        </p:nvSpPr>
        <p:spPr>
          <a:xfrm>
            <a:off x="4385733" y="1541735"/>
            <a:ext cx="3420533" cy="1790502"/>
          </a:xfrm>
          <a:custGeom>
            <a:avLst/>
            <a:gdLst/>
            <a:ahLst/>
            <a:cxnLst/>
            <a:rect l="l" t="t" r="r" b="b"/>
            <a:pathLst>
              <a:path w="3420533" h="1790502">
                <a:moveTo>
                  <a:pt x="0" y="101600"/>
                </a:moveTo>
                <a:lnTo>
                  <a:pt x="0" y="101600"/>
                </a:lnTo>
                <a:arcTo hR="101600" wR="101600" stAng="10800000" swAng="5400000"/>
                <a:lnTo>
                  <a:pt x="3318933" y="0"/>
                </a:lnTo>
                <a:arcTo hR="101600" wR="101600" stAng="16200000" swAng="5400000"/>
                <a:lnTo>
                  <a:pt x="3420533" y="101600"/>
                </a:lnTo>
                <a:arcTo hR="63500" wR="101600" stAng="0" swAng="-5400000"/>
                <a:lnTo>
                  <a:pt x="101600" y="38100"/>
                </a:lnTo>
                <a:arcTo hR="63500" wR="101600" stAng="16200000" swAng="-5400000"/>
                <a:close/>
              </a:path>
            </a:pathLst>
          </a:custGeom>
          <a:solidFill>
            <a:srgbClr val="0072CE"/>
          </a:solidFill>
          <a:ln/>
        </p:spPr>
      </p:sp>
      <p:sp>
        <p:nvSpPr>
          <p:cNvPr id="11" name="Text 9"/>
          <p:cNvSpPr/>
          <p:nvPr/>
        </p:nvSpPr>
        <p:spPr>
          <a:xfrm>
            <a:off x="4576233" y="1744935"/>
            <a:ext cx="313071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B7C"/>
                </a:solidFill>
                <a:latin typeface="Public Sans" pitchFamily="34" charset="0"/>
                <a:ea typeface="Public Sans" pitchFamily="34" charset="-122"/>
                <a:cs typeface="Public Sans" pitchFamily="34" charset="-120"/>
              </a:rPr>
              <a:t>2 | WEB APP | PORT 3000</a:t>
            </a:r>
            <a:endParaRPr lang="en-US" sz="1200" dirty="0"/>
          </a:p>
        </p:txBody>
      </p:sp>
      <p:sp>
        <p:nvSpPr>
          <p:cNvPr id="12" name="Text 10"/>
          <p:cNvSpPr/>
          <p:nvPr/>
        </p:nvSpPr>
        <p:spPr>
          <a:xfrm>
            <a:off x="4576233" y="2021756"/>
            <a:ext cx="3130719"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072CE"/>
                </a:solidFill>
                <a:latin typeface="Public Sans" pitchFamily="34" charset="0"/>
                <a:ea typeface="Public Sans" pitchFamily="34" charset="-122"/>
                <a:cs typeface="Public Sans" pitchFamily="34" charset="-120"/>
              </a:rPr>
              <a:t>Bulwark UI</a:t>
            </a:r>
            <a:endParaRPr lang="en-US" sz="1700" dirty="0"/>
          </a:p>
        </p:txBody>
      </p:sp>
      <p:sp>
        <p:nvSpPr>
          <p:cNvPr id="13" name="Text 11"/>
          <p:cNvSpPr/>
          <p:nvPr/>
        </p:nvSpPr>
        <p:spPr>
          <a:xfrm>
            <a:off x="4576233" y="2344279"/>
            <a:ext cx="3130719"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0B2545"/>
                </a:solidFill>
                <a:latin typeface="Public Sans" pitchFamily="34" charset="0"/>
                <a:ea typeface="Public Sans" pitchFamily="34" charset="-122"/>
                <a:cs typeface="Public Sans" pitchFamily="34" charset="-120"/>
              </a:rPr>
              <a:t>The console people use: 9 pages from Dashboard to Users, with a floating chat icon on every page.</a:t>
            </a:r>
            <a:endParaRPr lang="en-US" sz="1200" dirty="0"/>
          </a:p>
        </p:txBody>
      </p:sp>
      <p:sp>
        <p:nvSpPr>
          <p:cNvPr id="14" name="Shape 12"/>
          <p:cNvSpPr/>
          <p:nvPr/>
        </p:nvSpPr>
        <p:spPr>
          <a:xfrm>
            <a:off x="7958667" y="1541735"/>
            <a:ext cx="3420533" cy="1790502"/>
          </a:xfrm>
          <a:prstGeom prst="roundRect">
            <a:avLst>
              <a:gd name="adj" fmla="val 5674"/>
            </a:avLst>
          </a:prstGeom>
          <a:solidFill>
            <a:srgbClr val="FFFFFF"/>
          </a:solidFill>
          <a:ln/>
        </p:spPr>
      </p:sp>
      <p:sp>
        <p:nvSpPr>
          <p:cNvPr id="15" name="Shape 13"/>
          <p:cNvSpPr/>
          <p:nvPr/>
        </p:nvSpPr>
        <p:spPr>
          <a:xfrm>
            <a:off x="7958667" y="1541735"/>
            <a:ext cx="3420533" cy="1790502"/>
          </a:xfrm>
          <a:custGeom>
            <a:avLst/>
            <a:gdLst/>
            <a:ahLst/>
            <a:cxnLst/>
            <a:rect l="l" t="t" r="r" b="b"/>
            <a:pathLst>
              <a:path w="3420533" h="1790502">
                <a:moveTo>
                  <a:pt x="0" y="101600"/>
                </a:moveTo>
                <a:lnTo>
                  <a:pt x="0" y="101600"/>
                </a:lnTo>
                <a:arcTo hR="101600" wR="101600" stAng="10800000" swAng="5400000"/>
                <a:lnTo>
                  <a:pt x="3318933" y="0"/>
                </a:lnTo>
                <a:arcTo hR="101600" wR="101600" stAng="16200000" swAng="5400000"/>
                <a:lnTo>
                  <a:pt x="3420533" y="101600"/>
                </a:lnTo>
                <a:arcTo hR="63500" wR="101600" stAng="0" swAng="-5400000"/>
                <a:lnTo>
                  <a:pt x="101600" y="38100"/>
                </a:lnTo>
                <a:arcTo hR="63500" wR="101600" stAng="16200000" swAng="-5400000"/>
                <a:close/>
              </a:path>
            </a:pathLst>
          </a:custGeom>
          <a:solidFill>
            <a:srgbClr val="0072CE"/>
          </a:solidFill>
          <a:ln/>
        </p:spPr>
      </p:sp>
      <p:sp>
        <p:nvSpPr>
          <p:cNvPr id="16" name="Text 14"/>
          <p:cNvSpPr/>
          <p:nvPr/>
        </p:nvSpPr>
        <p:spPr>
          <a:xfrm>
            <a:off x="8149167" y="1744935"/>
            <a:ext cx="313071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B7C"/>
                </a:solidFill>
                <a:latin typeface="Public Sans" pitchFamily="34" charset="0"/>
                <a:ea typeface="Public Sans" pitchFamily="34" charset="-122"/>
                <a:cs typeface="Public Sans" pitchFamily="34" charset="-120"/>
              </a:rPr>
              <a:t>3 | PIPELINE</a:t>
            </a:r>
            <a:endParaRPr lang="en-US" sz="1200" dirty="0"/>
          </a:p>
        </p:txBody>
      </p:sp>
      <p:sp>
        <p:nvSpPr>
          <p:cNvPr id="17" name="Text 15"/>
          <p:cNvSpPr/>
          <p:nvPr/>
        </p:nvSpPr>
        <p:spPr>
          <a:xfrm>
            <a:off x="8149167" y="2021756"/>
            <a:ext cx="3130719"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072CE"/>
                </a:solidFill>
                <a:latin typeface="Public Sans" pitchFamily="34" charset="0"/>
                <a:ea typeface="Public Sans" pitchFamily="34" charset="-122"/>
                <a:cs typeface="Public Sans" pitchFamily="34" charset="-120"/>
              </a:rPr>
              <a:t>Scan Ingestor</a:t>
            </a:r>
            <a:endParaRPr lang="en-US" sz="1700" dirty="0"/>
          </a:p>
        </p:txBody>
      </p:sp>
      <p:sp>
        <p:nvSpPr>
          <p:cNvPr id="18" name="Text 16"/>
          <p:cNvSpPr/>
          <p:nvPr/>
        </p:nvSpPr>
        <p:spPr>
          <a:xfrm>
            <a:off x="8149167" y="2344279"/>
            <a:ext cx="3130719" cy="84825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0B2545"/>
                </a:solidFill>
                <a:latin typeface="Public Sans" pitchFamily="34" charset="0"/>
                <a:ea typeface="Public Sans" pitchFamily="34" charset="-122"/>
                <a:cs typeface="Public Sans" pitchFamily="34" charset="-120"/>
              </a:rPr>
              <a:t>Reads Excel scan workbooks, checks them, creates one incident per vulnerability and announces each on Kafka.</a:t>
            </a:r>
            <a:endParaRPr lang="en-US" sz="1200" dirty="0"/>
          </a:p>
        </p:txBody>
      </p:sp>
      <p:sp>
        <p:nvSpPr>
          <p:cNvPr id="19" name="Shape 17"/>
          <p:cNvSpPr/>
          <p:nvPr/>
        </p:nvSpPr>
        <p:spPr>
          <a:xfrm>
            <a:off x="812800" y="3484637"/>
            <a:ext cx="3420533" cy="1584788"/>
          </a:xfrm>
          <a:prstGeom prst="roundRect">
            <a:avLst>
              <a:gd name="adj" fmla="val 6411"/>
            </a:avLst>
          </a:prstGeom>
          <a:solidFill>
            <a:srgbClr val="FEF3DD"/>
          </a:solidFill>
          <a:ln/>
        </p:spPr>
      </p:sp>
      <p:sp>
        <p:nvSpPr>
          <p:cNvPr id="20" name="Shape 18"/>
          <p:cNvSpPr/>
          <p:nvPr/>
        </p:nvSpPr>
        <p:spPr>
          <a:xfrm>
            <a:off x="812800" y="3484637"/>
            <a:ext cx="3420533" cy="1584788"/>
          </a:xfrm>
          <a:custGeom>
            <a:avLst/>
            <a:gdLst/>
            <a:ahLst/>
            <a:cxnLst/>
            <a:rect l="l" t="t" r="r" b="b"/>
            <a:pathLst>
              <a:path w="3420533" h="1584788">
                <a:moveTo>
                  <a:pt x="0" y="101600"/>
                </a:moveTo>
                <a:lnTo>
                  <a:pt x="0" y="101600"/>
                </a:lnTo>
                <a:arcTo hR="101600" wR="101600" stAng="10800000" swAng="5400000"/>
                <a:lnTo>
                  <a:pt x="3318933" y="0"/>
                </a:lnTo>
                <a:arcTo hR="101600" wR="101600" stAng="16200000" swAng="5400000"/>
                <a:lnTo>
                  <a:pt x="3420533" y="101600"/>
                </a:lnTo>
                <a:arcTo hR="63500" wR="101600" stAng="0" swAng="-5400000"/>
                <a:lnTo>
                  <a:pt x="101600" y="38100"/>
                </a:lnTo>
                <a:arcTo hR="63500" wR="101600" stAng="16200000" swAng="-5400000"/>
                <a:close/>
              </a:path>
            </a:pathLst>
          </a:custGeom>
          <a:solidFill>
            <a:srgbClr val="F5A623"/>
          </a:solidFill>
          <a:ln/>
        </p:spPr>
      </p:sp>
      <p:sp>
        <p:nvSpPr>
          <p:cNvPr id="21" name="Text 19"/>
          <p:cNvSpPr/>
          <p:nvPr/>
        </p:nvSpPr>
        <p:spPr>
          <a:xfrm>
            <a:off x="1003300" y="3687837"/>
            <a:ext cx="313071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B7C"/>
                </a:solidFill>
                <a:latin typeface="Public Sans" pitchFamily="34" charset="0"/>
                <a:ea typeface="Public Sans" pitchFamily="34" charset="-122"/>
                <a:cs typeface="Public Sans" pitchFamily="34" charset="-120"/>
              </a:rPr>
              <a:t>4 | AI PIPELINE</a:t>
            </a:r>
            <a:endParaRPr lang="en-US" sz="1200" dirty="0"/>
          </a:p>
        </p:txBody>
      </p:sp>
      <p:sp>
        <p:nvSpPr>
          <p:cNvPr id="22" name="Text 20"/>
          <p:cNvSpPr/>
          <p:nvPr/>
        </p:nvSpPr>
        <p:spPr>
          <a:xfrm>
            <a:off x="1003300" y="3964657"/>
            <a:ext cx="3130719"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B2545"/>
                </a:solidFill>
                <a:latin typeface="Public Sans" pitchFamily="34" charset="0"/>
                <a:ea typeface="Public Sans" pitchFamily="34" charset="-122"/>
                <a:cs typeface="Public Sans" pitchFamily="34" charset="-120"/>
              </a:rPr>
              <a:t>Solution Recommender</a:t>
            </a:r>
            <a:endParaRPr lang="en-US" sz="1700" dirty="0"/>
          </a:p>
        </p:txBody>
      </p:sp>
      <p:sp>
        <p:nvSpPr>
          <p:cNvPr id="23" name="Text 21"/>
          <p:cNvSpPr/>
          <p:nvPr/>
        </p:nvSpPr>
        <p:spPr>
          <a:xfrm>
            <a:off x="1003300" y="4287180"/>
            <a:ext cx="3130719"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0B2545"/>
                </a:solidFill>
                <a:latin typeface="Public Sans" pitchFamily="34" charset="0"/>
                <a:ea typeface="Public Sans" pitchFamily="34" charset="-122"/>
                <a:cs typeface="Public Sans" pitchFamily="34" charset="-120"/>
              </a:rPr>
              <a:t>Listens to Kafka. Runs the similar-fix finder and the AI plan builder, and saves results on the incident.</a:t>
            </a:r>
            <a:endParaRPr lang="en-US" sz="1200" dirty="0"/>
          </a:p>
        </p:txBody>
      </p:sp>
      <p:sp>
        <p:nvSpPr>
          <p:cNvPr id="24" name="Shape 22"/>
          <p:cNvSpPr/>
          <p:nvPr/>
        </p:nvSpPr>
        <p:spPr>
          <a:xfrm>
            <a:off x="4385733" y="3484637"/>
            <a:ext cx="3420533" cy="1584788"/>
          </a:xfrm>
          <a:prstGeom prst="roundRect">
            <a:avLst>
              <a:gd name="adj" fmla="val 6411"/>
            </a:avLst>
          </a:prstGeom>
          <a:solidFill>
            <a:srgbClr val="FEF3DD"/>
          </a:solidFill>
          <a:ln/>
        </p:spPr>
      </p:sp>
      <p:sp>
        <p:nvSpPr>
          <p:cNvPr id="25" name="Shape 23"/>
          <p:cNvSpPr/>
          <p:nvPr/>
        </p:nvSpPr>
        <p:spPr>
          <a:xfrm>
            <a:off x="4385733" y="3484637"/>
            <a:ext cx="3420533" cy="1584788"/>
          </a:xfrm>
          <a:custGeom>
            <a:avLst/>
            <a:gdLst/>
            <a:ahLst/>
            <a:cxnLst/>
            <a:rect l="l" t="t" r="r" b="b"/>
            <a:pathLst>
              <a:path w="3420533" h="1584788">
                <a:moveTo>
                  <a:pt x="0" y="101600"/>
                </a:moveTo>
                <a:lnTo>
                  <a:pt x="0" y="101600"/>
                </a:lnTo>
                <a:arcTo hR="101600" wR="101600" stAng="10800000" swAng="5400000"/>
                <a:lnTo>
                  <a:pt x="3318933" y="0"/>
                </a:lnTo>
                <a:arcTo hR="101600" wR="101600" stAng="16200000" swAng="5400000"/>
                <a:lnTo>
                  <a:pt x="3420533" y="101600"/>
                </a:lnTo>
                <a:arcTo hR="63500" wR="101600" stAng="0" swAng="-5400000"/>
                <a:lnTo>
                  <a:pt x="101600" y="38100"/>
                </a:lnTo>
                <a:arcTo hR="63500" wR="101600" stAng="16200000" swAng="-5400000"/>
                <a:close/>
              </a:path>
            </a:pathLst>
          </a:custGeom>
          <a:solidFill>
            <a:srgbClr val="F5A623"/>
          </a:solidFill>
          <a:ln/>
        </p:spPr>
      </p:sp>
      <p:sp>
        <p:nvSpPr>
          <p:cNvPr id="26" name="Text 24"/>
          <p:cNvSpPr/>
          <p:nvPr/>
        </p:nvSpPr>
        <p:spPr>
          <a:xfrm>
            <a:off x="4576233" y="3687837"/>
            <a:ext cx="313071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B7C"/>
                </a:solidFill>
                <a:latin typeface="Public Sans" pitchFamily="34" charset="0"/>
                <a:ea typeface="Public Sans" pitchFamily="34" charset="-122"/>
                <a:cs typeface="Public Sans" pitchFamily="34" charset="-120"/>
              </a:rPr>
              <a:t>5 | AI SERVICES | 8765, 8800</a:t>
            </a:r>
            <a:endParaRPr lang="en-US" sz="1200" dirty="0"/>
          </a:p>
        </p:txBody>
      </p:sp>
      <p:sp>
        <p:nvSpPr>
          <p:cNvPr id="27" name="Text 25"/>
          <p:cNvSpPr/>
          <p:nvPr/>
        </p:nvSpPr>
        <p:spPr>
          <a:xfrm>
            <a:off x="4576233" y="3964657"/>
            <a:ext cx="3130719"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B2545"/>
                </a:solidFill>
                <a:latin typeface="Public Sans" pitchFamily="34" charset="0"/>
                <a:ea typeface="Public Sans" pitchFamily="34" charset="-122"/>
                <a:cs typeface="Public Sans" pitchFamily="34" charset="-120"/>
              </a:rPr>
              <a:t>Bulwark AI</a:t>
            </a:r>
            <a:endParaRPr lang="en-US" sz="1700" dirty="0"/>
          </a:p>
        </p:txBody>
      </p:sp>
      <p:sp>
        <p:nvSpPr>
          <p:cNvPr id="28" name="Text 26"/>
          <p:cNvSpPr/>
          <p:nvPr/>
        </p:nvSpPr>
        <p:spPr>
          <a:xfrm>
            <a:off x="4576233" y="4287180"/>
            <a:ext cx="3130719"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0B2545"/>
                </a:solidFill>
                <a:latin typeface="Public Sans" pitchFamily="34" charset="0"/>
                <a:ea typeface="Public Sans" pitchFamily="34" charset="-122"/>
                <a:cs typeface="Public Sans" pitchFamily="34" charset="-120"/>
              </a:rPr>
              <a:t>Two services in one project: the MCP server with 60 tools, and the LangGraph chat agent with saved history.</a:t>
            </a:r>
            <a:endParaRPr lang="en-US" sz="1200" dirty="0"/>
          </a:p>
        </p:txBody>
      </p:sp>
      <p:sp>
        <p:nvSpPr>
          <p:cNvPr id="29" name="Shape 27"/>
          <p:cNvSpPr/>
          <p:nvPr/>
        </p:nvSpPr>
        <p:spPr>
          <a:xfrm>
            <a:off x="7958667" y="3484637"/>
            <a:ext cx="3420533" cy="1584788"/>
          </a:xfrm>
          <a:prstGeom prst="roundRect">
            <a:avLst>
              <a:gd name="adj" fmla="val 6411"/>
            </a:avLst>
          </a:prstGeom>
          <a:solidFill>
            <a:srgbClr val="FEF3DD"/>
          </a:solidFill>
          <a:ln/>
        </p:spPr>
      </p:sp>
      <p:sp>
        <p:nvSpPr>
          <p:cNvPr id="30" name="Shape 28"/>
          <p:cNvSpPr/>
          <p:nvPr/>
        </p:nvSpPr>
        <p:spPr>
          <a:xfrm>
            <a:off x="7958667" y="3484637"/>
            <a:ext cx="3420533" cy="1584788"/>
          </a:xfrm>
          <a:custGeom>
            <a:avLst/>
            <a:gdLst/>
            <a:ahLst/>
            <a:cxnLst/>
            <a:rect l="l" t="t" r="r" b="b"/>
            <a:pathLst>
              <a:path w="3420533" h="1584788">
                <a:moveTo>
                  <a:pt x="0" y="101600"/>
                </a:moveTo>
                <a:lnTo>
                  <a:pt x="0" y="101600"/>
                </a:lnTo>
                <a:arcTo hR="101600" wR="101600" stAng="10800000" swAng="5400000"/>
                <a:lnTo>
                  <a:pt x="3318933" y="0"/>
                </a:lnTo>
                <a:arcTo hR="101600" wR="101600" stAng="16200000" swAng="5400000"/>
                <a:lnTo>
                  <a:pt x="3420533" y="101600"/>
                </a:lnTo>
                <a:arcTo hR="63500" wR="101600" stAng="0" swAng="-5400000"/>
                <a:lnTo>
                  <a:pt x="101600" y="38100"/>
                </a:lnTo>
                <a:arcTo hR="63500" wR="101600" stAng="16200000" swAng="-5400000"/>
                <a:close/>
              </a:path>
            </a:pathLst>
          </a:custGeom>
          <a:solidFill>
            <a:srgbClr val="F5A623"/>
          </a:solidFill>
          <a:ln/>
        </p:spPr>
      </p:sp>
      <p:sp>
        <p:nvSpPr>
          <p:cNvPr id="31" name="Text 29"/>
          <p:cNvSpPr/>
          <p:nvPr/>
        </p:nvSpPr>
        <p:spPr>
          <a:xfrm>
            <a:off x="8149167" y="3687837"/>
            <a:ext cx="313071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B7C"/>
                </a:solidFill>
                <a:latin typeface="Public Sans" pitchFamily="34" charset="0"/>
                <a:ea typeface="Public Sans" pitchFamily="34" charset="-122"/>
                <a:cs typeface="Public Sans" pitchFamily="34" charset="-120"/>
              </a:rPr>
              <a:t>6 | WEB APP | PORT 3100</a:t>
            </a:r>
            <a:endParaRPr lang="en-US" sz="1200" dirty="0"/>
          </a:p>
        </p:txBody>
      </p:sp>
      <p:sp>
        <p:nvSpPr>
          <p:cNvPr id="32" name="Text 30"/>
          <p:cNvSpPr/>
          <p:nvPr/>
        </p:nvSpPr>
        <p:spPr>
          <a:xfrm>
            <a:off x="8149167" y="3964657"/>
            <a:ext cx="3130719"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B2545"/>
                </a:solidFill>
                <a:latin typeface="Public Sans" pitchFamily="34" charset="0"/>
                <a:ea typeface="Public Sans" pitchFamily="34" charset="-122"/>
                <a:cs typeface="Public Sans" pitchFamily="34" charset="-120"/>
              </a:rPr>
              <a:t>Bulwark Agent UI</a:t>
            </a:r>
            <a:endParaRPr lang="en-US" sz="1700" dirty="0"/>
          </a:p>
        </p:txBody>
      </p:sp>
      <p:sp>
        <p:nvSpPr>
          <p:cNvPr id="33" name="Text 31"/>
          <p:cNvSpPr/>
          <p:nvPr/>
        </p:nvSpPr>
        <p:spPr>
          <a:xfrm>
            <a:off x="8149167" y="4287180"/>
            <a:ext cx="3130719"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0B2545"/>
                </a:solidFill>
                <a:latin typeface="Public Sans" pitchFamily="34" charset="0"/>
                <a:ea typeface="Public Sans" pitchFamily="34" charset="-122"/>
                <a:cs typeface="Public Sans" pitchFamily="34" charset="-120"/>
              </a:rPr>
              <a:t>A full-screen chat app for the assistant, with saved conversations and confirm prompts.</a:t>
            </a:r>
            <a:endParaRPr lang="en-US" sz="1200" dirty="0"/>
          </a:p>
        </p:txBody>
      </p:sp>
      <p:sp>
        <p:nvSpPr>
          <p:cNvPr id="34" name="Text 32"/>
          <p:cNvSpPr/>
          <p:nvPr/>
        </p:nvSpPr>
        <p:spPr>
          <a:xfrm>
            <a:off x="812800" y="527262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5B6B7C"/>
                </a:solidFill>
                <a:latin typeface="Public Sans" pitchFamily="34" charset="0"/>
                <a:ea typeface="Public Sans" pitchFamily="34" charset="-122"/>
                <a:cs typeface="Public Sans" pitchFamily="34" charset="-120"/>
              </a:rPr>
              <a:t>Shared by all: PostgreSQL 16 with pgvector, and Kafka. Amber marks the AI side.</a:t>
            </a:r>
            <a:endParaRPr lang="en-US" sz="1200" dirty="0"/>
          </a:p>
        </p:txBody>
      </p:sp>
      <p:sp>
        <p:nvSpPr>
          <p:cNvPr id="35" name="Text 33"/>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Bulwark | Innova Solutions</a:t>
            </a:r>
            <a:endParaRPr lang="en-US" sz="1200" dirty="0"/>
          </a:p>
        </p:txBody>
      </p:sp>
      <p:sp>
        <p:nvSpPr>
          <p:cNvPr id="36" name="Text 3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9FD"/>
        </a:solidFill>
      </p:bgPr>
    </p:bg>
    <p:spTree>
      <p:nvGrpSpPr>
        <p:cNvPr id="1" name=""/>
        <p:cNvGrpSpPr/>
        <p:nvPr/>
      </p:nvGrpSpPr>
      <p:grpSpPr>
        <a:xfrm>
          <a:off x="0" y="0"/>
          <a:ext cx="0" cy="0"/>
          <a:chOff x="0" y="0"/>
          <a:chExt cx="0" cy="0"/>
        </a:xfrm>
      </p:grpSpPr>
      <p:sp>
        <p:nvSpPr>
          <p:cNvPr id="2" name="Text 0"/>
          <p:cNvSpPr/>
          <p:nvPr/>
        </p:nvSpPr>
        <p:spPr>
          <a:xfrm>
            <a:off x="812800" y="609600"/>
            <a:ext cx="10883392" cy="244740"/>
          </a:xfrm>
          <a:prstGeom prst="rect">
            <a:avLst/>
          </a:prstGeom>
          <a:noFill/>
          <a:ln/>
        </p:spPr>
        <p:txBody>
          <a:bodyPr wrap="square" lIns="0" tIns="0" rIns="0" bIns="0" rtlCol="0" anchor="t">
            <a:normAutofit/>
          </a:bodyPr>
          <a:lstStyle/>
          <a:p>
            <a:pPr algn="l" indent="0" marL="0">
              <a:lnSpc>
                <a:spcPts val="1774"/>
              </a:lnSpc>
              <a:buNone/>
            </a:pPr>
            <a:r>
              <a:rPr lang="en-US" sz="1268" b="1" spc="150" kern="0" dirty="0">
                <a:solidFill>
                  <a:srgbClr val="0072CE"/>
                </a:solidFill>
                <a:latin typeface="Public Sans" pitchFamily="34" charset="0"/>
                <a:ea typeface="Public Sans" pitchFamily="34" charset="-122"/>
                <a:cs typeface="Public Sans" pitchFamily="34" charset="-120"/>
              </a:rPr>
              <a:t>APPENDIX</a:t>
            </a:r>
            <a:endParaRPr lang="en-US" sz="1268" dirty="0"/>
          </a:p>
        </p:txBody>
      </p:sp>
      <p:sp>
        <p:nvSpPr>
          <p:cNvPr id="3" name="Text 1"/>
          <p:cNvSpPr/>
          <p:nvPr>
            <p:ph type="title"/>
          </p:nvPr>
        </p:nvSpPr>
        <p:spPr>
          <a:xfrm>
            <a:off x="812800" y="879748"/>
            <a:ext cx="10883392" cy="449792"/>
          </a:xfrm>
          <a:prstGeom prst="rect">
            <a:avLst/>
          </a:prstGeom>
          <a:noFill/>
          <a:ln/>
        </p:spPr>
        <p:txBody>
          <a:bodyPr wrap="square" lIns="0" tIns="0" rIns="0" bIns="0" rtlCol="0" anchor="t">
            <a:normAutofit/>
          </a:bodyPr>
          <a:lstStyle/>
          <a:p>
            <a:pPr algn="l" indent="0" marL="0">
              <a:lnSpc>
                <a:spcPts val="3366"/>
              </a:lnSpc>
              <a:buNone/>
            </a:pPr>
            <a:r>
              <a:rPr lang="en-US" sz="3060" b="1" i="0" dirty="0">
                <a:solidFill>
                  <a:srgbClr val="0B2545"/>
                </a:solidFill>
                <a:latin typeface="Source Serif 4" pitchFamily="18" charset="0"/>
                <a:ea typeface="Source Serif 4" pitchFamily="18" charset="-122"/>
                <a:cs typeface="Source Serif 4" pitchFamily="18" charset="-120"/>
              </a:rPr>
              <a:t>The 60 tools: 30 read, 30 write</a:t>
            </a:r>
            <a:endParaRPr lang="en-US" sz="306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507331"/>
          <a:ext cx="10553700" cy="3424238"/>
        </p:xfrm>
        <a:graphic>
          <a:graphicData uri="http://schemas.openxmlformats.org/drawingml/2006/table">
            <a:tbl>
              <a:tblPr/>
              <a:tblGrid>
                <a:gridCol w="2005203"/>
                <a:gridCol w="949833"/>
                <a:gridCol w="1583055"/>
                <a:gridCol w="6015609"/>
              </a:tblGrid>
              <a:tr h="342371">
                <a:tc>
                  <a:txBody>
                    <a:bodyPr/>
                    <a:lstStyle/>
                    <a:p>
                      <a:pPr indent="0" marL="0">
                        <a:lnSpc>
                          <a:spcPts val="1729"/>
                        </a:lnSpc>
                        <a:buNone/>
                      </a:pPr>
                      <a:r>
                        <a:rPr lang="en-US" sz="1235" b="1" dirty="0">
                          <a:solidFill>
                            <a:srgbClr val="0B2545"/>
                          </a:solidFill>
                          <a:latin typeface="Public Sans" pitchFamily="34" charset="0"/>
                          <a:ea typeface="Public Sans" pitchFamily="34" charset="-122"/>
                          <a:cs typeface="Public Sans" pitchFamily="34" charset="-120"/>
                        </a:rPr>
                        <a:t>Area</a:t>
                      </a:r>
                      <a:endParaRPr lang="en-US" sz="1235" dirty="0">
                        <a:latin typeface="Public Sans" charset="0"/>
                        <a:ea typeface="Public Sans" charset="0"/>
                        <a:cs typeface="Public Sans" charset="0"/>
                      </a:endParaRPr>
                    </a:p>
                  </a:txBody>
                  <a:tcPr marL="54896" marR="54896" marT="54896" marB="54896" anchor="t">
                    <a:lnL w="12700" cap="flat" cmpd="sng" algn="ctr">
                      <a:solidFill>
                        <a:srgbClr val="C4C7CA"/>
                      </a:solidFill>
                      <a:prstDash val="solid"/>
                      <a:round/>
                      <a:headEnd type="none" w="med" len="med"/>
                      <a:tailEnd type="none" w="med" len="med"/>
                    </a:lnL>
                    <a:lnR w="12700" cap="flat" cmpd="sng" algn="ctr">
                      <a:solidFill>
                        <a:srgbClr val="B5B9BB"/>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B5B9BB"/>
                      </a:solidFill>
                      <a:prstDash val="solid"/>
                      <a:round/>
                      <a:headEnd type="none" w="med" len="med"/>
                      <a:tailEnd type="none" w="med" len="med"/>
                    </a:lnB>
                    <a:solidFill>
                      <a:srgbClr val="E3E7EA"/>
                    </a:solidFill>
                  </a:tcPr>
                </a:tc>
                <a:tc>
                  <a:txBody>
                    <a:bodyPr/>
                    <a:lstStyle/>
                    <a:p>
                      <a:pPr indent="0" marL="0">
                        <a:lnSpc>
                          <a:spcPts val="1729"/>
                        </a:lnSpc>
                        <a:buNone/>
                      </a:pPr>
                      <a:r>
                        <a:rPr lang="en-US" sz="1235" b="1" dirty="0">
                          <a:solidFill>
                            <a:srgbClr val="0B2545"/>
                          </a:solidFill>
                          <a:latin typeface="Public Sans" pitchFamily="34" charset="0"/>
                          <a:ea typeface="Public Sans" pitchFamily="34" charset="-122"/>
                          <a:cs typeface="Public Sans" pitchFamily="34" charset="-120"/>
                        </a:rPr>
                        <a:t>Tools</a:t>
                      </a:r>
                      <a:endParaRPr lang="en-US" sz="1235" dirty="0">
                        <a:latin typeface="Public Sans" charset="0"/>
                        <a:ea typeface="Public Sans" charset="0"/>
                        <a:cs typeface="Public Sans" charset="0"/>
                      </a:endParaRPr>
                    </a:p>
                  </a:txBody>
                  <a:tcPr marL="54896" marR="54896" marT="54896" marB="54896" anchor="t">
                    <a:lnL w="12700" cap="flat" cmpd="sng" algn="ctr">
                      <a:solidFill>
                        <a:srgbClr val="B5B9BB"/>
                      </a:solidFill>
                      <a:prstDash val="solid"/>
                      <a:round/>
                      <a:headEnd type="none" w="med" len="med"/>
                      <a:tailEnd type="none" w="med" len="med"/>
                    </a:lnL>
                    <a:lnR w="12700" cap="flat" cmpd="sng" algn="ctr">
                      <a:solidFill>
                        <a:srgbClr val="B5B9BB"/>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B5B9BB"/>
                      </a:solidFill>
                      <a:prstDash val="solid"/>
                      <a:round/>
                      <a:headEnd type="none" w="med" len="med"/>
                      <a:tailEnd type="none" w="med" len="med"/>
                    </a:lnB>
                    <a:solidFill>
                      <a:srgbClr val="E3E7EA"/>
                    </a:solidFill>
                  </a:tcPr>
                </a:tc>
                <a:tc>
                  <a:txBody>
                    <a:bodyPr/>
                    <a:lstStyle/>
                    <a:p>
                      <a:pPr indent="0" marL="0">
                        <a:lnSpc>
                          <a:spcPts val="1729"/>
                        </a:lnSpc>
                        <a:buNone/>
                      </a:pPr>
                      <a:r>
                        <a:rPr lang="en-US" sz="1235" b="1" dirty="0">
                          <a:solidFill>
                            <a:srgbClr val="0B2545"/>
                          </a:solidFill>
                          <a:latin typeface="Public Sans" pitchFamily="34" charset="0"/>
                          <a:ea typeface="Public Sans" pitchFamily="34" charset="-122"/>
                          <a:cs typeface="Public Sans" pitchFamily="34" charset="-120"/>
                        </a:rPr>
                        <a:t>Read / write</a:t>
                      </a:r>
                      <a:endParaRPr lang="en-US" sz="1235" dirty="0">
                        <a:latin typeface="Public Sans" charset="0"/>
                        <a:ea typeface="Public Sans" charset="0"/>
                        <a:cs typeface="Public Sans" charset="0"/>
                      </a:endParaRPr>
                    </a:p>
                  </a:txBody>
                  <a:tcPr marL="54896" marR="54896" marT="54896" marB="54896" anchor="t">
                    <a:lnL w="12700" cap="flat" cmpd="sng" algn="ctr">
                      <a:solidFill>
                        <a:srgbClr val="B5B9BB"/>
                      </a:solidFill>
                      <a:prstDash val="solid"/>
                      <a:round/>
                      <a:headEnd type="none" w="med" len="med"/>
                      <a:tailEnd type="none" w="med" len="med"/>
                    </a:lnL>
                    <a:lnR w="12700" cap="flat" cmpd="sng" algn="ctr">
                      <a:solidFill>
                        <a:srgbClr val="B5B9BB"/>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B5B9BB"/>
                      </a:solidFill>
                      <a:prstDash val="solid"/>
                      <a:round/>
                      <a:headEnd type="none" w="med" len="med"/>
                      <a:tailEnd type="none" w="med" len="med"/>
                    </a:lnB>
                    <a:solidFill>
                      <a:srgbClr val="E3E7EA"/>
                    </a:solidFill>
                  </a:tcPr>
                </a:tc>
                <a:tc>
                  <a:txBody>
                    <a:bodyPr/>
                    <a:lstStyle/>
                    <a:p>
                      <a:pPr indent="0" marL="0">
                        <a:lnSpc>
                          <a:spcPts val="1729"/>
                        </a:lnSpc>
                        <a:buNone/>
                      </a:pPr>
                      <a:r>
                        <a:rPr lang="en-US" sz="1235" b="1" dirty="0">
                          <a:solidFill>
                            <a:srgbClr val="0B2545"/>
                          </a:solidFill>
                          <a:latin typeface="Public Sans" pitchFamily="34" charset="0"/>
                          <a:ea typeface="Public Sans" pitchFamily="34" charset="-122"/>
                          <a:cs typeface="Public Sans" pitchFamily="34" charset="-120"/>
                        </a:rPr>
                        <a:t>What the assistant can do</a:t>
                      </a:r>
                      <a:endParaRPr lang="en-US" sz="1235" dirty="0">
                        <a:latin typeface="Public Sans" charset="0"/>
                        <a:ea typeface="Public Sans" charset="0"/>
                        <a:cs typeface="Public Sans" charset="0"/>
                      </a:endParaRPr>
                    </a:p>
                  </a:txBody>
                  <a:tcPr marL="54896" marR="54896" marT="54896" marB="54896" anchor="t">
                    <a:lnL w="12700" cap="flat" cmpd="sng" algn="ctr">
                      <a:solidFill>
                        <a:srgbClr val="B5B9BB"/>
                      </a:solidFill>
                      <a:prstDash val="solid"/>
                      <a:round/>
                      <a:headEnd type="none" w="med" len="med"/>
                      <a:tailEnd type="none" w="med" len="med"/>
                    </a:lnL>
                    <a:lnR w="12700" cap="flat" cmpd="sng" algn="ctr">
                      <a:solidFill>
                        <a:srgbClr val="B5B9BB"/>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B5B9BB"/>
                      </a:solidFill>
                      <a:prstDash val="solid"/>
                      <a:round/>
                      <a:headEnd type="none" w="med" len="med"/>
                      <a:tailEnd type="none" w="med" len="med"/>
                    </a:lnB>
                    <a:solidFill>
                      <a:srgbClr val="E3E7EA"/>
                    </a:solidFill>
                  </a:tcPr>
                </a:tc>
              </a:tr>
              <a:tr h="342371">
                <a:tc>
                  <a:txBody>
                    <a:bodyPr/>
                    <a:lstStyle/>
                    <a:p>
                      <a:pPr indent="0" marL="0">
                        <a:lnSpc>
                          <a:spcPts val="1729"/>
                        </a:lnSpc>
                        <a:buNone/>
                      </a:pPr>
                      <a:r>
                        <a:rPr lang="en-US" sz="1235" dirty="0">
                          <a:solidFill>
                            <a:srgbClr val="0B2545"/>
                          </a:solidFill>
                          <a:latin typeface="Public Sans" pitchFamily="34" charset="0"/>
                          <a:ea typeface="Public Sans" pitchFamily="34" charset="-122"/>
                          <a:cs typeface="Public Sans" pitchFamily="34" charset="-120"/>
                        </a:rPr>
                        <a:t>Incidents</a:t>
                      </a:r>
                      <a:endParaRPr lang="en-US" sz="1235" dirty="0">
                        <a:latin typeface="Public Sans" charset="0"/>
                        <a:ea typeface="Public Sans" charset="0"/>
                        <a:cs typeface="Public Sans" charset="0"/>
                      </a:endParaRPr>
                    </a:p>
                  </a:txBody>
                  <a:tcPr marL="54896" marR="54896" marT="54896" marB="54896"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B5B9BB"/>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729"/>
                        </a:lnSpc>
                        <a:buNone/>
                      </a:pPr>
                      <a:r>
                        <a:rPr lang="en-US" sz="1235" dirty="0">
                          <a:solidFill>
                            <a:srgbClr val="0B2545"/>
                          </a:solidFill>
                          <a:latin typeface="Public Sans" pitchFamily="34" charset="0"/>
                          <a:ea typeface="Public Sans" pitchFamily="34" charset="-122"/>
                          <a:cs typeface="Public Sans" pitchFamily="34" charset="-120"/>
                        </a:rPr>
                        <a:t>16</a:t>
                      </a:r>
                      <a:endParaRPr lang="en-US" sz="1235" dirty="0">
                        <a:latin typeface="Public Sans" charset="0"/>
                        <a:ea typeface="Public Sans" charset="0"/>
                        <a:cs typeface="Public Sans" charset="0"/>
                      </a:endParaRPr>
                    </a:p>
                  </a:txBody>
                  <a:tcPr marL="54896" marR="54896" marT="54896" marB="54896"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B5B9BB"/>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729"/>
                        </a:lnSpc>
                        <a:buNone/>
                      </a:pPr>
                      <a:r>
                        <a:rPr lang="en-US" sz="1235" dirty="0">
                          <a:solidFill>
                            <a:srgbClr val="0B2545"/>
                          </a:solidFill>
                          <a:latin typeface="Public Sans" pitchFamily="34" charset="0"/>
                          <a:ea typeface="Public Sans" pitchFamily="34" charset="-122"/>
                          <a:cs typeface="Public Sans" pitchFamily="34" charset="-120"/>
                        </a:rPr>
                        <a:t>4 / 12</a:t>
                      </a:r>
                      <a:endParaRPr lang="en-US" sz="1235" dirty="0">
                        <a:latin typeface="Public Sans" charset="0"/>
                        <a:ea typeface="Public Sans" charset="0"/>
                        <a:cs typeface="Public Sans" charset="0"/>
                      </a:endParaRPr>
                    </a:p>
                  </a:txBody>
                  <a:tcPr marL="54896" marR="54896" marT="54896" marB="54896"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B5B9BB"/>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729"/>
                        </a:lnSpc>
                        <a:buNone/>
                      </a:pPr>
                      <a:r>
                        <a:rPr lang="en-US" sz="1235" dirty="0">
                          <a:solidFill>
                            <a:srgbClr val="0B2545"/>
                          </a:solidFill>
                          <a:latin typeface="Public Sans" pitchFamily="34" charset="0"/>
                          <a:ea typeface="Public Sans" pitchFamily="34" charset="-122"/>
                          <a:cs typeface="Public Sans" pitchFamily="34" charset="-120"/>
                        </a:rPr>
                        <a:t>Search, open, edit, plan, submit, close</a:t>
                      </a:r>
                      <a:endParaRPr lang="en-US" sz="1235" dirty="0">
                        <a:latin typeface="Public Sans" charset="0"/>
                        <a:ea typeface="Public Sans" charset="0"/>
                        <a:cs typeface="Public Sans" charset="0"/>
                      </a:endParaRPr>
                    </a:p>
                  </a:txBody>
                  <a:tcPr marL="54896" marR="54896" marT="54896" marB="54896"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B5B9BB"/>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r>
              <a:tr h="342437">
                <a:tc>
                  <a:txBody>
                    <a:bodyPr/>
                    <a:lstStyle/>
                    <a:p>
                      <a:pPr indent="0" marL="0">
                        <a:lnSpc>
                          <a:spcPts val="1729"/>
                        </a:lnSpc>
                        <a:buNone/>
                      </a:pPr>
                      <a:r>
                        <a:rPr lang="en-US" sz="1235" dirty="0">
                          <a:solidFill>
                            <a:srgbClr val="0B2545"/>
                          </a:solidFill>
                          <a:latin typeface="Public Sans" pitchFamily="34" charset="0"/>
                          <a:ea typeface="Public Sans" pitchFamily="34" charset="-122"/>
                          <a:cs typeface="Public Sans" pitchFamily="34" charset="-120"/>
                        </a:rPr>
                        <a:t>Approvals</a:t>
                      </a:r>
                      <a:endParaRPr lang="en-US" sz="1235" dirty="0">
                        <a:latin typeface="Public Sans" charset="0"/>
                        <a:ea typeface="Public Sans" charset="0"/>
                        <a:cs typeface="Public Sans" charset="0"/>
                      </a:endParaRPr>
                    </a:p>
                  </a:txBody>
                  <a:tcPr marL="54896" marR="54896" marT="54896" marB="54896"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729"/>
                        </a:lnSpc>
                        <a:buNone/>
                      </a:pPr>
                      <a:r>
                        <a:rPr lang="en-US" sz="1235" dirty="0">
                          <a:solidFill>
                            <a:srgbClr val="0B2545"/>
                          </a:solidFill>
                          <a:latin typeface="Public Sans" pitchFamily="34" charset="0"/>
                          <a:ea typeface="Public Sans" pitchFamily="34" charset="-122"/>
                          <a:cs typeface="Public Sans" pitchFamily="34" charset="-120"/>
                        </a:rPr>
                        <a:t>8</a:t>
                      </a:r>
                      <a:endParaRPr lang="en-US" sz="1235" dirty="0">
                        <a:latin typeface="Public Sans" charset="0"/>
                        <a:ea typeface="Public Sans" charset="0"/>
                        <a:cs typeface="Public Sans" charset="0"/>
                      </a:endParaRPr>
                    </a:p>
                  </a:txBody>
                  <a:tcPr marL="54896" marR="54896" marT="54896" marB="54896"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729"/>
                        </a:lnSpc>
                        <a:buNone/>
                      </a:pPr>
                      <a:r>
                        <a:rPr lang="en-US" sz="1235" dirty="0">
                          <a:solidFill>
                            <a:srgbClr val="0B2545"/>
                          </a:solidFill>
                          <a:latin typeface="Public Sans" pitchFamily="34" charset="0"/>
                          <a:ea typeface="Public Sans" pitchFamily="34" charset="-122"/>
                          <a:cs typeface="Public Sans" pitchFamily="34" charset="-120"/>
                        </a:rPr>
                        <a:t>3 / 5</a:t>
                      </a:r>
                      <a:endParaRPr lang="en-US" sz="1235" dirty="0">
                        <a:latin typeface="Public Sans" charset="0"/>
                        <a:ea typeface="Public Sans" charset="0"/>
                        <a:cs typeface="Public Sans" charset="0"/>
                      </a:endParaRPr>
                    </a:p>
                  </a:txBody>
                  <a:tcPr marL="54896" marR="54896" marT="54896" marB="54896"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729"/>
                        </a:lnSpc>
                        <a:buNone/>
                      </a:pPr>
                      <a:r>
                        <a:rPr lang="en-US" sz="1235" dirty="0">
                          <a:solidFill>
                            <a:srgbClr val="0B2545"/>
                          </a:solidFill>
                          <a:latin typeface="Public Sans" pitchFamily="34" charset="0"/>
                          <a:ea typeface="Public Sans" pitchFamily="34" charset="-122"/>
                          <a:cs typeface="Public Sans" pitchFamily="34" charset="-120"/>
                        </a:rPr>
                        <a:t>See the queues, approve or reject</a:t>
                      </a:r>
                      <a:endParaRPr lang="en-US" sz="1235" dirty="0">
                        <a:latin typeface="Public Sans" charset="0"/>
                        <a:ea typeface="Public Sans" charset="0"/>
                        <a:cs typeface="Public Sans" charset="0"/>
                      </a:endParaRPr>
                    </a:p>
                  </a:txBody>
                  <a:tcPr marL="54896" marR="54896" marT="54896" marB="54896"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r>
              <a:tr h="342437">
                <a:tc>
                  <a:txBody>
                    <a:bodyPr/>
                    <a:lstStyle/>
                    <a:p>
                      <a:pPr indent="0" marL="0">
                        <a:lnSpc>
                          <a:spcPts val="1729"/>
                        </a:lnSpc>
                        <a:buNone/>
                      </a:pPr>
                      <a:r>
                        <a:rPr lang="en-US" sz="1235" dirty="0">
                          <a:solidFill>
                            <a:srgbClr val="0B2545"/>
                          </a:solidFill>
                          <a:latin typeface="Public Sans" pitchFamily="34" charset="0"/>
                          <a:ea typeface="Public Sans" pitchFamily="34" charset="-122"/>
                          <a:cs typeface="Public Sans" pitchFamily="34" charset="-120"/>
                        </a:rPr>
                        <a:t>Execution</a:t>
                      </a:r>
                      <a:endParaRPr lang="en-US" sz="1235" dirty="0">
                        <a:latin typeface="Public Sans" charset="0"/>
                        <a:ea typeface="Public Sans" charset="0"/>
                        <a:cs typeface="Public Sans" charset="0"/>
                      </a:endParaRPr>
                    </a:p>
                  </a:txBody>
                  <a:tcPr marL="54896" marR="54896" marT="54896" marB="54896"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729"/>
                        </a:lnSpc>
                        <a:buNone/>
                      </a:pPr>
                      <a:r>
                        <a:rPr lang="en-US" sz="1235" dirty="0">
                          <a:solidFill>
                            <a:srgbClr val="0B2545"/>
                          </a:solidFill>
                          <a:latin typeface="Public Sans" pitchFamily="34" charset="0"/>
                          <a:ea typeface="Public Sans" pitchFamily="34" charset="-122"/>
                          <a:cs typeface="Public Sans" pitchFamily="34" charset="-120"/>
                        </a:rPr>
                        <a:t>8</a:t>
                      </a:r>
                      <a:endParaRPr lang="en-US" sz="1235" dirty="0">
                        <a:latin typeface="Public Sans" charset="0"/>
                        <a:ea typeface="Public Sans" charset="0"/>
                        <a:cs typeface="Public Sans" charset="0"/>
                      </a:endParaRPr>
                    </a:p>
                  </a:txBody>
                  <a:tcPr marL="54896" marR="54896" marT="54896" marB="54896"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729"/>
                        </a:lnSpc>
                        <a:buNone/>
                      </a:pPr>
                      <a:r>
                        <a:rPr lang="en-US" sz="1235" dirty="0">
                          <a:solidFill>
                            <a:srgbClr val="0B2545"/>
                          </a:solidFill>
                          <a:latin typeface="Public Sans" pitchFamily="34" charset="0"/>
                          <a:ea typeface="Public Sans" pitchFamily="34" charset="-122"/>
                          <a:cs typeface="Public Sans" pitchFamily="34" charset="-120"/>
                        </a:rPr>
                        <a:t>5 / 3</a:t>
                      </a:r>
                      <a:endParaRPr lang="en-US" sz="1235" dirty="0">
                        <a:latin typeface="Public Sans" charset="0"/>
                        <a:ea typeface="Public Sans" charset="0"/>
                        <a:cs typeface="Public Sans" charset="0"/>
                      </a:endParaRPr>
                    </a:p>
                  </a:txBody>
                  <a:tcPr marL="54896" marR="54896" marT="54896" marB="54896"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729"/>
                        </a:lnSpc>
                        <a:buNone/>
                      </a:pPr>
                      <a:r>
                        <a:rPr lang="en-US" sz="1235" dirty="0">
                          <a:solidFill>
                            <a:srgbClr val="0B2545"/>
                          </a:solidFill>
                          <a:latin typeface="Public Sans" pitchFamily="34" charset="0"/>
                          <a:ea typeface="Public Sans" pitchFamily="34" charset="-122"/>
                          <a:cs typeface="Public Sans" pitchFamily="34" charset="-120"/>
                        </a:rPr>
                        <a:t>Run steps, watch runs and logs, cancel</a:t>
                      </a:r>
                      <a:endParaRPr lang="en-US" sz="1235" dirty="0">
                        <a:latin typeface="Public Sans" charset="0"/>
                        <a:ea typeface="Public Sans" charset="0"/>
                        <a:cs typeface="Public Sans" charset="0"/>
                      </a:endParaRPr>
                    </a:p>
                  </a:txBody>
                  <a:tcPr marL="54896" marR="54896" marT="54896" marB="54896"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r>
              <a:tr h="342437">
                <a:tc>
                  <a:txBody>
                    <a:bodyPr/>
                    <a:lstStyle/>
                    <a:p>
                      <a:pPr indent="0" marL="0">
                        <a:lnSpc>
                          <a:spcPts val="1729"/>
                        </a:lnSpc>
                        <a:buNone/>
                      </a:pPr>
                      <a:r>
                        <a:rPr lang="en-US" sz="1235" dirty="0">
                          <a:solidFill>
                            <a:srgbClr val="0B2545"/>
                          </a:solidFill>
                          <a:latin typeface="Public Sans" pitchFamily="34" charset="0"/>
                          <a:ea typeface="Public Sans" pitchFamily="34" charset="-122"/>
                          <a:cs typeface="Public Sans" pitchFamily="34" charset="-120"/>
                        </a:rPr>
                        <a:t>Solutions</a:t>
                      </a:r>
                      <a:endParaRPr lang="en-US" sz="1235" dirty="0">
                        <a:latin typeface="Public Sans" charset="0"/>
                        <a:ea typeface="Public Sans" charset="0"/>
                        <a:cs typeface="Public Sans" charset="0"/>
                      </a:endParaRPr>
                    </a:p>
                  </a:txBody>
                  <a:tcPr marL="54896" marR="54896" marT="54896" marB="54896"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729"/>
                        </a:lnSpc>
                        <a:buNone/>
                      </a:pPr>
                      <a:r>
                        <a:rPr lang="en-US" sz="1235" dirty="0">
                          <a:solidFill>
                            <a:srgbClr val="0B2545"/>
                          </a:solidFill>
                          <a:latin typeface="Public Sans" pitchFamily="34" charset="0"/>
                          <a:ea typeface="Public Sans" pitchFamily="34" charset="-122"/>
                          <a:cs typeface="Public Sans" pitchFamily="34" charset="-120"/>
                        </a:rPr>
                        <a:t>6</a:t>
                      </a:r>
                      <a:endParaRPr lang="en-US" sz="1235" dirty="0">
                        <a:latin typeface="Public Sans" charset="0"/>
                        <a:ea typeface="Public Sans" charset="0"/>
                        <a:cs typeface="Public Sans" charset="0"/>
                      </a:endParaRPr>
                    </a:p>
                  </a:txBody>
                  <a:tcPr marL="54896" marR="54896" marT="54896" marB="54896"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729"/>
                        </a:lnSpc>
                        <a:buNone/>
                      </a:pPr>
                      <a:r>
                        <a:rPr lang="en-US" sz="1235" dirty="0">
                          <a:solidFill>
                            <a:srgbClr val="0B2545"/>
                          </a:solidFill>
                          <a:latin typeface="Public Sans" pitchFamily="34" charset="0"/>
                          <a:ea typeface="Public Sans" pitchFamily="34" charset="-122"/>
                          <a:cs typeface="Public Sans" pitchFamily="34" charset="-120"/>
                        </a:rPr>
                        <a:t>3 / 3</a:t>
                      </a:r>
                      <a:endParaRPr lang="en-US" sz="1235" dirty="0">
                        <a:latin typeface="Public Sans" charset="0"/>
                        <a:ea typeface="Public Sans" charset="0"/>
                        <a:cs typeface="Public Sans" charset="0"/>
                      </a:endParaRPr>
                    </a:p>
                  </a:txBody>
                  <a:tcPr marL="54896" marR="54896" marT="54896" marB="54896"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729"/>
                        </a:lnSpc>
                        <a:buNone/>
                      </a:pPr>
                      <a:r>
                        <a:rPr lang="en-US" sz="1235" dirty="0">
                          <a:solidFill>
                            <a:srgbClr val="0B2545"/>
                          </a:solidFill>
                          <a:latin typeface="Public Sans" pitchFamily="34" charset="0"/>
                          <a:ea typeface="Public Sans" pitchFamily="34" charset="-122"/>
                          <a:cs typeface="Public Sans" pitchFamily="34" charset="-120"/>
                        </a:rPr>
                        <a:t>Browse, create, update, retire fixes</a:t>
                      </a:r>
                      <a:endParaRPr lang="en-US" sz="1235" dirty="0">
                        <a:latin typeface="Public Sans" charset="0"/>
                        <a:ea typeface="Public Sans" charset="0"/>
                        <a:cs typeface="Public Sans" charset="0"/>
                      </a:endParaRPr>
                    </a:p>
                  </a:txBody>
                  <a:tcPr marL="54896" marR="54896" marT="54896" marB="54896"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r>
              <a:tr h="342437">
                <a:tc>
                  <a:txBody>
                    <a:bodyPr/>
                    <a:lstStyle/>
                    <a:p>
                      <a:pPr indent="0" marL="0">
                        <a:lnSpc>
                          <a:spcPts val="1729"/>
                        </a:lnSpc>
                        <a:buNone/>
                      </a:pPr>
                      <a:r>
                        <a:rPr lang="en-US" sz="1235" dirty="0">
                          <a:solidFill>
                            <a:srgbClr val="0B2545"/>
                          </a:solidFill>
                          <a:latin typeface="Public Sans" pitchFamily="34" charset="0"/>
                          <a:ea typeface="Public Sans" pitchFamily="34" charset="-122"/>
                          <a:cs typeface="Public Sans" pitchFamily="34" charset="-120"/>
                        </a:rPr>
                        <a:t>Assets</a:t>
                      </a:r>
                      <a:endParaRPr lang="en-US" sz="1235" dirty="0">
                        <a:latin typeface="Public Sans" charset="0"/>
                        <a:ea typeface="Public Sans" charset="0"/>
                        <a:cs typeface="Public Sans" charset="0"/>
                      </a:endParaRPr>
                    </a:p>
                  </a:txBody>
                  <a:tcPr marL="54896" marR="54896" marT="54896" marB="54896"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729"/>
                        </a:lnSpc>
                        <a:buNone/>
                      </a:pPr>
                      <a:r>
                        <a:rPr lang="en-US" sz="1235" dirty="0">
                          <a:solidFill>
                            <a:srgbClr val="0B2545"/>
                          </a:solidFill>
                          <a:latin typeface="Public Sans" pitchFamily="34" charset="0"/>
                          <a:ea typeface="Public Sans" pitchFamily="34" charset="-122"/>
                          <a:cs typeface="Public Sans" pitchFamily="34" charset="-120"/>
                        </a:rPr>
                        <a:t>6</a:t>
                      </a:r>
                      <a:endParaRPr lang="en-US" sz="1235" dirty="0">
                        <a:latin typeface="Public Sans" charset="0"/>
                        <a:ea typeface="Public Sans" charset="0"/>
                        <a:cs typeface="Public Sans" charset="0"/>
                      </a:endParaRPr>
                    </a:p>
                  </a:txBody>
                  <a:tcPr marL="54896" marR="54896" marT="54896" marB="54896"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729"/>
                        </a:lnSpc>
                        <a:buNone/>
                      </a:pPr>
                      <a:r>
                        <a:rPr lang="en-US" sz="1235" dirty="0">
                          <a:solidFill>
                            <a:srgbClr val="0B2545"/>
                          </a:solidFill>
                          <a:latin typeface="Public Sans" pitchFamily="34" charset="0"/>
                          <a:ea typeface="Public Sans" pitchFamily="34" charset="-122"/>
                          <a:cs typeface="Public Sans" pitchFamily="34" charset="-120"/>
                        </a:rPr>
                        <a:t>3 / 3</a:t>
                      </a:r>
                      <a:endParaRPr lang="en-US" sz="1235" dirty="0">
                        <a:latin typeface="Public Sans" charset="0"/>
                        <a:ea typeface="Public Sans" charset="0"/>
                        <a:cs typeface="Public Sans" charset="0"/>
                      </a:endParaRPr>
                    </a:p>
                  </a:txBody>
                  <a:tcPr marL="54896" marR="54896" marT="54896" marB="54896"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729"/>
                        </a:lnSpc>
                        <a:buNone/>
                      </a:pPr>
                      <a:r>
                        <a:rPr lang="en-US" sz="1235" dirty="0">
                          <a:solidFill>
                            <a:srgbClr val="0B2545"/>
                          </a:solidFill>
                          <a:latin typeface="Public Sans" pitchFamily="34" charset="0"/>
                          <a:ea typeface="Public Sans" pitchFamily="34" charset="-122"/>
                          <a:cs typeface="Public Sans" pitchFamily="34" charset="-120"/>
                        </a:rPr>
                        <a:t>Look up, add, edit, activate assets</a:t>
                      </a:r>
                      <a:endParaRPr lang="en-US" sz="1235" dirty="0">
                        <a:latin typeface="Public Sans" charset="0"/>
                        <a:ea typeface="Public Sans" charset="0"/>
                        <a:cs typeface="Public Sans" charset="0"/>
                      </a:endParaRPr>
                    </a:p>
                  </a:txBody>
                  <a:tcPr marL="54896" marR="54896" marT="54896" marB="54896"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r>
              <a:tr h="342437">
                <a:tc>
                  <a:txBody>
                    <a:bodyPr/>
                    <a:lstStyle/>
                    <a:p>
                      <a:pPr indent="0" marL="0">
                        <a:lnSpc>
                          <a:spcPts val="1729"/>
                        </a:lnSpc>
                        <a:buNone/>
                      </a:pPr>
                      <a:r>
                        <a:rPr lang="en-US" sz="1235" dirty="0">
                          <a:solidFill>
                            <a:srgbClr val="0B2545"/>
                          </a:solidFill>
                          <a:latin typeface="Public Sans" pitchFamily="34" charset="0"/>
                          <a:ea typeface="Public Sans" pitchFamily="34" charset="-122"/>
                          <a:cs typeface="Public Sans" pitchFamily="34" charset="-120"/>
                        </a:rPr>
                        <a:t>Vulnerabilities</a:t>
                      </a:r>
                      <a:endParaRPr lang="en-US" sz="1235" dirty="0">
                        <a:latin typeface="Public Sans" charset="0"/>
                        <a:ea typeface="Public Sans" charset="0"/>
                        <a:cs typeface="Public Sans" charset="0"/>
                      </a:endParaRPr>
                    </a:p>
                  </a:txBody>
                  <a:tcPr marL="54896" marR="54896" marT="54896" marB="54896"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729"/>
                        </a:lnSpc>
                        <a:buNone/>
                      </a:pPr>
                      <a:r>
                        <a:rPr lang="en-US" sz="1235" dirty="0">
                          <a:solidFill>
                            <a:srgbClr val="0B2545"/>
                          </a:solidFill>
                          <a:latin typeface="Public Sans" pitchFamily="34" charset="0"/>
                          <a:ea typeface="Public Sans" pitchFamily="34" charset="-122"/>
                          <a:cs typeface="Public Sans" pitchFamily="34" charset="-120"/>
                        </a:rPr>
                        <a:t>5</a:t>
                      </a:r>
                      <a:endParaRPr lang="en-US" sz="1235" dirty="0">
                        <a:latin typeface="Public Sans" charset="0"/>
                        <a:ea typeface="Public Sans" charset="0"/>
                        <a:cs typeface="Public Sans" charset="0"/>
                      </a:endParaRPr>
                    </a:p>
                  </a:txBody>
                  <a:tcPr marL="54896" marR="54896" marT="54896" marB="54896"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729"/>
                        </a:lnSpc>
                        <a:buNone/>
                      </a:pPr>
                      <a:r>
                        <a:rPr lang="en-US" sz="1235" dirty="0">
                          <a:solidFill>
                            <a:srgbClr val="0B2545"/>
                          </a:solidFill>
                          <a:latin typeface="Public Sans" pitchFamily="34" charset="0"/>
                          <a:ea typeface="Public Sans" pitchFamily="34" charset="-122"/>
                          <a:cs typeface="Public Sans" pitchFamily="34" charset="-120"/>
                        </a:rPr>
                        <a:t>2 / 3</a:t>
                      </a:r>
                      <a:endParaRPr lang="en-US" sz="1235" dirty="0">
                        <a:latin typeface="Public Sans" charset="0"/>
                        <a:ea typeface="Public Sans" charset="0"/>
                        <a:cs typeface="Public Sans" charset="0"/>
                      </a:endParaRPr>
                    </a:p>
                  </a:txBody>
                  <a:tcPr marL="54896" marR="54896" marT="54896" marB="54896"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729"/>
                        </a:lnSpc>
                        <a:buNone/>
                      </a:pPr>
                      <a:r>
                        <a:rPr lang="en-US" sz="1235" dirty="0">
                          <a:solidFill>
                            <a:srgbClr val="0B2545"/>
                          </a:solidFill>
                          <a:latin typeface="Public Sans" pitchFamily="34" charset="0"/>
                          <a:ea typeface="Public Sans" pitchFamily="34" charset="-122"/>
                          <a:cs typeface="Public Sans" pitchFamily="34" charset="-120"/>
                        </a:rPr>
                        <a:t>CVE register: look up, add, edit</a:t>
                      </a:r>
                      <a:endParaRPr lang="en-US" sz="1235" dirty="0">
                        <a:latin typeface="Public Sans" charset="0"/>
                        <a:ea typeface="Public Sans" charset="0"/>
                        <a:cs typeface="Public Sans" charset="0"/>
                      </a:endParaRPr>
                    </a:p>
                  </a:txBody>
                  <a:tcPr marL="54896" marR="54896" marT="54896" marB="54896"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r>
              <a:tr h="342437">
                <a:tc>
                  <a:txBody>
                    <a:bodyPr/>
                    <a:lstStyle/>
                    <a:p>
                      <a:pPr indent="0" marL="0">
                        <a:lnSpc>
                          <a:spcPts val="1729"/>
                        </a:lnSpc>
                        <a:buNone/>
                      </a:pPr>
                      <a:r>
                        <a:rPr lang="en-US" sz="1235" dirty="0">
                          <a:solidFill>
                            <a:srgbClr val="0B2545"/>
                          </a:solidFill>
                          <a:latin typeface="Public Sans" pitchFamily="34" charset="0"/>
                          <a:ea typeface="Public Sans" pitchFamily="34" charset="-122"/>
                          <a:cs typeface="Public Sans" pitchFamily="34" charset="-120"/>
                        </a:rPr>
                        <a:t>Insights</a:t>
                      </a:r>
                      <a:endParaRPr lang="en-US" sz="1235" dirty="0">
                        <a:latin typeface="Public Sans" charset="0"/>
                        <a:ea typeface="Public Sans" charset="0"/>
                        <a:cs typeface="Public Sans" charset="0"/>
                      </a:endParaRPr>
                    </a:p>
                  </a:txBody>
                  <a:tcPr marL="54896" marR="54896" marT="54896" marB="54896"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729"/>
                        </a:lnSpc>
                        <a:buNone/>
                      </a:pPr>
                      <a:r>
                        <a:rPr lang="en-US" sz="1235" dirty="0">
                          <a:solidFill>
                            <a:srgbClr val="0B2545"/>
                          </a:solidFill>
                          <a:latin typeface="Public Sans" pitchFamily="34" charset="0"/>
                          <a:ea typeface="Public Sans" pitchFamily="34" charset="-122"/>
                          <a:cs typeface="Public Sans" pitchFamily="34" charset="-120"/>
                        </a:rPr>
                        <a:t>5</a:t>
                      </a:r>
                      <a:endParaRPr lang="en-US" sz="1235" dirty="0">
                        <a:latin typeface="Public Sans" charset="0"/>
                        <a:ea typeface="Public Sans" charset="0"/>
                        <a:cs typeface="Public Sans" charset="0"/>
                      </a:endParaRPr>
                    </a:p>
                  </a:txBody>
                  <a:tcPr marL="54896" marR="54896" marT="54896" marB="54896"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729"/>
                        </a:lnSpc>
                        <a:buNone/>
                      </a:pPr>
                      <a:r>
                        <a:rPr lang="en-US" sz="1235" dirty="0">
                          <a:solidFill>
                            <a:srgbClr val="0B2545"/>
                          </a:solidFill>
                          <a:latin typeface="Public Sans" pitchFamily="34" charset="0"/>
                          <a:ea typeface="Public Sans" pitchFamily="34" charset="-122"/>
                          <a:cs typeface="Public Sans" pitchFamily="34" charset="-120"/>
                        </a:rPr>
                        <a:t>5 / 0</a:t>
                      </a:r>
                      <a:endParaRPr lang="en-US" sz="1235" dirty="0">
                        <a:latin typeface="Public Sans" charset="0"/>
                        <a:ea typeface="Public Sans" charset="0"/>
                        <a:cs typeface="Public Sans" charset="0"/>
                      </a:endParaRPr>
                    </a:p>
                  </a:txBody>
                  <a:tcPr marL="54896" marR="54896" marT="54896" marB="54896"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729"/>
                        </a:lnSpc>
                        <a:buNone/>
                      </a:pPr>
                      <a:r>
                        <a:rPr lang="en-US" sz="1235" dirty="0">
                          <a:solidFill>
                            <a:srgbClr val="0B2545"/>
                          </a:solidFill>
                          <a:latin typeface="Public Sans" pitchFamily="34" charset="0"/>
                          <a:ea typeface="Public Sans" pitchFamily="34" charset="-122"/>
                          <a:cs typeface="Public Sans" pitchFamily="34" charset="-120"/>
                        </a:rPr>
                        <a:t>Search by meaning, risk report, audit trail</a:t>
                      </a:r>
                      <a:endParaRPr lang="en-US" sz="1235" dirty="0">
                        <a:latin typeface="Public Sans" charset="0"/>
                        <a:ea typeface="Public Sans" charset="0"/>
                        <a:cs typeface="Public Sans" charset="0"/>
                      </a:endParaRPr>
                    </a:p>
                  </a:txBody>
                  <a:tcPr marL="54896" marR="54896" marT="54896" marB="54896"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r>
              <a:tr h="342437">
                <a:tc>
                  <a:txBody>
                    <a:bodyPr/>
                    <a:lstStyle/>
                    <a:p>
                      <a:pPr indent="0" marL="0">
                        <a:lnSpc>
                          <a:spcPts val="1729"/>
                        </a:lnSpc>
                        <a:buNone/>
                      </a:pPr>
                      <a:r>
                        <a:rPr lang="en-US" sz="1235" dirty="0">
                          <a:solidFill>
                            <a:srgbClr val="0B2545"/>
                          </a:solidFill>
                          <a:latin typeface="Public Sans" pitchFamily="34" charset="0"/>
                          <a:ea typeface="Public Sans" pitchFamily="34" charset="-122"/>
                          <a:cs typeface="Public Sans" pitchFamily="34" charset="-120"/>
                        </a:rPr>
                        <a:t>Scans</a:t>
                      </a:r>
                      <a:endParaRPr lang="en-US" sz="1235" dirty="0">
                        <a:latin typeface="Public Sans" charset="0"/>
                        <a:ea typeface="Public Sans" charset="0"/>
                        <a:cs typeface="Public Sans" charset="0"/>
                      </a:endParaRPr>
                    </a:p>
                  </a:txBody>
                  <a:tcPr marL="54896" marR="54896" marT="54896" marB="54896"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729"/>
                        </a:lnSpc>
                        <a:buNone/>
                      </a:pPr>
                      <a:r>
                        <a:rPr lang="en-US" sz="1235" dirty="0">
                          <a:solidFill>
                            <a:srgbClr val="0B2545"/>
                          </a:solidFill>
                          <a:latin typeface="Public Sans" pitchFamily="34" charset="0"/>
                          <a:ea typeface="Public Sans" pitchFamily="34" charset="-122"/>
                          <a:cs typeface="Public Sans" pitchFamily="34" charset="-120"/>
                        </a:rPr>
                        <a:t>3</a:t>
                      </a:r>
                      <a:endParaRPr lang="en-US" sz="1235" dirty="0">
                        <a:latin typeface="Public Sans" charset="0"/>
                        <a:ea typeface="Public Sans" charset="0"/>
                        <a:cs typeface="Public Sans" charset="0"/>
                      </a:endParaRPr>
                    </a:p>
                  </a:txBody>
                  <a:tcPr marL="54896" marR="54896" marT="54896" marB="54896"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729"/>
                        </a:lnSpc>
                        <a:buNone/>
                      </a:pPr>
                      <a:r>
                        <a:rPr lang="en-US" sz="1235" dirty="0">
                          <a:solidFill>
                            <a:srgbClr val="0B2545"/>
                          </a:solidFill>
                          <a:latin typeface="Public Sans" pitchFamily="34" charset="0"/>
                          <a:ea typeface="Public Sans" pitchFamily="34" charset="-122"/>
                          <a:cs typeface="Public Sans" pitchFamily="34" charset="-120"/>
                        </a:rPr>
                        <a:t>2 / 1</a:t>
                      </a:r>
                      <a:endParaRPr lang="en-US" sz="1235" dirty="0">
                        <a:latin typeface="Public Sans" charset="0"/>
                        <a:ea typeface="Public Sans" charset="0"/>
                        <a:cs typeface="Public Sans" charset="0"/>
                      </a:endParaRPr>
                    </a:p>
                  </a:txBody>
                  <a:tcPr marL="54896" marR="54896" marT="54896" marB="54896"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729"/>
                        </a:lnSpc>
                        <a:buNone/>
                      </a:pPr>
                      <a:r>
                        <a:rPr lang="en-US" sz="1235" dirty="0">
                          <a:solidFill>
                            <a:srgbClr val="0B2545"/>
                          </a:solidFill>
                          <a:latin typeface="Public Sans" pitchFamily="34" charset="0"/>
                          <a:ea typeface="Public Sans" pitchFamily="34" charset="-122"/>
                          <a:cs typeface="Public Sans" pitchFamily="34" charset="-120"/>
                        </a:rPr>
                        <a:t>List, validate and ingest workbooks</a:t>
                      </a:r>
                      <a:endParaRPr lang="en-US" sz="1235" dirty="0">
                        <a:latin typeface="Public Sans" charset="0"/>
                        <a:ea typeface="Public Sans" charset="0"/>
                        <a:cs typeface="Public Sans" charset="0"/>
                      </a:endParaRPr>
                    </a:p>
                  </a:txBody>
                  <a:tcPr marL="54896" marR="54896" marT="54896" marB="54896"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r>
              <a:tr h="342437">
                <a:tc>
                  <a:txBody>
                    <a:bodyPr/>
                    <a:lstStyle/>
                    <a:p>
                      <a:pPr indent="0" marL="0">
                        <a:lnSpc>
                          <a:spcPts val="1729"/>
                        </a:lnSpc>
                        <a:buNone/>
                      </a:pPr>
                      <a:r>
                        <a:rPr lang="en-US" sz="1235" dirty="0">
                          <a:solidFill>
                            <a:srgbClr val="0B2545"/>
                          </a:solidFill>
                          <a:latin typeface="Public Sans" pitchFamily="34" charset="0"/>
                          <a:ea typeface="Public Sans" pitchFamily="34" charset="-122"/>
                          <a:cs typeface="Public Sans" pitchFamily="34" charset="-120"/>
                        </a:rPr>
                        <a:t>Dashboard</a:t>
                      </a:r>
                      <a:endParaRPr lang="en-US" sz="1235" dirty="0">
                        <a:latin typeface="Public Sans" charset="0"/>
                        <a:ea typeface="Public Sans" charset="0"/>
                        <a:cs typeface="Public Sans" charset="0"/>
                      </a:endParaRPr>
                    </a:p>
                  </a:txBody>
                  <a:tcPr marL="54896" marR="54896" marT="54896" marB="54896"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729"/>
                        </a:lnSpc>
                        <a:buNone/>
                      </a:pPr>
                      <a:r>
                        <a:rPr lang="en-US" sz="1235" dirty="0">
                          <a:solidFill>
                            <a:srgbClr val="0B2545"/>
                          </a:solidFill>
                          <a:latin typeface="Public Sans" pitchFamily="34" charset="0"/>
                          <a:ea typeface="Public Sans" pitchFamily="34" charset="-122"/>
                          <a:cs typeface="Public Sans" pitchFamily="34" charset="-120"/>
                        </a:rPr>
                        <a:t>3</a:t>
                      </a:r>
                      <a:endParaRPr lang="en-US" sz="1235" dirty="0">
                        <a:latin typeface="Public Sans" charset="0"/>
                        <a:ea typeface="Public Sans" charset="0"/>
                        <a:cs typeface="Public Sans" charset="0"/>
                      </a:endParaRPr>
                    </a:p>
                  </a:txBody>
                  <a:tcPr marL="54896" marR="54896" marT="54896" marB="54896"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729"/>
                        </a:lnSpc>
                        <a:buNone/>
                      </a:pPr>
                      <a:r>
                        <a:rPr lang="en-US" sz="1235" dirty="0">
                          <a:solidFill>
                            <a:srgbClr val="0B2545"/>
                          </a:solidFill>
                          <a:latin typeface="Public Sans" pitchFamily="34" charset="0"/>
                          <a:ea typeface="Public Sans" pitchFamily="34" charset="-122"/>
                          <a:cs typeface="Public Sans" pitchFamily="34" charset="-120"/>
                        </a:rPr>
                        <a:t>3 / 0</a:t>
                      </a:r>
                      <a:endParaRPr lang="en-US" sz="1235" dirty="0">
                        <a:latin typeface="Public Sans" charset="0"/>
                        <a:ea typeface="Public Sans" charset="0"/>
                        <a:cs typeface="Public Sans" charset="0"/>
                      </a:endParaRPr>
                    </a:p>
                  </a:txBody>
                  <a:tcPr marL="54896" marR="54896" marT="54896" marB="54896"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1729"/>
                        </a:lnSpc>
                        <a:buNone/>
                      </a:pPr>
                      <a:r>
                        <a:rPr lang="en-US" sz="1235" dirty="0">
                          <a:solidFill>
                            <a:srgbClr val="0B2545"/>
                          </a:solidFill>
                          <a:latin typeface="Public Sans" pitchFamily="34" charset="0"/>
                          <a:ea typeface="Public Sans" pitchFamily="34" charset="-122"/>
                          <a:cs typeface="Public Sans" pitchFamily="34" charset="-120"/>
                        </a:rPr>
                        <a:t>Summary, attention items, users</a:t>
                      </a:r>
                      <a:endParaRPr lang="en-US" sz="1235" dirty="0">
                        <a:latin typeface="Public Sans" charset="0"/>
                        <a:ea typeface="Public Sans" charset="0"/>
                        <a:cs typeface="Public Sans" charset="0"/>
                      </a:endParaRPr>
                    </a:p>
                  </a:txBody>
                  <a:tcPr marL="54896" marR="54896" marT="54896" marB="54896"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r>
            </a:tbl>
          </a:graphicData>
        </a:graphic>
      </p:graphicFrame>
      <p:sp>
        <p:nvSpPr>
          <p:cNvPr id="5" name="Shape 2"/>
          <p:cNvSpPr/>
          <p:nvPr/>
        </p:nvSpPr>
        <p:spPr>
          <a:xfrm>
            <a:off x="812800" y="5122069"/>
            <a:ext cx="10566400" cy="719931"/>
          </a:xfrm>
          <a:prstGeom prst="roundRect">
            <a:avLst>
              <a:gd name="adj" fmla="val 14112"/>
            </a:avLst>
          </a:prstGeom>
          <a:solidFill>
            <a:srgbClr val="FEF3DD"/>
          </a:solidFill>
          <a:ln/>
        </p:spPr>
      </p:sp>
      <p:sp>
        <p:nvSpPr>
          <p:cNvPr id="6" name="Shape 3"/>
          <p:cNvSpPr/>
          <p:nvPr/>
        </p:nvSpPr>
        <p:spPr>
          <a:xfrm>
            <a:off x="812800" y="5122069"/>
            <a:ext cx="10566400" cy="719931"/>
          </a:xfrm>
          <a:custGeom>
            <a:avLst/>
            <a:gdLst/>
            <a:ahLst/>
            <a:cxnLst/>
            <a:rect l="l" t="t" r="r" b="b"/>
            <a:pathLst>
              <a:path w="10566400" h="719931">
                <a:moveTo>
                  <a:pt x="101600" y="719931"/>
                </a:moveTo>
                <a:lnTo>
                  <a:pt x="101600" y="719931"/>
                </a:lnTo>
                <a:arcTo hR="101600" wR="101600" stAng="5400000" swAng="5400000"/>
                <a:lnTo>
                  <a:pt x="0" y="101600"/>
                </a:lnTo>
                <a:arcTo hR="101600" wR="101600" stAng="10800000" swAng="5400000"/>
                <a:lnTo>
                  <a:pt x="101600" y="0"/>
                </a:lnTo>
                <a:arcTo hR="101600" wR="50800" stAng="16200000" swAng="-5400000"/>
                <a:lnTo>
                  <a:pt x="50800" y="618331"/>
                </a:lnTo>
                <a:arcTo hR="101600" wR="50800" stAng="10800000" swAng="-5400000"/>
                <a:close/>
              </a:path>
            </a:pathLst>
          </a:custGeom>
          <a:solidFill>
            <a:srgbClr val="F5A623"/>
          </a:solidFill>
          <a:ln/>
        </p:spPr>
      </p:sp>
      <p:sp>
        <p:nvSpPr>
          <p:cNvPr id="7" name="Text 4"/>
          <p:cNvSpPr/>
          <p:nvPr/>
        </p:nvSpPr>
        <p:spPr>
          <a:xfrm>
            <a:off x="1092200" y="5261769"/>
            <a:ext cx="10360152" cy="465931"/>
          </a:xfrm>
          <a:prstGeom prst="rect">
            <a:avLst/>
          </a:prstGeom>
          <a:noFill/>
          <a:ln/>
        </p:spPr>
        <p:txBody>
          <a:bodyPr wrap="square" lIns="0" tIns="0" rIns="0" bIns="0" rtlCol="0" anchor="t">
            <a:normAutofit/>
          </a:bodyPr>
          <a:lstStyle/>
          <a:p>
            <a:pPr algn="l" indent="0" marL="0">
              <a:lnSpc>
                <a:spcPts val="1769"/>
              </a:lnSpc>
              <a:buNone/>
            </a:pPr>
            <a:r>
              <a:rPr lang="en-US" sz="1263" b="1" dirty="0">
                <a:solidFill>
                  <a:srgbClr val="0B2545"/>
                </a:solidFill>
                <a:latin typeface="Public Sans" pitchFamily="34" charset="0"/>
                <a:ea typeface="Public Sans" pitchFamily="34" charset="-122"/>
                <a:cs typeface="Public Sans" pitchFamily="34" charset="-120"/>
              </a:rPr>
              <a:t>Read tools</a:t>
            </a:r>
            <a:r>
              <a:rPr lang="en-US" sz="1263" dirty="0">
                <a:solidFill>
                  <a:srgbClr val="0B2545"/>
                </a:solidFill>
                <a:latin typeface="Public Sans" pitchFamily="34" charset="0"/>
                <a:ea typeface="Public Sans" pitchFamily="34" charset="-122"/>
                <a:cs typeface="Public Sans" pitchFamily="34" charset="-120"/>
              </a:rPr>
              <a:t> are safe to run freely. </a:t>
            </a:r>
            <a:r>
              <a:rPr lang="en-US" sz="1263" b="1" dirty="0">
                <a:solidFill>
                  <a:srgbClr val="0B2545"/>
                </a:solidFill>
                <a:latin typeface="Public Sans" pitchFamily="34" charset="0"/>
                <a:ea typeface="Public Sans" pitchFamily="34" charset="-122"/>
                <a:cs typeface="Public Sans" pitchFamily="34" charset="-120"/>
              </a:rPr>
              <a:t>Write tools</a:t>
            </a:r>
            <a:r>
              <a:rPr lang="en-US" sz="1263" dirty="0">
                <a:solidFill>
                  <a:srgbClr val="0B2545"/>
                </a:solidFill>
                <a:latin typeface="Public Sans" pitchFamily="34" charset="0"/>
                <a:ea typeface="Public Sans" pitchFamily="34" charset="-122"/>
                <a:cs typeface="Public Sans" pitchFamily="34" charset="-120"/>
              </a:rPr>
              <a:t> change data, run with your own roles, and the assistant asks you first. Four are irreversible.</a:t>
            </a:r>
            <a:endParaRPr lang="en-US" sz="1263" dirty="0"/>
          </a:p>
        </p:txBody>
      </p:sp>
      <p:sp>
        <p:nvSpPr>
          <p:cNvPr id="8" name="Text 5"/>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Bulwark | Innova Solutions</a:t>
            </a:r>
            <a:endParaRPr lang="en-US" sz="1200" dirty="0"/>
          </a:p>
        </p:txBody>
      </p:sp>
      <p:sp>
        <p:nvSpPr>
          <p:cNvPr id="9" name="Text 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9FD"/>
        </a:solidFill>
      </p:bgPr>
    </p:bg>
    <p:spTree>
      <p:nvGrpSpPr>
        <p:cNvPr id="1" name=""/>
        <p:cNvGrpSpPr/>
        <p:nvPr/>
      </p:nvGrpSpPr>
      <p:grpSpPr>
        <a:xfrm>
          <a:off x="0" y="0"/>
          <a:ext cx="0" cy="0"/>
          <a:chOff x="0" y="0"/>
          <a:chExt cx="0" cy="0"/>
        </a:xfrm>
      </p:grpSpPr>
      <p:sp>
        <p:nvSpPr>
          <p:cNvPr id="2" name="Text 0"/>
          <p:cNvSpPr/>
          <p:nvPr/>
        </p:nvSpPr>
        <p:spPr>
          <a:xfrm>
            <a:off x="812800" y="6096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0072CE"/>
                </a:solidFill>
                <a:latin typeface="Public Sans" pitchFamily="34" charset="0"/>
                <a:ea typeface="Public Sans" pitchFamily="34" charset="-122"/>
                <a:cs typeface="Public Sans" pitchFamily="34" charset="-120"/>
              </a:rPr>
              <a:t>APPENDIX</a:t>
            </a:r>
            <a:endParaRPr lang="en-US" sz="1300" dirty="0"/>
          </a:p>
        </p:txBody>
      </p:sp>
      <p:sp>
        <p:nvSpPr>
          <p:cNvPr id="3" name="Text 1"/>
          <p:cNvSpPr/>
          <p:nvPr>
            <p:ph type="title"/>
          </p:nvPr>
        </p:nvSpPr>
        <p:spPr>
          <a:xfrm>
            <a:off x="812800" y="891518"/>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2545"/>
                </a:solidFill>
                <a:latin typeface="Source Serif 4" pitchFamily="18" charset="0"/>
                <a:ea typeface="Source Serif 4" pitchFamily="18" charset="-122"/>
                <a:cs typeface="Source Serif 4" pitchFamily="18" charset="-120"/>
              </a:rPr>
              <a:t>Tools by name: incidents, approvals, execution</a:t>
            </a:r>
            <a:endParaRPr lang="en-US" sz="3200" dirty="0"/>
          </a:p>
        </p:txBody>
      </p:sp>
      <p:sp>
        <p:nvSpPr>
          <p:cNvPr id="4" name="Shape 2"/>
          <p:cNvSpPr/>
          <p:nvPr/>
        </p:nvSpPr>
        <p:spPr>
          <a:xfrm>
            <a:off x="812800" y="1516335"/>
            <a:ext cx="3420533" cy="3905647"/>
          </a:xfrm>
          <a:prstGeom prst="roundRect">
            <a:avLst>
              <a:gd name="adj" fmla="val 2970"/>
            </a:avLst>
          </a:prstGeom>
          <a:solidFill>
            <a:srgbClr val="FFFFFF"/>
          </a:solidFill>
          <a:ln/>
        </p:spPr>
      </p:sp>
      <p:sp>
        <p:nvSpPr>
          <p:cNvPr id="5" name="Shape 3"/>
          <p:cNvSpPr/>
          <p:nvPr/>
        </p:nvSpPr>
        <p:spPr>
          <a:xfrm>
            <a:off x="812800" y="1516335"/>
            <a:ext cx="3420533" cy="3905647"/>
          </a:xfrm>
          <a:custGeom>
            <a:avLst/>
            <a:gdLst/>
            <a:ahLst/>
            <a:cxnLst/>
            <a:rect l="l" t="t" r="r" b="b"/>
            <a:pathLst>
              <a:path w="3420533" h="3905647">
                <a:moveTo>
                  <a:pt x="0" y="101600"/>
                </a:moveTo>
                <a:lnTo>
                  <a:pt x="0" y="101600"/>
                </a:lnTo>
                <a:arcTo hR="101600" wR="101600" stAng="10800000" swAng="5400000"/>
                <a:lnTo>
                  <a:pt x="3318933" y="0"/>
                </a:lnTo>
                <a:arcTo hR="101600" wR="101600" stAng="16200000" swAng="5400000"/>
                <a:lnTo>
                  <a:pt x="3420533" y="101600"/>
                </a:lnTo>
                <a:arcTo hR="63500" wR="101600" stAng="0" swAng="-5400000"/>
                <a:lnTo>
                  <a:pt x="101600" y="38100"/>
                </a:lnTo>
                <a:arcTo hR="63500" wR="101600" stAng="16200000" swAng="-5400000"/>
                <a:close/>
              </a:path>
            </a:pathLst>
          </a:custGeom>
          <a:solidFill>
            <a:srgbClr val="0072CE"/>
          </a:solidFill>
          <a:ln/>
        </p:spPr>
      </p:sp>
      <p:sp>
        <p:nvSpPr>
          <p:cNvPr id="6" name="Text 4"/>
          <p:cNvSpPr/>
          <p:nvPr/>
        </p:nvSpPr>
        <p:spPr>
          <a:xfrm>
            <a:off x="990600" y="1706835"/>
            <a:ext cx="3156881"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072CE"/>
                </a:solidFill>
                <a:latin typeface="Public Sans" pitchFamily="34" charset="0"/>
                <a:ea typeface="Public Sans" pitchFamily="34" charset="-122"/>
                <a:cs typeface="Public Sans" pitchFamily="34" charset="-120"/>
              </a:rPr>
              <a:t>Incidents (16)</a:t>
            </a:r>
            <a:endParaRPr lang="en-US" sz="1600" dirty="0"/>
          </a:p>
        </p:txBody>
      </p:sp>
      <p:sp>
        <p:nvSpPr>
          <p:cNvPr id="7" name="Text 5"/>
          <p:cNvSpPr/>
          <p:nvPr/>
        </p:nvSpPr>
        <p:spPr>
          <a:xfrm>
            <a:off x="990600" y="2026841"/>
            <a:ext cx="3156881" cy="3268133"/>
          </a:xfrm>
          <a:prstGeom prst="rect">
            <a:avLst/>
          </a:prstGeom>
          <a:noFill/>
          <a:ln/>
        </p:spPr>
        <p:txBody>
          <a:bodyPr wrap="square" lIns="0" tIns="0" rIns="0" bIns="0" rtlCol="0" anchor="t">
            <a:normAutofit/>
          </a:bodyPr>
          <a:lstStyle/>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R</a:t>
            </a:r>
            <a:r>
              <a:rPr lang="en-US" sz="1200" dirty="0">
                <a:solidFill>
                  <a:srgbClr val="0B2545"/>
                </a:solidFill>
                <a:latin typeface="JetBrains Mono" pitchFamily="49" charset="0"/>
                <a:ea typeface="JetBrains Mono" pitchFamily="49" charset="-122"/>
                <a:cs typeface="JetBrains Mono" pitchFamily="49" charset="-120"/>
              </a:rPr>
              <a:t> list_incidents</a:t>
            </a:r>
            <a:endParaRPr lang="en-US" sz="1200" dirty="0"/>
          </a:p>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R</a:t>
            </a:r>
            <a:r>
              <a:rPr lang="en-US" sz="1200" dirty="0">
                <a:solidFill>
                  <a:srgbClr val="0B2545"/>
                </a:solidFill>
                <a:latin typeface="JetBrains Mono" pitchFamily="49" charset="0"/>
                <a:ea typeface="JetBrains Mono" pitchFamily="49" charset="-122"/>
                <a:cs typeface="JetBrains Mono" pitchFamily="49" charset="-120"/>
              </a:rPr>
              <a:t> get_incident</a:t>
            </a:r>
            <a:endParaRPr lang="en-US" sz="1200" dirty="0"/>
          </a:p>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R</a:t>
            </a:r>
            <a:r>
              <a:rPr lang="en-US" sz="1200" dirty="0">
                <a:solidFill>
                  <a:srgbClr val="0B2545"/>
                </a:solidFill>
                <a:latin typeface="JetBrains Mono" pitchFamily="49" charset="0"/>
                <a:ea typeface="JetBrains Mono" pitchFamily="49" charset="-122"/>
                <a:cs typeface="JetBrains Mono" pitchFamily="49" charset="-120"/>
              </a:rPr>
              <a:t> get_similar_incidents</a:t>
            </a:r>
            <a:endParaRPr lang="en-US" sz="1200" dirty="0"/>
          </a:p>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R</a:t>
            </a:r>
            <a:r>
              <a:rPr lang="en-US" sz="1200" dirty="0">
                <a:solidFill>
                  <a:srgbClr val="0B2545"/>
                </a:solidFill>
                <a:latin typeface="JetBrains Mono" pitchFamily="49" charset="0"/>
                <a:ea typeface="JetBrains Mono" pitchFamily="49" charset="-122"/>
                <a:cs typeface="JetBrains Mono" pitchFamily="49" charset="-120"/>
              </a:rPr>
              <a:t> get_ai_plan</a:t>
            </a:r>
            <a:endParaRPr lang="en-US" sz="1200" dirty="0"/>
          </a:p>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W</a:t>
            </a:r>
            <a:r>
              <a:rPr lang="en-US" sz="1200" dirty="0">
                <a:solidFill>
                  <a:srgbClr val="0B2545"/>
                </a:solidFill>
                <a:latin typeface="JetBrains Mono" pitchFamily="49" charset="0"/>
                <a:ea typeface="JetBrains Mono" pitchFamily="49" charset="-122"/>
                <a:cs typeface="JetBrains Mono" pitchFamily="49" charset="-120"/>
              </a:rPr>
              <a:t> create_incident</a:t>
            </a:r>
            <a:endParaRPr lang="en-US" sz="1200" dirty="0"/>
          </a:p>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W</a:t>
            </a:r>
            <a:r>
              <a:rPr lang="en-US" sz="1200" dirty="0">
                <a:solidFill>
                  <a:srgbClr val="0B2545"/>
                </a:solidFill>
                <a:latin typeface="JetBrains Mono" pitchFamily="49" charset="0"/>
                <a:ea typeface="JetBrains Mono" pitchFamily="49" charset="-122"/>
                <a:cs typeface="JetBrains Mono" pitchFamily="49" charset="-120"/>
              </a:rPr>
              <a:t> update_incident</a:t>
            </a:r>
            <a:endParaRPr lang="en-US" sz="1200" dirty="0"/>
          </a:p>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W</a:t>
            </a:r>
            <a:r>
              <a:rPr lang="en-US" sz="1200" dirty="0">
                <a:solidFill>
                  <a:srgbClr val="0B2545"/>
                </a:solidFill>
                <a:latin typeface="JetBrains Mono" pitchFamily="49" charset="0"/>
                <a:ea typeface="JetBrains Mono" pitchFamily="49" charset="-122"/>
                <a:cs typeface="JetBrains Mono" pitchFamily="49" charset="-120"/>
              </a:rPr>
              <a:t> replace_incident_assets</a:t>
            </a:r>
            <a:endParaRPr lang="en-US" sz="1200" dirty="0"/>
          </a:p>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W</a:t>
            </a:r>
            <a:r>
              <a:rPr lang="en-US" sz="1200" dirty="0">
                <a:solidFill>
                  <a:srgbClr val="0B2545"/>
                </a:solidFill>
                <a:latin typeface="JetBrains Mono" pitchFamily="49" charset="0"/>
                <a:ea typeface="JetBrains Mono" pitchFamily="49" charset="-122"/>
                <a:cs typeface="JetBrains Mono" pitchFamily="49" charset="-120"/>
              </a:rPr>
              <a:t> exclude_incident_asset</a:t>
            </a:r>
            <a:endParaRPr lang="en-US" sz="1200" dirty="0"/>
          </a:p>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W</a:t>
            </a:r>
            <a:r>
              <a:rPr lang="en-US" sz="1200" dirty="0">
                <a:solidFill>
                  <a:srgbClr val="0B2545"/>
                </a:solidFill>
                <a:latin typeface="JetBrains Mono" pitchFamily="49" charset="0"/>
                <a:ea typeface="JetBrains Mono" pitchFamily="49" charset="-122"/>
                <a:cs typeface="JetBrains Mono" pitchFamily="49" charset="-120"/>
              </a:rPr>
              <a:t> set_incident_plan</a:t>
            </a:r>
            <a:endParaRPr lang="en-US" sz="1200" dirty="0"/>
          </a:p>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W</a:t>
            </a:r>
            <a:r>
              <a:rPr lang="en-US" sz="1200" dirty="0">
                <a:solidFill>
                  <a:srgbClr val="0B2545"/>
                </a:solidFill>
                <a:latin typeface="JetBrains Mono" pitchFamily="49" charset="0"/>
                <a:ea typeface="JetBrains Mono" pitchFamily="49" charset="-122"/>
                <a:cs typeface="JetBrains Mono" pitchFamily="49" charset="-120"/>
              </a:rPr>
              <a:t> clear_incident_plan *</a:t>
            </a:r>
            <a:endParaRPr lang="en-US" sz="1200" dirty="0"/>
          </a:p>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W</a:t>
            </a:r>
            <a:r>
              <a:rPr lang="en-US" sz="1200" dirty="0">
                <a:solidFill>
                  <a:srgbClr val="0B2545"/>
                </a:solidFill>
                <a:latin typeface="JetBrains Mono" pitchFamily="49" charset="0"/>
                <a:ea typeface="JetBrains Mono" pitchFamily="49" charset="-122"/>
                <a:cs typeface="JetBrains Mono" pitchFamily="49" charset="-120"/>
              </a:rPr>
              <a:t> copy_incident_plan</a:t>
            </a:r>
            <a:endParaRPr lang="en-US" sz="1200" dirty="0"/>
          </a:p>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W</a:t>
            </a:r>
            <a:r>
              <a:rPr lang="en-US" sz="1200" dirty="0">
                <a:solidFill>
                  <a:srgbClr val="0B2545"/>
                </a:solidFill>
                <a:latin typeface="JetBrains Mono" pitchFamily="49" charset="0"/>
                <a:ea typeface="JetBrains Mono" pitchFamily="49" charset="-122"/>
                <a:cs typeface="JetBrains Mono" pitchFamily="49" charset="-120"/>
              </a:rPr>
              <a:t> apply_ai_plan</a:t>
            </a:r>
            <a:endParaRPr lang="en-US" sz="1200" dirty="0"/>
          </a:p>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W</a:t>
            </a:r>
            <a:r>
              <a:rPr lang="en-US" sz="1200" dirty="0">
                <a:solidFill>
                  <a:srgbClr val="0B2545"/>
                </a:solidFill>
                <a:latin typeface="JetBrains Mono" pitchFamily="49" charset="0"/>
                <a:ea typeface="JetBrains Mono" pitchFamily="49" charset="-122"/>
                <a:cs typeface="JetBrains Mono" pitchFamily="49" charset="-120"/>
              </a:rPr>
              <a:t> dismiss_ai_plan</a:t>
            </a:r>
            <a:endParaRPr lang="en-US" sz="1200" dirty="0"/>
          </a:p>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W</a:t>
            </a:r>
            <a:r>
              <a:rPr lang="en-US" sz="1200" dirty="0">
                <a:solidFill>
                  <a:srgbClr val="0B2545"/>
                </a:solidFill>
                <a:latin typeface="JetBrains Mono" pitchFamily="49" charset="0"/>
                <a:ea typeface="JetBrains Mono" pitchFamily="49" charset="-122"/>
                <a:cs typeface="JetBrains Mono" pitchFamily="49" charset="-120"/>
              </a:rPr>
              <a:t> submit_incident_for_approval</a:t>
            </a:r>
            <a:endParaRPr lang="en-US" sz="1200" dirty="0"/>
          </a:p>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W</a:t>
            </a:r>
            <a:r>
              <a:rPr lang="en-US" sz="1200" dirty="0">
                <a:solidFill>
                  <a:srgbClr val="0B2545"/>
                </a:solidFill>
                <a:latin typeface="JetBrains Mono" pitchFamily="49" charset="0"/>
                <a:ea typeface="JetBrains Mono" pitchFamily="49" charset="-122"/>
                <a:cs typeface="JetBrains Mono" pitchFamily="49" charset="-120"/>
              </a:rPr>
              <a:t> change_incident_status</a:t>
            </a:r>
            <a:endParaRPr lang="en-US" sz="1200" dirty="0"/>
          </a:p>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W</a:t>
            </a:r>
            <a:r>
              <a:rPr lang="en-US" sz="1200" dirty="0">
                <a:solidFill>
                  <a:srgbClr val="0B2545"/>
                </a:solidFill>
                <a:latin typeface="JetBrains Mono" pitchFamily="49" charset="0"/>
                <a:ea typeface="JetBrains Mono" pitchFamily="49" charset="-122"/>
                <a:cs typeface="JetBrains Mono" pitchFamily="49" charset="-120"/>
              </a:rPr>
              <a:t> close_incident *</a:t>
            </a:r>
            <a:endParaRPr lang="en-US" sz="1200" dirty="0"/>
          </a:p>
        </p:txBody>
      </p:sp>
      <p:sp>
        <p:nvSpPr>
          <p:cNvPr id="8" name="Shape 6"/>
          <p:cNvSpPr/>
          <p:nvPr/>
        </p:nvSpPr>
        <p:spPr>
          <a:xfrm>
            <a:off x="4385733" y="1516335"/>
            <a:ext cx="3420533" cy="3905647"/>
          </a:xfrm>
          <a:prstGeom prst="roundRect">
            <a:avLst>
              <a:gd name="adj" fmla="val 2970"/>
            </a:avLst>
          </a:prstGeom>
          <a:solidFill>
            <a:srgbClr val="FFFFFF"/>
          </a:solidFill>
          <a:ln/>
        </p:spPr>
      </p:sp>
      <p:sp>
        <p:nvSpPr>
          <p:cNvPr id="9" name="Shape 7"/>
          <p:cNvSpPr/>
          <p:nvPr/>
        </p:nvSpPr>
        <p:spPr>
          <a:xfrm>
            <a:off x="4385733" y="1516335"/>
            <a:ext cx="3420533" cy="3905647"/>
          </a:xfrm>
          <a:custGeom>
            <a:avLst/>
            <a:gdLst/>
            <a:ahLst/>
            <a:cxnLst/>
            <a:rect l="l" t="t" r="r" b="b"/>
            <a:pathLst>
              <a:path w="3420533" h="3905647">
                <a:moveTo>
                  <a:pt x="0" y="101600"/>
                </a:moveTo>
                <a:lnTo>
                  <a:pt x="0" y="101600"/>
                </a:lnTo>
                <a:arcTo hR="101600" wR="101600" stAng="10800000" swAng="5400000"/>
                <a:lnTo>
                  <a:pt x="3318933" y="0"/>
                </a:lnTo>
                <a:arcTo hR="101600" wR="101600" stAng="16200000" swAng="5400000"/>
                <a:lnTo>
                  <a:pt x="3420533" y="101600"/>
                </a:lnTo>
                <a:arcTo hR="63500" wR="101600" stAng="0" swAng="-5400000"/>
                <a:lnTo>
                  <a:pt x="101600" y="38100"/>
                </a:lnTo>
                <a:arcTo hR="63500" wR="101600" stAng="16200000" swAng="-5400000"/>
                <a:close/>
              </a:path>
            </a:pathLst>
          </a:custGeom>
          <a:solidFill>
            <a:srgbClr val="0072CE"/>
          </a:solidFill>
          <a:ln/>
        </p:spPr>
      </p:sp>
      <p:sp>
        <p:nvSpPr>
          <p:cNvPr id="10" name="Text 8"/>
          <p:cNvSpPr/>
          <p:nvPr/>
        </p:nvSpPr>
        <p:spPr>
          <a:xfrm>
            <a:off x="4563533" y="1706835"/>
            <a:ext cx="3156881"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072CE"/>
                </a:solidFill>
                <a:latin typeface="Public Sans" pitchFamily="34" charset="0"/>
                <a:ea typeface="Public Sans" pitchFamily="34" charset="-122"/>
                <a:cs typeface="Public Sans" pitchFamily="34" charset="-120"/>
              </a:rPr>
              <a:t>Approvals (8)</a:t>
            </a:r>
            <a:endParaRPr lang="en-US" sz="1600" dirty="0"/>
          </a:p>
        </p:txBody>
      </p:sp>
      <p:sp>
        <p:nvSpPr>
          <p:cNvPr id="11" name="Text 9"/>
          <p:cNvSpPr/>
          <p:nvPr/>
        </p:nvSpPr>
        <p:spPr>
          <a:xfrm>
            <a:off x="4563533" y="2026841"/>
            <a:ext cx="3156881" cy="1646767"/>
          </a:xfrm>
          <a:prstGeom prst="rect">
            <a:avLst/>
          </a:prstGeom>
          <a:noFill/>
          <a:ln/>
        </p:spPr>
        <p:txBody>
          <a:bodyPr wrap="square" lIns="0" tIns="0" rIns="0" bIns="0" rtlCol="0" anchor="t">
            <a:normAutofit/>
          </a:bodyPr>
          <a:lstStyle/>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R</a:t>
            </a:r>
            <a:r>
              <a:rPr lang="en-US" sz="1200" dirty="0">
                <a:solidFill>
                  <a:srgbClr val="0B2545"/>
                </a:solidFill>
                <a:latin typeface="JetBrains Mono" pitchFamily="49" charset="0"/>
                <a:ea typeface="JetBrains Mono" pitchFamily="49" charset="-122"/>
                <a:cs typeface="JetBrains Mono" pitchFamily="49" charset="-120"/>
              </a:rPr>
              <a:t> get_approvals_summary</a:t>
            </a:r>
            <a:endParaRPr lang="en-US" sz="1200" dirty="0"/>
          </a:p>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R</a:t>
            </a:r>
            <a:r>
              <a:rPr lang="en-US" sz="1200" dirty="0">
                <a:solidFill>
                  <a:srgbClr val="0B2545"/>
                </a:solidFill>
                <a:latin typeface="JetBrains Mono" pitchFamily="49" charset="0"/>
                <a:ea typeface="JetBrains Mono" pitchFamily="49" charset="-122"/>
                <a:cs typeface="JetBrains Mono" pitchFamily="49" charset="-120"/>
              </a:rPr>
              <a:t> list_incident_approvals</a:t>
            </a:r>
            <a:endParaRPr lang="en-US" sz="1200" dirty="0"/>
          </a:p>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R</a:t>
            </a:r>
            <a:r>
              <a:rPr lang="en-US" sz="1200" dirty="0">
                <a:solidFill>
                  <a:srgbClr val="0B2545"/>
                </a:solidFill>
                <a:latin typeface="JetBrains Mono" pitchFamily="49" charset="0"/>
                <a:ea typeface="JetBrains Mono" pitchFamily="49" charset="-122"/>
                <a:cs typeface="JetBrains Mono" pitchFamily="49" charset="-120"/>
              </a:rPr>
              <a:t> list_solution_reviews</a:t>
            </a:r>
            <a:endParaRPr lang="en-US" sz="1200" dirty="0"/>
          </a:p>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W</a:t>
            </a:r>
            <a:r>
              <a:rPr lang="en-US" sz="1200" dirty="0">
                <a:solidFill>
                  <a:srgbClr val="0B2545"/>
                </a:solidFill>
                <a:latin typeface="JetBrains Mono" pitchFamily="49" charset="0"/>
                <a:ea typeface="JetBrains Mono" pitchFamily="49" charset="-122"/>
                <a:cs typeface="JetBrains Mono" pitchFamily="49" charset="-120"/>
              </a:rPr>
              <a:t> approve_incident</a:t>
            </a:r>
            <a:endParaRPr lang="en-US" sz="1200" dirty="0"/>
          </a:p>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W</a:t>
            </a:r>
            <a:r>
              <a:rPr lang="en-US" sz="1200" dirty="0">
                <a:solidFill>
                  <a:srgbClr val="0B2545"/>
                </a:solidFill>
                <a:latin typeface="JetBrains Mono" pitchFamily="49" charset="0"/>
                <a:ea typeface="JetBrains Mono" pitchFamily="49" charset="-122"/>
                <a:cs typeface="JetBrains Mono" pitchFamily="49" charset="-120"/>
              </a:rPr>
              <a:t> reject_incident</a:t>
            </a:r>
            <a:endParaRPr lang="en-US" sz="1200" dirty="0"/>
          </a:p>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W</a:t>
            </a:r>
            <a:r>
              <a:rPr lang="en-US" sz="1200" dirty="0">
                <a:solidFill>
                  <a:srgbClr val="0B2545"/>
                </a:solidFill>
                <a:latin typeface="JetBrains Mono" pitchFamily="49" charset="0"/>
                <a:ea typeface="JetBrains Mono" pitchFamily="49" charset="-122"/>
                <a:cs typeface="JetBrains Mono" pitchFamily="49" charset="-120"/>
              </a:rPr>
              <a:t> approve_solution_review</a:t>
            </a:r>
            <a:endParaRPr lang="en-US" sz="1200" dirty="0"/>
          </a:p>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W</a:t>
            </a:r>
            <a:r>
              <a:rPr lang="en-US" sz="1200" dirty="0">
                <a:solidFill>
                  <a:srgbClr val="0B2545"/>
                </a:solidFill>
                <a:latin typeface="JetBrains Mono" pitchFamily="49" charset="0"/>
                <a:ea typeface="JetBrains Mono" pitchFamily="49" charset="-122"/>
                <a:cs typeface="JetBrains Mono" pitchFamily="49" charset="-120"/>
              </a:rPr>
              <a:t> reject_solution_review</a:t>
            </a:r>
            <a:endParaRPr lang="en-US" sz="1200" dirty="0"/>
          </a:p>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W</a:t>
            </a:r>
            <a:r>
              <a:rPr lang="en-US" sz="1200" dirty="0">
                <a:solidFill>
                  <a:srgbClr val="0B2545"/>
                </a:solidFill>
                <a:latin typeface="JetBrains Mono" pitchFamily="49" charset="0"/>
                <a:ea typeface="JetBrains Mono" pitchFamily="49" charset="-122"/>
                <a:cs typeface="JetBrains Mono" pitchFamily="49" charset="-120"/>
              </a:rPr>
              <a:t> request_solution_changes</a:t>
            </a:r>
            <a:endParaRPr lang="en-US" sz="1200" dirty="0"/>
          </a:p>
        </p:txBody>
      </p:sp>
      <p:sp>
        <p:nvSpPr>
          <p:cNvPr id="12" name="Shape 10"/>
          <p:cNvSpPr/>
          <p:nvPr/>
        </p:nvSpPr>
        <p:spPr>
          <a:xfrm>
            <a:off x="7958667" y="1516335"/>
            <a:ext cx="3420533" cy="3905647"/>
          </a:xfrm>
          <a:prstGeom prst="roundRect">
            <a:avLst>
              <a:gd name="adj" fmla="val 2970"/>
            </a:avLst>
          </a:prstGeom>
          <a:solidFill>
            <a:srgbClr val="FFFFFF"/>
          </a:solidFill>
          <a:ln/>
        </p:spPr>
      </p:sp>
      <p:sp>
        <p:nvSpPr>
          <p:cNvPr id="13" name="Shape 11"/>
          <p:cNvSpPr/>
          <p:nvPr/>
        </p:nvSpPr>
        <p:spPr>
          <a:xfrm>
            <a:off x="7958667" y="1516335"/>
            <a:ext cx="3420533" cy="3905647"/>
          </a:xfrm>
          <a:custGeom>
            <a:avLst/>
            <a:gdLst/>
            <a:ahLst/>
            <a:cxnLst/>
            <a:rect l="l" t="t" r="r" b="b"/>
            <a:pathLst>
              <a:path w="3420533" h="3905647">
                <a:moveTo>
                  <a:pt x="0" y="101600"/>
                </a:moveTo>
                <a:lnTo>
                  <a:pt x="0" y="101600"/>
                </a:lnTo>
                <a:arcTo hR="101600" wR="101600" stAng="10800000" swAng="5400000"/>
                <a:lnTo>
                  <a:pt x="3318933" y="0"/>
                </a:lnTo>
                <a:arcTo hR="101600" wR="101600" stAng="16200000" swAng="5400000"/>
                <a:lnTo>
                  <a:pt x="3420533" y="101600"/>
                </a:lnTo>
                <a:arcTo hR="63500" wR="101600" stAng="0" swAng="-5400000"/>
                <a:lnTo>
                  <a:pt x="101600" y="38100"/>
                </a:lnTo>
                <a:arcTo hR="63500" wR="101600" stAng="16200000" swAng="-5400000"/>
                <a:close/>
              </a:path>
            </a:pathLst>
          </a:custGeom>
          <a:solidFill>
            <a:srgbClr val="0072CE"/>
          </a:solidFill>
          <a:ln/>
        </p:spPr>
      </p:sp>
      <p:sp>
        <p:nvSpPr>
          <p:cNvPr id="14" name="Text 12"/>
          <p:cNvSpPr/>
          <p:nvPr/>
        </p:nvSpPr>
        <p:spPr>
          <a:xfrm>
            <a:off x="8136467" y="1706835"/>
            <a:ext cx="3156881"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072CE"/>
                </a:solidFill>
                <a:latin typeface="Public Sans" pitchFamily="34" charset="0"/>
                <a:ea typeface="Public Sans" pitchFamily="34" charset="-122"/>
                <a:cs typeface="Public Sans" pitchFamily="34" charset="-120"/>
              </a:rPr>
              <a:t>Execution (8)</a:t>
            </a:r>
            <a:endParaRPr lang="en-US" sz="1600" dirty="0"/>
          </a:p>
        </p:txBody>
      </p:sp>
      <p:sp>
        <p:nvSpPr>
          <p:cNvPr id="15" name="Text 13"/>
          <p:cNvSpPr/>
          <p:nvPr/>
        </p:nvSpPr>
        <p:spPr>
          <a:xfrm>
            <a:off x="8136467" y="2026841"/>
            <a:ext cx="3156881" cy="1646767"/>
          </a:xfrm>
          <a:prstGeom prst="rect">
            <a:avLst/>
          </a:prstGeom>
          <a:noFill/>
          <a:ln/>
        </p:spPr>
        <p:txBody>
          <a:bodyPr wrap="square" lIns="0" tIns="0" rIns="0" bIns="0" rtlCol="0" anchor="t">
            <a:normAutofit/>
          </a:bodyPr>
          <a:lstStyle/>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R</a:t>
            </a:r>
            <a:r>
              <a:rPr lang="en-US" sz="1200" dirty="0">
                <a:solidFill>
                  <a:srgbClr val="0B2545"/>
                </a:solidFill>
                <a:latin typeface="JetBrains Mono" pitchFamily="49" charset="0"/>
                <a:ea typeface="JetBrains Mono" pitchFamily="49" charset="-122"/>
                <a:cs typeface="JetBrains Mono" pitchFamily="49" charset="-120"/>
              </a:rPr>
              <a:t> list_executable_incidents</a:t>
            </a:r>
            <a:endParaRPr lang="en-US" sz="1200" dirty="0"/>
          </a:p>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R</a:t>
            </a:r>
            <a:r>
              <a:rPr lang="en-US" sz="1200" dirty="0">
                <a:solidFill>
                  <a:srgbClr val="0B2545"/>
                </a:solidFill>
                <a:latin typeface="JetBrains Mono" pitchFamily="49" charset="0"/>
                <a:ea typeface="JetBrains Mono" pitchFamily="49" charset="-122"/>
                <a:cs typeface="JetBrains Mono" pitchFamily="49" charset="-120"/>
              </a:rPr>
              <a:t> get_execution_grid</a:t>
            </a:r>
            <a:endParaRPr lang="en-US" sz="1200" dirty="0"/>
          </a:p>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R</a:t>
            </a:r>
            <a:r>
              <a:rPr lang="en-US" sz="1200" dirty="0">
                <a:solidFill>
                  <a:srgbClr val="0B2545"/>
                </a:solidFill>
                <a:latin typeface="JetBrains Mono" pitchFamily="49" charset="0"/>
                <a:ea typeface="JetBrains Mono" pitchFamily="49" charset="-122"/>
                <a:cs typeface="JetBrains Mono" pitchFamily="49" charset="-120"/>
              </a:rPr>
              <a:t> list_runs</a:t>
            </a:r>
            <a:endParaRPr lang="en-US" sz="1200" dirty="0"/>
          </a:p>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R</a:t>
            </a:r>
            <a:r>
              <a:rPr lang="en-US" sz="1200" dirty="0">
                <a:solidFill>
                  <a:srgbClr val="0B2545"/>
                </a:solidFill>
                <a:latin typeface="JetBrains Mono" pitchFamily="49" charset="0"/>
                <a:ea typeface="JetBrains Mono" pitchFamily="49" charset="-122"/>
                <a:cs typeface="JetBrains Mono" pitchFamily="49" charset="-120"/>
              </a:rPr>
              <a:t> get_run</a:t>
            </a:r>
            <a:endParaRPr lang="en-US" sz="1200" dirty="0"/>
          </a:p>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R</a:t>
            </a:r>
            <a:r>
              <a:rPr lang="en-US" sz="1200" dirty="0">
                <a:solidFill>
                  <a:srgbClr val="0B2545"/>
                </a:solidFill>
                <a:latin typeface="JetBrains Mono" pitchFamily="49" charset="0"/>
                <a:ea typeface="JetBrains Mono" pitchFamily="49" charset="-122"/>
                <a:cs typeface="JetBrains Mono" pitchFamily="49" charset="-120"/>
              </a:rPr>
              <a:t> get_run_logs</a:t>
            </a:r>
            <a:endParaRPr lang="en-US" sz="1200" dirty="0"/>
          </a:p>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W</a:t>
            </a:r>
            <a:r>
              <a:rPr lang="en-US" sz="1200" dirty="0">
                <a:solidFill>
                  <a:srgbClr val="0B2545"/>
                </a:solidFill>
                <a:latin typeface="JetBrains Mono" pitchFamily="49" charset="0"/>
                <a:ea typeface="JetBrains Mono" pitchFamily="49" charset="-122"/>
                <a:cs typeface="JetBrains Mono" pitchFamily="49" charset="-120"/>
              </a:rPr>
              <a:t> run_plan_step</a:t>
            </a:r>
            <a:endParaRPr lang="en-US" sz="1200" dirty="0"/>
          </a:p>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W</a:t>
            </a:r>
            <a:r>
              <a:rPr lang="en-US" sz="1200" dirty="0">
                <a:solidFill>
                  <a:srgbClr val="0B2545"/>
                </a:solidFill>
                <a:latin typeface="JetBrains Mono" pitchFamily="49" charset="0"/>
                <a:ea typeface="JetBrains Mono" pitchFamily="49" charset="-122"/>
                <a:cs typeface="JetBrains Mono" pitchFamily="49" charset="-120"/>
              </a:rPr>
              <a:t> run_full_plan</a:t>
            </a:r>
            <a:endParaRPr lang="en-US" sz="1200" dirty="0"/>
          </a:p>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W</a:t>
            </a:r>
            <a:r>
              <a:rPr lang="en-US" sz="1200" dirty="0">
                <a:solidFill>
                  <a:srgbClr val="0B2545"/>
                </a:solidFill>
                <a:latin typeface="JetBrains Mono" pitchFamily="49" charset="0"/>
                <a:ea typeface="JetBrains Mono" pitchFamily="49" charset="-122"/>
                <a:cs typeface="JetBrains Mono" pitchFamily="49" charset="-120"/>
              </a:rPr>
              <a:t> cancel_run *</a:t>
            </a:r>
            <a:endParaRPr lang="en-US" sz="1200" dirty="0"/>
          </a:p>
        </p:txBody>
      </p:sp>
      <p:sp>
        <p:nvSpPr>
          <p:cNvPr id="16" name="Text 14"/>
          <p:cNvSpPr/>
          <p:nvPr/>
        </p:nvSpPr>
        <p:spPr>
          <a:xfrm>
            <a:off x="812800" y="559978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5B6B7C"/>
                </a:solidFill>
                <a:latin typeface="Public Sans" pitchFamily="34" charset="0"/>
                <a:ea typeface="Public Sans" pitchFamily="34" charset="-122"/>
                <a:cs typeface="Public Sans" pitchFamily="34" charset="-120"/>
              </a:rPr>
              <a:t>R = read, W = write, * = irreversible.</a:t>
            </a:r>
            <a:endParaRPr lang="en-US" sz="1200" dirty="0"/>
          </a:p>
        </p:txBody>
      </p:sp>
      <p:sp>
        <p:nvSpPr>
          <p:cNvPr id="17" name="Text 15"/>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Bulwark | Innova Solutions</a:t>
            </a:r>
            <a:endParaRPr lang="en-US" sz="1200" dirty="0"/>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9FD"/>
        </a:solidFill>
      </p:bgPr>
    </p:bg>
    <p:spTree>
      <p:nvGrpSpPr>
        <p:cNvPr id="1" name=""/>
        <p:cNvGrpSpPr/>
        <p:nvPr/>
      </p:nvGrpSpPr>
      <p:grpSpPr>
        <a:xfrm>
          <a:off x="0" y="0"/>
          <a:ext cx="0" cy="0"/>
          <a:chOff x="0" y="0"/>
          <a:chExt cx="0" cy="0"/>
        </a:xfrm>
      </p:grpSpPr>
      <p:sp>
        <p:nvSpPr>
          <p:cNvPr id="2" name="Text 0"/>
          <p:cNvSpPr/>
          <p:nvPr/>
        </p:nvSpPr>
        <p:spPr>
          <a:xfrm>
            <a:off x="812800" y="6096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0072CE"/>
                </a:solidFill>
                <a:latin typeface="Public Sans" pitchFamily="34" charset="0"/>
                <a:ea typeface="Public Sans" pitchFamily="34" charset="-122"/>
                <a:cs typeface="Public Sans" pitchFamily="34" charset="-120"/>
              </a:rPr>
              <a:t>APPENDIX</a:t>
            </a:r>
            <a:endParaRPr lang="en-US" sz="1300" dirty="0"/>
          </a:p>
        </p:txBody>
      </p:sp>
      <p:sp>
        <p:nvSpPr>
          <p:cNvPr id="3" name="Text 1"/>
          <p:cNvSpPr/>
          <p:nvPr>
            <p:ph type="title"/>
          </p:nvPr>
        </p:nvSpPr>
        <p:spPr>
          <a:xfrm>
            <a:off x="812800" y="891518"/>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2545"/>
                </a:solidFill>
                <a:latin typeface="Source Serif 4" pitchFamily="18" charset="0"/>
                <a:ea typeface="Source Serif 4" pitchFamily="18" charset="-122"/>
                <a:cs typeface="Source Serif 4" pitchFamily="18" charset="-120"/>
              </a:rPr>
              <a:t>Tools by name: the other six areas</a:t>
            </a:r>
            <a:endParaRPr lang="en-US" sz="3200" dirty="0"/>
          </a:p>
        </p:txBody>
      </p:sp>
      <p:sp>
        <p:nvSpPr>
          <p:cNvPr id="4" name="Shape 2"/>
          <p:cNvSpPr/>
          <p:nvPr/>
        </p:nvSpPr>
        <p:spPr>
          <a:xfrm>
            <a:off x="812800" y="1516335"/>
            <a:ext cx="3420533" cy="1825625"/>
          </a:xfrm>
          <a:prstGeom prst="roundRect">
            <a:avLst>
              <a:gd name="adj" fmla="val 5565"/>
            </a:avLst>
          </a:prstGeom>
          <a:solidFill>
            <a:srgbClr val="FFFFFF"/>
          </a:solidFill>
          <a:ln/>
        </p:spPr>
      </p:sp>
      <p:sp>
        <p:nvSpPr>
          <p:cNvPr id="5" name="Shape 3"/>
          <p:cNvSpPr/>
          <p:nvPr/>
        </p:nvSpPr>
        <p:spPr>
          <a:xfrm>
            <a:off x="812800" y="1516335"/>
            <a:ext cx="3420533" cy="1825625"/>
          </a:xfrm>
          <a:custGeom>
            <a:avLst/>
            <a:gdLst/>
            <a:ahLst/>
            <a:cxnLst/>
            <a:rect l="l" t="t" r="r" b="b"/>
            <a:pathLst>
              <a:path w="3420533" h="1825625">
                <a:moveTo>
                  <a:pt x="0" y="101600"/>
                </a:moveTo>
                <a:lnTo>
                  <a:pt x="0" y="101600"/>
                </a:lnTo>
                <a:arcTo hR="101600" wR="101600" stAng="10800000" swAng="5400000"/>
                <a:lnTo>
                  <a:pt x="3318933" y="0"/>
                </a:lnTo>
                <a:arcTo hR="101600" wR="101600" stAng="16200000" swAng="5400000"/>
                <a:lnTo>
                  <a:pt x="3420533" y="101600"/>
                </a:lnTo>
                <a:arcTo hR="63500" wR="101600" stAng="0" swAng="-5400000"/>
                <a:lnTo>
                  <a:pt x="101600" y="38100"/>
                </a:lnTo>
                <a:arcTo hR="63500" wR="101600" stAng="16200000" swAng="-5400000"/>
                <a:close/>
              </a:path>
            </a:pathLst>
          </a:custGeom>
          <a:solidFill>
            <a:srgbClr val="0072CE"/>
          </a:solidFill>
          <a:ln/>
        </p:spPr>
      </p:sp>
      <p:sp>
        <p:nvSpPr>
          <p:cNvPr id="6" name="Text 4"/>
          <p:cNvSpPr/>
          <p:nvPr/>
        </p:nvSpPr>
        <p:spPr>
          <a:xfrm>
            <a:off x="990600" y="1694135"/>
            <a:ext cx="315688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072CE"/>
                </a:solidFill>
                <a:latin typeface="Public Sans" pitchFamily="34" charset="0"/>
                <a:ea typeface="Public Sans" pitchFamily="34" charset="-122"/>
                <a:cs typeface="Public Sans" pitchFamily="34" charset="-120"/>
              </a:rPr>
              <a:t>Solutions (6)</a:t>
            </a:r>
            <a:endParaRPr lang="en-US" sz="1500" dirty="0"/>
          </a:p>
        </p:txBody>
      </p:sp>
      <p:sp>
        <p:nvSpPr>
          <p:cNvPr id="7" name="Text 5"/>
          <p:cNvSpPr/>
          <p:nvPr/>
        </p:nvSpPr>
        <p:spPr>
          <a:xfrm>
            <a:off x="990600" y="1986235"/>
            <a:ext cx="3156881" cy="1241425"/>
          </a:xfrm>
          <a:prstGeom prst="rect">
            <a:avLst/>
          </a:prstGeom>
          <a:noFill/>
          <a:ln/>
        </p:spPr>
        <p:txBody>
          <a:bodyPr wrap="square" lIns="0" tIns="0" rIns="0" bIns="0" rtlCol="0" anchor="t">
            <a:normAutofit/>
          </a:bodyPr>
          <a:lstStyle/>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R</a:t>
            </a:r>
            <a:r>
              <a:rPr lang="en-US" sz="1200" dirty="0">
                <a:solidFill>
                  <a:srgbClr val="0B2545"/>
                </a:solidFill>
                <a:latin typeface="JetBrains Mono" pitchFamily="49" charset="0"/>
                <a:ea typeface="JetBrains Mono" pitchFamily="49" charset="-122"/>
                <a:cs typeface="JetBrains Mono" pitchFamily="49" charset="-120"/>
              </a:rPr>
              <a:t> list_solutions</a:t>
            </a:r>
            <a:endParaRPr lang="en-US" sz="1200" dirty="0"/>
          </a:p>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R</a:t>
            </a:r>
            <a:r>
              <a:rPr lang="en-US" sz="1200" dirty="0">
                <a:solidFill>
                  <a:srgbClr val="0B2545"/>
                </a:solidFill>
                <a:latin typeface="JetBrains Mono" pitchFamily="49" charset="0"/>
                <a:ea typeface="JetBrains Mono" pitchFamily="49" charset="-122"/>
                <a:cs typeface="JetBrains Mono" pitchFamily="49" charset="-120"/>
              </a:rPr>
              <a:t> get_solution</a:t>
            </a:r>
            <a:endParaRPr lang="en-US" sz="1200" dirty="0"/>
          </a:p>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R</a:t>
            </a:r>
            <a:r>
              <a:rPr lang="en-US" sz="1200" dirty="0">
                <a:solidFill>
                  <a:srgbClr val="0B2545"/>
                </a:solidFill>
                <a:latin typeface="JetBrains Mono" pitchFamily="49" charset="0"/>
                <a:ea typeface="JetBrains Mono" pitchFamily="49" charset="-122"/>
                <a:cs typeface="JetBrains Mono" pitchFamily="49" charset="-120"/>
              </a:rPr>
              <a:t> suggest_solutions</a:t>
            </a:r>
            <a:endParaRPr lang="en-US" sz="1200" dirty="0"/>
          </a:p>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W</a:t>
            </a:r>
            <a:r>
              <a:rPr lang="en-US" sz="1200" dirty="0">
                <a:solidFill>
                  <a:srgbClr val="0B2545"/>
                </a:solidFill>
                <a:latin typeface="JetBrains Mono" pitchFamily="49" charset="0"/>
                <a:ea typeface="JetBrains Mono" pitchFamily="49" charset="-122"/>
                <a:cs typeface="JetBrains Mono" pitchFamily="49" charset="-120"/>
              </a:rPr>
              <a:t> create_solution</a:t>
            </a:r>
            <a:endParaRPr lang="en-US" sz="1200" dirty="0"/>
          </a:p>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W</a:t>
            </a:r>
            <a:r>
              <a:rPr lang="en-US" sz="1200" dirty="0">
                <a:solidFill>
                  <a:srgbClr val="0B2545"/>
                </a:solidFill>
                <a:latin typeface="JetBrains Mono" pitchFamily="49" charset="0"/>
                <a:ea typeface="JetBrains Mono" pitchFamily="49" charset="-122"/>
                <a:cs typeface="JetBrains Mono" pitchFamily="49" charset="-120"/>
              </a:rPr>
              <a:t> update_solution</a:t>
            </a:r>
            <a:endParaRPr lang="en-US" sz="1200" dirty="0"/>
          </a:p>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W</a:t>
            </a:r>
            <a:r>
              <a:rPr lang="en-US" sz="1200" dirty="0">
                <a:solidFill>
                  <a:srgbClr val="0B2545"/>
                </a:solidFill>
                <a:latin typeface="JetBrains Mono" pitchFamily="49" charset="0"/>
                <a:ea typeface="JetBrains Mono" pitchFamily="49" charset="-122"/>
                <a:cs typeface="JetBrains Mono" pitchFamily="49" charset="-120"/>
              </a:rPr>
              <a:t> retire_solution *</a:t>
            </a:r>
            <a:endParaRPr lang="en-US" sz="1200" dirty="0"/>
          </a:p>
        </p:txBody>
      </p:sp>
      <p:sp>
        <p:nvSpPr>
          <p:cNvPr id="8" name="Shape 6"/>
          <p:cNvSpPr/>
          <p:nvPr/>
        </p:nvSpPr>
        <p:spPr>
          <a:xfrm>
            <a:off x="4385733" y="1516335"/>
            <a:ext cx="3420533" cy="1825625"/>
          </a:xfrm>
          <a:prstGeom prst="roundRect">
            <a:avLst>
              <a:gd name="adj" fmla="val 5565"/>
            </a:avLst>
          </a:prstGeom>
          <a:solidFill>
            <a:srgbClr val="FFFFFF"/>
          </a:solidFill>
          <a:ln/>
        </p:spPr>
      </p:sp>
      <p:sp>
        <p:nvSpPr>
          <p:cNvPr id="9" name="Shape 7"/>
          <p:cNvSpPr/>
          <p:nvPr/>
        </p:nvSpPr>
        <p:spPr>
          <a:xfrm>
            <a:off x="4385733" y="1516335"/>
            <a:ext cx="3420533" cy="1825625"/>
          </a:xfrm>
          <a:custGeom>
            <a:avLst/>
            <a:gdLst/>
            <a:ahLst/>
            <a:cxnLst/>
            <a:rect l="l" t="t" r="r" b="b"/>
            <a:pathLst>
              <a:path w="3420533" h="1825625">
                <a:moveTo>
                  <a:pt x="0" y="101600"/>
                </a:moveTo>
                <a:lnTo>
                  <a:pt x="0" y="101600"/>
                </a:lnTo>
                <a:arcTo hR="101600" wR="101600" stAng="10800000" swAng="5400000"/>
                <a:lnTo>
                  <a:pt x="3318933" y="0"/>
                </a:lnTo>
                <a:arcTo hR="101600" wR="101600" stAng="16200000" swAng="5400000"/>
                <a:lnTo>
                  <a:pt x="3420533" y="101600"/>
                </a:lnTo>
                <a:arcTo hR="63500" wR="101600" stAng="0" swAng="-5400000"/>
                <a:lnTo>
                  <a:pt x="101600" y="38100"/>
                </a:lnTo>
                <a:arcTo hR="63500" wR="101600" stAng="16200000" swAng="-5400000"/>
                <a:close/>
              </a:path>
            </a:pathLst>
          </a:custGeom>
          <a:solidFill>
            <a:srgbClr val="0072CE"/>
          </a:solidFill>
          <a:ln/>
        </p:spPr>
      </p:sp>
      <p:sp>
        <p:nvSpPr>
          <p:cNvPr id="10" name="Text 8"/>
          <p:cNvSpPr/>
          <p:nvPr/>
        </p:nvSpPr>
        <p:spPr>
          <a:xfrm>
            <a:off x="4563533" y="1694135"/>
            <a:ext cx="315688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072CE"/>
                </a:solidFill>
                <a:latin typeface="Public Sans" pitchFamily="34" charset="0"/>
                <a:ea typeface="Public Sans" pitchFamily="34" charset="-122"/>
                <a:cs typeface="Public Sans" pitchFamily="34" charset="-120"/>
              </a:rPr>
              <a:t>Assets (6)</a:t>
            </a:r>
            <a:endParaRPr lang="en-US" sz="1500" dirty="0"/>
          </a:p>
        </p:txBody>
      </p:sp>
      <p:sp>
        <p:nvSpPr>
          <p:cNvPr id="11" name="Text 9"/>
          <p:cNvSpPr/>
          <p:nvPr/>
        </p:nvSpPr>
        <p:spPr>
          <a:xfrm>
            <a:off x="4563533" y="1986235"/>
            <a:ext cx="3156881" cy="1241425"/>
          </a:xfrm>
          <a:prstGeom prst="rect">
            <a:avLst/>
          </a:prstGeom>
          <a:noFill/>
          <a:ln/>
        </p:spPr>
        <p:txBody>
          <a:bodyPr wrap="square" lIns="0" tIns="0" rIns="0" bIns="0" rtlCol="0" anchor="t">
            <a:normAutofit/>
          </a:bodyPr>
          <a:lstStyle/>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R</a:t>
            </a:r>
            <a:r>
              <a:rPr lang="en-US" sz="1200" dirty="0">
                <a:solidFill>
                  <a:srgbClr val="0B2545"/>
                </a:solidFill>
                <a:latin typeface="JetBrains Mono" pitchFamily="49" charset="0"/>
                <a:ea typeface="JetBrains Mono" pitchFamily="49" charset="-122"/>
                <a:cs typeface="JetBrains Mono" pitchFamily="49" charset="-120"/>
              </a:rPr>
              <a:t> list_assets</a:t>
            </a:r>
            <a:endParaRPr lang="en-US" sz="1200" dirty="0"/>
          </a:p>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R</a:t>
            </a:r>
            <a:r>
              <a:rPr lang="en-US" sz="1200" dirty="0">
                <a:solidFill>
                  <a:srgbClr val="0B2545"/>
                </a:solidFill>
                <a:latin typeface="JetBrains Mono" pitchFamily="49" charset="0"/>
                <a:ea typeface="JetBrains Mono" pitchFamily="49" charset="-122"/>
                <a:cs typeface="JetBrains Mono" pitchFamily="49" charset="-120"/>
              </a:rPr>
              <a:t> get_asset</a:t>
            </a:r>
            <a:endParaRPr lang="en-US" sz="1200" dirty="0"/>
          </a:p>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R</a:t>
            </a:r>
            <a:r>
              <a:rPr lang="en-US" sz="1200" dirty="0">
                <a:solidFill>
                  <a:srgbClr val="0B2545"/>
                </a:solidFill>
                <a:latin typeface="JetBrains Mono" pitchFamily="49" charset="0"/>
                <a:ea typeface="JetBrains Mono" pitchFamily="49" charset="-122"/>
                <a:cs typeface="JetBrains Mono" pitchFamily="49" charset="-120"/>
              </a:rPr>
              <a:t> get_asset_facets</a:t>
            </a:r>
            <a:endParaRPr lang="en-US" sz="1200" dirty="0"/>
          </a:p>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W</a:t>
            </a:r>
            <a:r>
              <a:rPr lang="en-US" sz="1200" dirty="0">
                <a:solidFill>
                  <a:srgbClr val="0B2545"/>
                </a:solidFill>
                <a:latin typeface="JetBrains Mono" pitchFamily="49" charset="0"/>
                <a:ea typeface="JetBrains Mono" pitchFamily="49" charset="-122"/>
                <a:cs typeface="JetBrains Mono" pitchFamily="49" charset="-120"/>
              </a:rPr>
              <a:t> create_asset</a:t>
            </a:r>
            <a:endParaRPr lang="en-US" sz="1200" dirty="0"/>
          </a:p>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W</a:t>
            </a:r>
            <a:r>
              <a:rPr lang="en-US" sz="1200" dirty="0">
                <a:solidFill>
                  <a:srgbClr val="0B2545"/>
                </a:solidFill>
                <a:latin typeface="JetBrains Mono" pitchFamily="49" charset="0"/>
                <a:ea typeface="JetBrains Mono" pitchFamily="49" charset="-122"/>
                <a:cs typeface="JetBrains Mono" pitchFamily="49" charset="-120"/>
              </a:rPr>
              <a:t> update_asset</a:t>
            </a:r>
            <a:endParaRPr lang="en-US" sz="1200" dirty="0"/>
          </a:p>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W</a:t>
            </a:r>
            <a:r>
              <a:rPr lang="en-US" sz="1200" dirty="0">
                <a:solidFill>
                  <a:srgbClr val="0B2545"/>
                </a:solidFill>
                <a:latin typeface="JetBrains Mono" pitchFamily="49" charset="0"/>
                <a:ea typeface="JetBrains Mono" pitchFamily="49" charset="-122"/>
                <a:cs typeface="JetBrains Mono" pitchFamily="49" charset="-120"/>
              </a:rPr>
              <a:t> set_asset_active</a:t>
            </a:r>
            <a:endParaRPr lang="en-US" sz="1200" dirty="0"/>
          </a:p>
        </p:txBody>
      </p:sp>
      <p:sp>
        <p:nvSpPr>
          <p:cNvPr id="12" name="Shape 10"/>
          <p:cNvSpPr/>
          <p:nvPr/>
        </p:nvSpPr>
        <p:spPr>
          <a:xfrm>
            <a:off x="7958667" y="1516335"/>
            <a:ext cx="3420533" cy="1825625"/>
          </a:xfrm>
          <a:prstGeom prst="roundRect">
            <a:avLst>
              <a:gd name="adj" fmla="val 5565"/>
            </a:avLst>
          </a:prstGeom>
          <a:solidFill>
            <a:srgbClr val="FFFFFF"/>
          </a:solidFill>
          <a:ln/>
        </p:spPr>
      </p:sp>
      <p:sp>
        <p:nvSpPr>
          <p:cNvPr id="13" name="Shape 11"/>
          <p:cNvSpPr/>
          <p:nvPr/>
        </p:nvSpPr>
        <p:spPr>
          <a:xfrm>
            <a:off x="7958667" y="1516335"/>
            <a:ext cx="3420533" cy="1825625"/>
          </a:xfrm>
          <a:custGeom>
            <a:avLst/>
            <a:gdLst/>
            <a:ahLst/>
            <a:cxnLst/>
            <a:rect l="l" t="t" r="r" b="b"/>
            <a:pathLst>
              <a:path w="3420533" h="1825625">
                <a:moveTo>
                  <a:pt x="0" y="101600"/>
                </a:moveTo>
                <a:lnTo>
                  <a:pt x="0" y="101600"/>
                </a:lnTo>
                <a:arcTo hR="101600" wR="101600" stAng="10800000" swAng="5400000"/>
                <a:lnTo>
                  <a:pt x="3318933" y="0"/>
                </a:lnTo>
                <a:arcTo hR="101600" wR="101600" stAng="16200000" swAng="5400000"/>
                <a:lnTo>
                  <a:pt x="3420533" y="101600"/>
                </a:lnTo>
                <a:arcTo hR="63500" wR="101600" stAng="0" swAng="-5400000"/>
                <a:lnTo>
                  <a:pt x="101600" y="38100"/>
                </a:lnTo>
                <a:arcTo hR="63500" wR="101600" stAng="16200000" swAng="-5400000"/>
                <a:close/>
              </a:path>
            </a:pathLst>
          </a:custGeom>
          <a:solidFill>
            <a:srgbClr val="0072CE"/>
          </a:solidFill>
          <a:ln/>
        </p:spPr>
      </p:sp>
      <p:sp>
        <p:nvSpPr>
          <p:cNvPr id="14" name="Text 12"/>
          <p:cNvSpPr/>
          <p:nvPr/>
        </p:nvSpPr>
        <p:spPr>
          <a:xfrm>
            <a:off x="8136467" y="1694135"/>
            <a:ext cx="315688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072CE"/>
                </a:solidFill>
                <a:latin typeface="Public Sans" pitchFamily="34" charset="0"/>
                <a:ea typeface="Public Sans" pitchFamily="34" charset="-122"/>
                <a:cs typeface="Public Sans" pitchFamily="34" charset="-120"/>
              </a:rPr>
              <a:t>Vulnerabilities (5)</a:t>
            </a:r>
            <a:endParaRPr lang="en-US" sz="1500" dirty="0"/>
          </a:p>
        </p:txBody>
      </p:sp>
      <p:sp>
        <p:nvSpPr>
          <p:cNvPr id="15" name="Text 13"/>
          <p:cNvSpPr/>
          <p:nvPr/>
        </p:nvSpPr>
        <p:spPr>
          <a:xfrm>
            <a:off x="8136467" y="1986235"/>
            <a:ext cx="3156881" cy="1038754"/>
          </a:xfrm>
          <a:prstGeom prst="rect">
            <a:avLst/>
          </a:prstGeom>
          <a:noFill/>
          <a:ln/>
        </p:spPr>
        <p:txBody>
          <a:bodyPr wrap="square" lIns="0" tIns="0" rIns="0" bIns="0" rtlCol="0" anchor="t">
            <a:normAutofit/>
          </a:bodyPr>
          <a:lstStyle/>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R</a:t>
            </a:r>
            <a:r>
              <a:rPr lang="en-US" sz="1200" dirty="0">
                <a:solidFill>
                  <a:srgbClr val="0B2545"/>
                </a:solidFill>
                <a:latin typeface="JetBrains Mono" pitchFamily="49" charset="0"/>
                <a:ea typeface="JetBrains Mono" pitchFamily="49" charset="-122"/>
                <a:cs typeface="JetBrains Mono" pitchFamily="49" charset="-120"/>
              </a:rPr>
              <a:t> list_vulnerabilities</a:t>
            </a:r>
            <a:endParaRPr lang="en-US" sz="1200" dirty="0"/>
          </a:p>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R</a:t>
            </a:r>
            <a:r>
              <a:rPr lang="en-US" sz="1200" dirty="0">
                <a:solidFill>
                  <a:srgbClr val="0B2545"/>
                </a:solidFill>
                <a:latin typeface="JetBrains Mono" pitchFamily="49" charset="0"/>
                <a:ea typeface="JetBrains Mono" pitchFamily="49" charset="-122"/>
                <a:cs typeface="JetBrains Mono" pitchFamily="49" charset="-120"/>
              </a:rPr>
              <a:t> get_vulnerability</a:t>
            </a:r>
            <a:endParaRPr lang="en-US" sz="1200" dirty="0"/>
          </a:p>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W</a:t>
            </a:r>
            <a:r>
              <a:rPr lang="en-US" sz="1200" dirty="0">
                <a:solidFill>
                  <a:srgbClr val="0B2545"/>
                </a:solidFill>
                <a:latin typeface="JetBrains Mono" pitchFamily="49" charset="0"/>
                <a:ea typeface="JetBrains Mono" pitchFamily="49" charset="-122"/>
                <a:cs typeface="JetBrains Mono" pitchFamily="49" charset="-120"/>
              </a:rPr>
              <a:t> create_vulnerability</a:t>
            </a:r>
            <a:endParaRPr lang="en-US" sz="1200" dirty="0"/>
          </a:p>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W</a:t>
            </a:r>
            <a:r>
              <a:rPr lang="en-US" sz="1200" dirty="0">
                <a:solidFill>
                  <a:srgbClr val="0B2545"/>
                </a:solidFill>
                <a:latin typeface="JetBrains Mono" pitchFamily="49" charset="0"/>
                <a:ea typeface="JetBrains Mono" pitchFamily="49" charset="-122"/>
                <a:cs typeface="JetBrains Mono" pitchFamily="49" charset="-120"/>
              </a:rPr>
              <a:t> update_vulnerability</a:t>
            </a:r>
            <a:endParaRPr lang="en-US" sz="1200" dirty="0"/>
          </a:p>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W</a:t>
            </a:r>
            <a:r>
              <a:rPr lang="en-US" sz="1200" dirty="0">
                <a:solidFill>
                  <a:srgbClr val="0B2545"/>
                </a:solidFill>
                <a:latin typeface="JetBrains Mono" pitchFamily="49" charset="0"/>
                <a:ea typeface="JetBrains Mono" pitchFamily="49" charset="-122"/>
                <a:cs typeface="JetBrains Mono" pitchFamily="49" charset="-120"/>
              </a:rPr>
              <a:t> set_vulnerability_active</a:t>
            </a:r>
            <a:endParaRPr lang="en-US" sz="1200" dirty="0"/>
          </a:p>
        </p:txBody>
      </p:sp>
      <p:sp>
        <p:nvSpPr>
          <p:cNvPr id="16" name="Shape 14"/>
          <p:cNvSpPr/>
          <p:nvPr/>
        </p:nvSpPr>
        <p:spPr>
          <a:xfrm>
            <a:off x="812800" y="3494360"/>
            <a:ext cx="3420533" cy="1622954"/>
          </a:xfrm>
          <a:prstGeom prst="roundRect">
            <a:avLst>
              <a:gd name="adj" fmla="val 6260"/>
            </a:avLst>
          </a:prstGeom>
          <a:solidFill>
            <a:srgbClr val="FEF3DD"/>
          </a:solidFill>
          <a:ln/>
        </p:spPr>
      </p:sp>
      <p:sp>
        <p:nvSpPr>
          <p:cNvPr id="17" name="Shape 15"/>
          <p:cNvSpPr/>
          <p:nvPr/>
        </p:nvSpPr>
        <p:spPr>
          <a:xfrm>
            <a:off x="812800" y="3494360"/>
            <a:ext cx="3420533" cy="1622954"/>
          </a:xfrm>
          <a:custGeom>
            <a:avLst/>
            <a:gdLst/>
            <a:ahLst/>
            <a:cxnLst/>
            <a:rect l="l" t="t" r="r" b="b"/>
            <a:pathLst>
              <a:path w="3420533" h="1622954">
                <a:moveTo>
                  <a:pt x="0" y="101600"/>
                </a:moveTo>
                <a:lnTo>
                  <a:pt x="0" y="101600"/>
                </a:lnTo>
                <a:arcTo hR="101600" wR="101600" stAng="10800000" swAng="5400000"/>
                <a:lnTo>
                  <a:pt x="3318933" y="0"/>
                </a:lnTo>
                <a:arcTo hR="101600" wR="101600" stAng="16200000" swAng="5400000"/>
                <a:lnTo>
                  <a:pt x="3420533" y="101600"/>
                </a:lnTo>
                <a:arcTo hR="63500" wR="101600" stAng="0" swAng="-5400000"/>
                <a:lnTo>
                  <a:pt x="101600" y="38100"/>
                </a:lnTo>
                <a:arcTo hR="63500" wR="101600" stAng="16200000" swAng="-5400000"/>
                <a:close/>
              </a:path>
            </a:pathLst>
          </a:custGeom>
          <a:solidFill>
            <a:srgbClr val="F5A623"/>
          </a:solidFill>
          <a:ln/>
        </p:spPr>
      </p:sp>
      <p:sp>
        <p:nvSpPr>
          <p:cNvPr id="18" name="Text 16"/>
          <p:cNvSpPr/>
          <p:nvPr/>
        </p:nvSpPr>
        <p:spPr>
          <a:xfrm>
            <a:off x="990600" y="3672160"/>
            <a:ext cx="315688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2545"/>
                </a:solidFill>
                <a:latin typeface="Public Sans" pitchFamily="34" charset="0"/>
                <a:ea typeface="Public Sans" pitchFamily="34" charset="-122"/>
                <a:cs typeface="Public Sans" pitchFamily="34" charset="-120"/>
              </a:rPr>
              <a:t>Insights (5)</a:t>
            </a:r>
            <a:endParaRPr lang="en-US" sz="1500" dirty="0"/>
          </a:p>
        </p:txBody>
      </p:sp>
      <p:sp>
        <p:nvSpPr>
          <p:cNvPr id="19" name="Text 17"/>
          <p:cNvSpPr/>
          <p:nvPr/>
        </p:nvSpPr>
        <p:spPr>
          <a:xfrm>
            <a:off x="990600" y="3964260"/>
            <a:ext cx="3156881" cy="1038754"/>
          </a:xfrm>
          <a:prstGeom prst="rect">
            <a:avLst/>
          </a:prstGeom>
          <a:noFill/>
          <a:ln/>
        </p:spPr>
        <p:txBody>
          <a:bodyPr wrap="square" lIns="0" tIns="0" rIns="0" bIns="0" rtlCol="0" anchor="t">
            <a:normAutofit/>
          </a:bodyPr>
          <a:lstStyle/>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R</a:t>
            </a:r>
            <a:r>
              <a:rPr lang="en-US" sz="1200" dirty="0">
                <a:solidFill>
                  <a:srgbClr val="0B2545"/>
                </a:solidFill>
                <a:latin typeface="JetBrains Mono" pitchFamily="49" charset="0"/>
                <a:ea typeface="JetBrains Mono" pitchFamily="49" charset="-122"/>
                <a:cs typeface="JetBrains Mono" pitchFamily="49" charset="-120"/>
              </a:rPr>
              <a:t> semantic_search_incidents</a:t>
            </a:r>
            <a:endParaRPr lang="en-US" sz="1200" dirty="0"/>
          </a:p>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R</a:t>
            </a:r>
            <a:r>
              <a:rPr lang="en-US" sz="1200" dirty="0">
                <a:solidFill>
                  <a:srgbClr val="0B2545"/>
                </a:solidFill>
                <a:latin typeface="JetBrains Mono" pitchFamily="49" charset="0"/>
                <a:ea typeface="JetBrains Mono" pitchFamily="49" charset="-122"/>
                <a:cs typeface="JetBrains Mono" pitchFamily="49" charset="-120"/>
              </a:rPr>
              <a:t> find_solutions_for_problem</a:t>
            </a:r>
            <a:endParaRPr lang="en-US" sz="1200" dirty="0"/>
          </a:p>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R</a:t>
            </a:r>
            <a:r>
              <a:rPr lang="en-US" sz="1200" dirty="0">
                <a:solidFill>
                  <a:srgbClr val="0B2545"/>
                </a:solidFill>
                <a:latin typeface="JetBrains Mono" pitchFamily="49" charset="0"/>
                <a:ea typeface="JetBrains Mono" pitchFamily="49" charset="-122"/>
                <a:cs typeface="JetBrains Mono" pitchFamily="49" charset="-120"/>
              </a:rPr>
              <a:t> portfolio_risk_report</a:t>
            </a:r>
            <a:endParaRPr lang="en-US" sz="1200" dirty="0"/>
          </a:p>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R</a:t>
            </a:r>
            <a:r>
              <a:rPr lang="en-US" sz="1200" dirty="0">
                <a:solidFill>
                  <a:srgbClr val="0B2545"/>
                </a:solidFill>
                <a:latin typeface="JetBrains Mono" pitchFamily="49" charset="0"/>
                <a:ea typeface="JetBrains Mono" pitchFamily="49" charset="-122"/>
                <a:cs typeface="JetBrains Mono" pitchFamily="49" charset="-120"/>
              </a:rPr>
              <a:t> get_audit_trail</a:t>
            </a:r>
            <a:endParaRPr lang="en-US" sz="1200" dirty="0"/>
          </a:p>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R</a:t>
            </a:r>
            <a:r>
              <a:rPr lang="en-US" sz="1200" dirty="0">
                <a:solidFill>
                  <a:srgbClr val="0B2545"/>
                </a:solidFill>
                <a:latin typeface="JetBrains Mono" pitchFamily="49" charset="0"/>
                <a:ea typeface="JetBrains Mono" pitchFamily="49" charset="-122"/>
                <a:cs typeface="JetBrains Mono" pitchFamily="49" charset="-120"/>
              </a:rPr>
              <a:t> explain_incident</a:t>
            </a:r>
            <a:endParaRPr lang="en-US" sz="1200" dirty="0"/>
          </a:p>
        </p:txBody>
      </p:sp>
      <p:sp>
        <p:nvSpPr>
          <p:cNvPr id="20" name="Shape 18"/>
          <p:cNvSpPr/>
          <p:nvPr/>
        </p:nvSpPr>
        <p:spPr>
          <a:xfrm>
            <a:off x="4385733" y="3494360"/>
            <a:ext cx="3420533" cy="1622954"/>
          </a:xfrm>
          <a:prstGeom prst="roundRect">
            <a:avLst>
              <a:gd name="adj" fmla="val 6260"/>
            </a:avLst>
          </a:prstGeom>
          <a:solidFill>
            <a:srgbClr val="FFFFFF"/>
          </a:solidFill>
          <a:ln/>
        </p:spPr>
      </p:sp>
      <p:sp>
        <p:nvSpPr>
          <p:cNvPr id="21" name="Shape 19"/>
          <p:cNvSpPr/>
          <p:nvPr/>
        </p:nvSpPr>
        <p:spPr>
          <a:xfrm>
            <a:off x="4385733" y="3494360"/>
            <a:ext cx="3420533" cy="1622954"/>
          </a:xfrm>
          <a:custGeom>
            <a:avLst/>
            <a:gdLst/>
            <a:ahLst/>
            <a:cxnLst/>
            <a:rect l="l" t="t" r="r" b="b"/>
            <a:pathLst>
              <a:path w="3420533" h="1622954">
                <a:moveTo>
                  <a:pt x="0" y="101600"/>
                </a:moveTo>
                <a:lnTo>
                  <a:pt x="0" y="101600"/>
                </a:lnTo>
                <a:arcTo hR="101600" wR="101600" stAng="10800000" swAng="5400000"/>
                <a:lnTo>
                  <a:pt x="3318933" y="0"/>
                </a:lnTo>
                <a:arcTo hR="101600" wR="101600" stAng="16200000" swAng="5400000"/>
                <a:lnTo>
                  <a:pt x="3420533" y="101600"/>
                </a:lnTo>
                <a:arcTo hR="63500" wR="101600" stAng="0" swAng="-5400000"/>
                <a:lnTo>
                  <a:pt x="101600" y="38100"/>
                </a:lnTo>
                <a:arcTo hR="63500" wR="101600" stAng="16200000" swAng="-5400000"/>
                <a:close/>
              </a:path>
            </a:pathLst>
          </a:custGeom>
          <a:solidFill>
            <a:srgbClr val="0072CE"/>
          </a:solidFill>
          <a:ln/>
        </p:spPr>
      </p:sp>
      <p:sp>
        <p:nvSpPr>
          <p:cNvPr id="22" name="Text 20"/>
          <p:cNvSpPr/>
          <p:nvPr/>
        </p:nvSpPr>
        <p:spPr>
          <a:xfrm>
            <a:off x="4563533" y="3672160"/>
            <a:ext cx="315688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072CE"/>
                </a:solidFill>
                <a:latin typeface="Public Sans" pitchFamily="34" charset="0"/>
                <a:ea typeface="Public Sans" pitchFamily="34" charset="-122"/>
                <a:cs typeface="Public Sans" pitchFamily="34" charset="-120"/>
              </a:rPr>
              <a:t>Scans (3)</a:t>
            </a:r>
            <a:endParaRPr lang="en-US" sz="1500" dirty="0"/>
          </a:p>
        </p:txBody>
      </p:sp>
      <p:sp>
        <p:nvSpPr>
          <p:cNvPr id="23" name="Text 21"/>
          <p:cNvSpPr/>
          <p:nvPr/>
        </p:nvSpPr>
        <p:spPr>
          <a:xfrm>
            <a:off x="4563533" y="3964260"/>
            <a:ext cx="3156881" cy="633413"/>
          </a:xfrm>
          <a:prstGeom prst="rect">
            <a:avLst/>
          </a:prstGeom>
          <a:noFill/>
          <a:ln/>
        </p:spPr>
        <p:txBody>
          <a:bodyPr wrap="square" lIns="0" tIns="0" rIns="0" bIns="0" rtlCol="0" anchor="t">
            <a:normAutofit/>
          </a:bodyPr>
          <a:lstStyle/>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R</a:t>
            </a:r>
            <a:r>
              <a:rPr lang="en-US" sz="1200" dirty="0">
                <a:solidFill>
                  <a:srgbClr val="0B2545"/>
                </a:solidFill>
                <a:latin typeface="JetBrains Mono" pitchFamily="49" charset="0"/>
                <a:ea typeface="JetBrains Mono" pitchFamily="49" charset="-122"/>
                <a:cs typeface="JetBrains Mono" pitchFamily="49" charset="-120"/>
              </a:rPr>
              <a:t> list_scan_workbooks</a:t>
            </a:r>
            <a:endParaRPr lang="en-US" sz="1200" dirty="0"/>
          </a:p>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R</a:t>
            </a:r>
            <a:r>
              <a:rPr lang="en-US" sz="1200" dirty="0">
                <a:solidFill>
                  <a:srgbClr val="0B2545"/>
                </a:solidFill>
                <a:latin typeface="JetBrains Mono" pitchFamily="49" charset="0"/>
                <a:ea typeface="JetBrains Mono" pitchFamily="49" charset="-122"/>
                <a:cs typeface="JetBrains Mono" pitchFamily="49" charset="-120"/>
              </a:rPr>
              <a:t> validate_scan_workbook</a:t>
            </a:r>
            <a:endParaRPr lang="en-US" sz="1200" dirty="0"/>
          </a:p>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W</a:t>
            </a:r>
            <a:r>
              <a:rPr lang="en-US" sz="1200" dirty="0">
                <a:solidFill>
                  <a:srgbClr val="0B2545"/>
                </a:solidFill>
                <a:latin typeface="JetBrains Mono" pitchFamily="49" charset="0"/>
                <a:ea typeface="JetBrains Mono" pitchFamily="49" charset="-122"/>
                <a:cs typeface="JetBrains Mono" pitchFamily="49" charset="-120"/>
              </a:rPr>
              <a:t> ingest_scan_workbook</a:t>
            </a:r>
            <a:endParaRPr lang="en-US" sz="1200" dirty="0"/>
          </a:p>
        </p:txBody>
      </p:sp>
      <p:sp>
        <p:nvSpPr>
          <p:cNvPr id="24" name="Shape 22"/>
          <p:cNvSpPr/>
          <p:nvPr/>
        </p:nvSpPr>
        <p:spPr>
          <a:xfrm>
            <a:off x="7958667" y="3494360"/>
            <a:ext cx="3420533" cy="1622954"/>
          </a:xfrm>
          <a:prstGeom prst="roundRect">
            <a:avLst>
              <a:gd name="adj" fmla="val 6260"/>
            </a:avLst>
          </a:prstGeom>
          <a:solidFill>
            <a:srgbClr val="FFFFFF"/>
          </a:solidFill>
          <a:ln/>
        </p:spPr>
      </p:sp>
      <p:sp>
        <p:nvSpPr>
          <p:cNvPr id="25" name="Shape 23"/>
          <p:cNvSpPr/>
          <p:nvPr/>
        </p:nvSpPr>
        <p:spPr>
          <a:xfrm>
            <a:off x="7958667" y="3494360"/>
            <a:ext cx="3420533" cy="1622954"/>
          </a:xfrm>
          <a:custGeom>
            <a:avLst/>
            <a:gdLst/>
            <a:ahLst/>
            <a:cxnLst/>
            <a:rect l="l" t="t" r="r" b="b"/>
            <a:pathLst>
              <a:path w="3420533" h="1622954">
                <a:moveTo>
                  <a:pt x="0" y="101600"/>
                </a:moveTo>
                <a:lnTo>
                  <a:pt x="0" y="101600"/>
                </a:lnTo>
                <a:arcTo hR="101600" wR="101600" stAng="10800000" swAng="5400000"/>
                <a:lnTo>
                  <a:pt x="3318933" y="0"/>
                </a:lnTo>
                <a:arcTo hR="101600" wR="101600" stAng="16200000" swAng="5400000"/>
                <a:lnTo>
                  <a:pt x="3420533" y="101600"/>
                </a:lnTo>
                <a:arcTo hR="63500" wR="101600" stAng="0" swAng="-5400000"/>
                <a:lnTo>
                  <a:pt x="101600" y="38100"/>
                </a:lnTo>
                <a:arcTo hR="63500" wR="101600" stAng="16200000" swAng="-5400000"/>
                <a:close/>
              </a:path>
            </a:pathLst>
          </a:custGeom>
          <a:solidFill>
            <a:srgbClr val="0072CE"/>
          </a:solidFill>
          <a:ln/>
        </p:spPr>
      </p:sp>
      <p:sp>
        <p:nvSpPr>
          <p:cNvPr id="26" name="Text 24"/>
          <p:cNvSpPr/>
          <p:nvPr/>
        </p:nvSpPr>
        <p:spPr>
          <a:xfrm>
            <a:off x="8136467" y="3672160"/>
            <a:ext cx="315688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072CE"/>
                </a:solidFill>
                <a:latin typeface="Public Sans" pitchFamily="34" charset="0"/>
                <a:ea typeface="Public Sans" pitchFamily="34" charset="-122"/>
                <a:cs typeface="Public Sans" pitchFamily="34" charset="-120"/>
              </a:rPr>
              <a:t>Dashboard (3)</a:t>
            </a:r>
            <a:endParaRPr lang="en-US" sz="1500" dirty="0"/>
          </a:p>
        </p:txBody>
      </p:sp>
      <p:sp>
        <p:nvSpPr>
          <p:cNvPr id="27" name="Text 25"/>
          <p:cNvSpPr/>
          <p:nvPr/>
        </p:nvSpPr>
        <p:spPr>
          <a:xfrm>
            <a:off x="8136467" y="3964260"/>
            <a:ext cx="3156881" cy="633413"/>
          </a:xfrm>
          <a:prstGeom prst="rect">
            <a:avLst/>
          </a:prstGeom>
          <a:noFill/>
          <a:ln/>
        </p:spPr>
        <p:txBody>
          <a:bodyPr wrap="square" lIns="0" tIns="0" rIns="0" bIns="0" rtlCol="0" anchor="t">
            <a:normAutofit/>
          </a:bodyPr>
          <a:lstStyle/>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R</a:t>
            </a:r>
            <a:r>
              <a:rPr lang="en-US" sz="1200" dirty="0">
                <a:solidFill>
                  <a:srgbClr val="0B2545"/>
                </a:solidFill>
                <a:latin typeface="JetBrains Mono" pitchFamily="49" charset="0"/>
                <a:ea typeface="JetBrains Mono" pitchFamily="49" charset="-122"/>
                <a:cs typeface="JetBrains Mono" pitchFamily="49" charset="-120"/>
              </a:rPr>
              <a:t> get_dashboard_summary</a:t>
            </a:r>
            <a:endParaRPr lang="en-US" sz="1200" dirty="0"/>
          </a:p>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R</a:t>
            </a:r>
            <a:r>
              <a:rPr lang="en-US" sz="1200" dirty="0">
                <a:solidFill>
                  <a:srgbClr val="0B2545"/>
                </a:solidFill>
                <a:latin typeface="JetBrains Mono" pitchFamily="49" charset="0"/>
                <a:ea typeface="JetBrains Mono" pitchFamily="49" charset="-122"/>
                <a:cs typeface="JetBrains Mono" pitchFamily="49" charset="-120"/>
              </a:rPr>
              <a:t> get_attention_items</a:t>
            </a:r>
            <a:endParaRPr lang="en-US" sz="1200" dirty="0"/>
          </a:p>
          <a:p>
            <a:pPr algn="l" indent="0" marL="0">
              <a:lnSpc>
                <a:spcPts val="1596"/>
              </a:lnSpc>
              <a:buNone/>
            </a:pPr>
            <a:r>
              <a:rPr lang="en-US" sz="1200" b="1" dirty="0">
                <a:solidFill>
                  <a:srgbClr val="0B2545"/>
                </a:solidFill>
                <a:latin typeface="JetBrains Mono" pitchFamily="49" charset="0"/>
                <a:ea typeface="JetBrains Mono" pitchFamily="49" charset="-122"/>
                <a:cs typeface="JetBrains Mono" pitchFamily="49" charset="-120"/>
              </a:rPr>
              <a:t>R</a:t>
            </a:r>
            <a:r>
              <a:rPr lang="en-US" sz="1200" dirty="0">
                <a:solidFill>
                  <a:srgbClr val="0B2545"/>
                </a:solidFill>
                <a:latin typeface="JetBrains Mono" pitchFamily="49" charset="0"/>
                <a:ea typeface="JetBrains Mono" pitchFamily="49" charset="-122"/>
                <a:cs typeface="JetBrains Mono" pitchFamily="49" charset="-120"/>
              </a:rPr>
              <a:t> list_users</a:t>
            </a:r>
            <a:endParaRPr lang="en-US" sz="1200" dirty="0"/>
          </a:p>
        </p:txBody>
      </p:sp>
      <p:sp>
        <p:nvSpPr>
          <p:cNvPr id="28" name="Text 26"/>
          <p:cNvSpPr/>
          <p:nvPr/>
        </p:nvSpPr>
        <p:spPr>
          <a:xfrm>
            <a:off x="812800" y="5295106"/>
            <a:ext cx="10883392" cy="2387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5B6B7C"/>
                </a:solidFill>
                <a:latin typeface="Public Sans" pitchFamily="34" charset="0"/>
                <a:ea typeface="Public Sans" pitchFamily="34" charset="-122"/>
                <a:cs typeface="Public Sans" pitchFamily="34" charset="-120"/>
              </a:rPr>
              <a:t>R = read, W = write, * = irreversible.</a:t>
            </a:r>
            <a:endParaRPr lang="en-US" sz="1200" dirty="0"/>
          </a:p>
        </p:txBody>
      </p:sp>
      <p:sp>
        <p:nvSpPr>
          <p:cNvPr id="29" name="Text 27"/>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Bulwark | Innova Solutions</a:t>
            </a:r>
            <a:endParaRPr lang="en-US" sz="1200" dirty="0"/>
          </a:p>
        </p:txBody>
      </p:sp>
      <p:sp>
        <p:nvSpPr>
          <p:cNvPr id="30" name="Text 2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C"/>
                </a:solidFill>
                <a:latin typeface="Public Sans" pitchFamily="34" charset="0"/>
                <a:ea typeface="Public Sans" pitchFamily="34" charset="-122"/>
                <a:cs typeface="Public Sans" pitchFamily="34" charset="-120"/>
              </a:rPr>
              <a:t>27</a:t>
            </a:r>
            <a:endParaRPr lang="en-US" sz="1200" dirty="0"/>
          </a:p>
        </p:txBody>
      </p:sp>
    </p:spTree>
  </p:cSld>
  <p:clrMapOvr>
    <a:masterClrMapping/>
  </p:clrMapOvr>
</p:sld>
</file>

<file path=ppt/theme/theme1.xml><?xml version="1.0" encoding="utf-8"?>
<a:theme xmlns:a="http://schemas.openxmlformats.org/drawingml/2006/main" name="Bulwark – Final Demo">
  <a:themeElements>
    <a:clrScheme name="Bulwark – Final Demo">
      <a:dk1>
        <a:srgbClr val="0B2545"/>
      </a:dk1>
      <a:lt1>
        <a:srgbClr val="F5F9FD"/>
      </a:lt1>
      <a:dk2>
        <a:srgbClr val="465A73"/>
      </a:dk2>
      <a:lt2>
        <a:srgbClr val="DEE4EB"/>
      </a:lt2>
      <a:accent1>
        <a:srgbClr val="0072CE"/>
      </a:accent1>
      <a:accent2>
        <a:srgbClr val="C9DDF2"/>
      </a:accent2>
      <a:accent3>
        <a:srgbClr val="B26A00"/>
      </a:accent3>
      <a:accent4>
        <a:srgbClr val="F5A623"/>
      </a:accent4>
      <a:accent5>
        <a:srgbClr val="12345F"/>
      </a:accent5>
      <a:accent6>
        <a:srgbClr val="8FB4DC"/>
      </a:accent6>
      <a:hlink>
        <a:srgbClr val="0563C1"/>
      </a:hlink>
      <a:folHlink>
        <a:srgbClr val="954F72"/>
      </a:folHlink>
    </a:clrScheme>
    <a:fontScheme name="Bulwark – Final Demo">
      <a:majorFont>
        <a:latin typeface="Public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Bulwark – Final Demo</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Public Sans
Copyright 2015 The Public Sans Project Authors (https://github.com/uswds/public-sans)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2026-10-26T16:09:42Z</dcterms:created>
  <dcterms:modified xsi:type="dcterms:W3CDTF">2026-10-26T16:09:42Z</dcterms:modified>
</cp:coreProperties>
</file>